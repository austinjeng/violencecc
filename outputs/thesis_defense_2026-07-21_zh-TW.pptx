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【建議時間：20 秒】</a:t>
            </a:r>
          </a:p>
          <a:p>
            <a:r>
              <a:t>各位口試委員、老師好，我是鄭暐瀚。今天要報告的題目是「雙模態骨架與視覺特徵融合於弱監督暴力偵測：多種骨幹網路之比較研究」。這項研究關注的是：當訓練資料只有影片層級標籤、沒有逐影格標註時，我們能不能同時利用畫面語意與人體動作結構，讓模型更準確地找出暴力事件；以及這個方法換到不同視覺骨幹、不同資料集與受污染影像後，是否仍然成立。接下來我會依序說明研究動機、方法、實驗結果、穩健性分析與研究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【建議時間：45 秒】</a:t>
            </a:r>
          </a:p>
          <a:p>
            <a:r>
              <a:t>監視影片通常很長，而且絕大多數時間都是正常的；真正需要注意的暴力事件可能只占其中幾秒。實務系統不能只回答「這部影片有沒有異常」，還要指出事件大概發生在哪個時間點。</a:t>
            </a:r>
          </a:p>
          <a:p>
            <a:endParaRPr/>
          </a:p>
          <a:p>
            <a:r>
              <a:t>逐影格標註事件起訖的成本很高；但若只給整部影片正常或異常標籤，模型又容易把背景或偶然物件當成捷徑。因此，本研究採用弱監督影片異常偵測：用影片層級標籤訓練，輸出細到片段或影格層級。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【建議時間：45 秒】</a:t>
            </a:r>
          </a:p>
          <a:p>
            <a:r>
              <a:t>（時間不足可略過本頁）這張圖說明弱監督設定。左邊影片被切成多個片段；訓練時只知道整部影片被標為異常，不知道真正事件位於哪些片段。中間以多重實例學習把影片視為片段集合，讓高分片段支持影片層級判斷；右邊則輸出時間序列異常分數。</a:t>
            </a:r>
          </a:p>
          <a:p>
            <a:endParaRPr/>
          </a:p>
          <a:p>
            <a:r>
              <a:t>影片層級標籤與影格層級答案之間有資訊落差，因此方法必須同時處理特徵來源，以及片段分數如何聚合。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【建議時間：40 秒】</a:t>
            </a:r>
          </a:p>
          <a:p>
            <a:r>
              <a:t>視覺特徵擅長理解場景、物體與語意脈絡，但容易受到背景、遮擋與拍攝視角影響。骨架特徵聚焦人體關節與動作結構，對衣著、顏色或部分背景變化較不敏感；但人物太小、遮擋嚴重或姿態估計失敗時也會不可靠。</a:t>
            </a:r>
          </a:p>
          <a:p>
            <a:endParaRPr/>
          </a:p>
          <a:p>
            <a:r>
              <a:t>因此兩者各有優勢與盲點。本研究的核心假設是：不要固定平均兩種特徵，而要讓模型依片段判斷此刻更相信哪一種證據。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【建議時間：70 秒】</a:t>
            </a:r>
          </a:p>
          <a:p>
            <a:r>
              <a:t>本研究整理成三個問題。第一，雙模態融合是否真的帶來價值？我不只比較融合與單模態，也比較簡單的晚期分數融合與可學習的門控融合，確認增益來自哪裡。第二，這個結論是否依賴某一個視覺骨幹？因此我選擇四個不同規模與訓練方式的視覺語言模型，並在 UCF-Crime 與 XD-Violence 兩個資料集重複驗證。第三，部署時影像可能受到雜訊、模糊或壓縮。現有測試時適應方法多半建立在 BatchNorm，而本研究骨幹主要使用 LayerNorm，所以我要確認 TENT 與 SAR 是否仍有效，並提出不更新模型參數的可靠度重加權策略。</a:t>
            </a:r>
          </a:p>
          <a:p>
            <a:endParaRPr/>
          </a:p>
          <a:p>
            <a:r>
              <a:t>也就是說，三個問題分別回答方法價值、泛化邊界與部署穩健性。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【建議時間：30 秒】</a:t>
            </a:r>
          </a:p>
          <a:p>
            <a:r>
              <a:t>這張以四個標題帶過：第一，建立視覺與骨架雙模態門控架構。第二，在相同下游框架比較四個視覺語言骨幹。第三，檢驗 TENT 與 SAR 在 LayerNorm 架構下的限制。第四，提出無梯度穩健化：以視覺串流 solo 分數離散度偵測判別力崩潰，配合骨架位移安全閘，測試時重新分配模態信任，而且不更新參數、不使用標籤。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【建議時間：40 秒】</a:t>
            </a:r>
          </a:p>
          <a:p>
            <a:r>
              <a:t>相關工作從光流、軌跡等手工特徵，演進到 3D CNN、雙串流網路與弱監督 MIL。近年視覺語言模型提供更強語意表徵，但多數研究仍以單一視覺串流為主；測試時適應則常以熵最小化更新正規化參數，許多機制依賴 BatchNorm。</a:t>
            </a:r>
          </a:p>
          <a:p>
            <a:endParaRPr/>
          </a:p>
          <a:p>
            <a:r>
              <a:t>本研究位於弱監督、多模態與 LayerNorm TTA 的交叉點：前半段研究視覺與骨架如何融合，後半段檢驗分布偏移下的適應方法。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【建議時間：85 秒】</a:t>
            </a:r>
          </a:p>
          <a:p>
            <a:r>
              <a:t>這是整體架構。首先把影片切成固定長度的片段，上方視覺串流以約一 FPS 抽取影格，再由凍結的視覺語言模型編碼並做 mean 加 max pooling；下方骨架串流先用 RTMPose 擷取關節，再由凍結的 CTR-GCN 把關節在空間與時間上的關係編成二百五十六維動作特徵。兩路特徵投影到共同的二百五十六維空間後，門控網路對每個片段、每個特徵維度產生權重。融合特徵再通過輕量 MIL head，輸出片段異常分數；訓練時用正常與異常影片袋的 Top-k 排序損失。</a:t>
            </a:r>
          </a:p>
          <a:p>
            <a:endParaRPr/>
          </a:p>
          <a:p>
            <a:r>
              <a:t>值得強調的是，兩個大型特徵抽取器都是凍結的，只訓練投影、門控與分類頭。這樣不只降低訓練成本，也使四個視覺骨幹的比較更乾淨：差異主要來自預訓練表徵與融合行為，而不是大量微調參數。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【建議時間：55 秒】</a:t>
            </a:r>
          </a:p>
          <a:p>
            <a:r>
              <a:t>骨架分支分成四步。第一，YOLOX-m 先定位人物，再由 RTMPose-m 估計十七個 COCO 關節。第二，每個影格依關節平均信心保留前兩位人物，不足兩人時補零，並把座標正規化到負一到一。第三，使用 NTU RGB+D 120 預訓練、凍結的 CTR-GCN；它同時處理關節、骨骼、關節運動與骨骼運動四個串流。最後，每個六十四影格片段得到二百五十六維骨架表徵。</a:t>
            </a:r>
          </a:p>
          <a:p>
            <a:endParaRPr/>
          </a:p>
          <a:p>
            <a:r>
              <a:t>右下角也說明這個模態的邊界：骨架可降低衣著與背景影響，但人物太小、遮擋嚴重或姿態估計失敗時，訊號仍會變弱。這正是為什麼融合需要依輸入調整，而不是固定平均。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【建議時間：50 秒】</a:t>
            </a:r>
          </a:p>
          <a:p>
            <a:r>
              <a:t>視覺分支比較四個骨幹：CLIP ViT-B/16、SigLIP2 Base、SO400M 與 Giant。它們涵蓋不同模型規模、預訓練目標與輸出維度。為了讓比較公平，我固定影片取樣、骨架分支、投影與融合結構、損失函數與訓練流程，只替換凍結的視覺骨幹。</a:t>
            </a:r>
          </a:p>
          <a:p>
            <a:endParaRPr/>
          </a:p>
          <a:p>
            <a:r>
              <a:t>這裡要檢驗的不是簡化成「模型越大就一定越好」，而是預訓練表徵與資料集事件型態之間是否有交互作用。後面結果會看到，UCF-Crime 最佳的是 Giant，但 XD-Violence 最佳反而是 SO400M，說明規模不是唯一因素。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【建議時間：75 秒】</a:t>
            </a:r>
          </a:p>
          <a:p>
            <a:r>
              <a:t>這張是方法最關鍵的比較。左邊晚期融合先讓兩個模態各自輸出分數，再固定各占二分之一。它簡單，但所有片段都被同樣對待；若骨架在某一段失敗，或視覺因背景產生高分，錯誤會直接進入最後分數。</a:t>
            </a:r>
          </a:p>
          <a:p>
            <a:endParaRPr/>
          </a:p>
          <a:p>
            <a:r>
              <a:t>右邊門控融合是在特徵層進行。兩路特徵先投影並做 LayerNorm，再產生二百五十六維門控向量 g；也就是每個片段、每個維度都可調整。公式中 g 調節骨架項，一減 g 調節視覺項；另外保留兩路 residual，所以門控校準不佳時，也不會把任何模態完全刪除。</a:t>
            </a:r>
          </a:p>
          <a:p>
            <a:endParaRPr/>
          </a:p>
          <a:p>
            <a:r>
              <a:t>實驗上，門控相對晚期融合在 UCF-Crime 提升一點八到二點六個百分點，在 XD-Violence 提升十點九到十三點零。XD 的差距特別大，表示當模態品質或事件型態差異較複雜時，固定分數相加尤其容易失敗。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【建議時間：30 秒】</a:t>
            </a:r>
          </a:p>
          <a:p>
            <a:r>
              <a:t>訓練時，正常與異常影片都視為片段袋；兩邊挑出最高的 k 個片段，排序損失要求異常袋的 Top-k 平均分數至少比正常袋高一個 margin。總損失另加稀疏性與相鄰片段時間平滑。兩個特徵抽取器都凍結，實際只訓練約五十萬到一百零二萬個參數的輕量頭，每個設定少於五分鐘。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【建議時間：40 秒】</a:t>
            </a:r>
          </a:p>
          <a:p>
            <a:r>
              <a:t>實驗使用 UCF-Crime 與 XD-Violence。UCF 以影格層級 AUC 評估；本研究取得的是第三方重新散布的預抽影格版本，約六十四乘六十四、約三 FPS。因每部影片至少需要六十四影格，二百九十部測試影片中納入二百五十四部。XD-Violence 來源與事件更異質、正負樣本不平衡，因此以 AP 評估。</a:t>
            </a:r>
          </a:p>
          <a:p>
            <a:endParaRPr/>
          </a:p>
          <a:p>
            <a:r>
              <a:t>解讀上，資料集內的消融與骨幹比較是公平的；UCF 絕對分數不宜與官方原始高解析影片協定直接等同比較。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【建議時間：20 秒】</a:t>
            </a:r>
          </a:p>
          <a:p>
            <a:r>
              <a:t>（時間不足可略過本頁）實驗矩陣依序回答三題：RQ1 比較單模態、晚期融合與門控融合；RQ2 在同一下游架構替換四種 VLM；RQ3 以四種污染、五個強度比較 Source、TENT、SAR 與本研究方法。主要結果皆報告三種子平均與標準差。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【建議時間：80 秒】</a:t>
            </a:r>
          </a:p>
          <a:p>
            <a:r>
              <a:t>先看主要結果。左圖比較視覺單模態、晚期融合與門控融合。UCF-Crime 的主要結果（預設設定的門控融合）是 Giant 骨幹，AUC 八十二點五、標準差零點四；XD-Violence 的主要結果（預設設定的門控融合）是 SO400M 骨幹，AP 七十八點七、標準差零點九。若被追問，GF 2-Person 名目更高，UCF 為 82.6±0.3、XD 為 79.2±0.3，但在種子變異內，而且事後挑格構成輕度測試集選擇，因此論文不升格。</a:t>
            </a:r>
          </a:p>
          <a:p>
            <a:endParaRPr/>
          </a:p>
          <a:p>
            <a:r>
              <a:t>四個骨幹乘上兩個資料集共八組設定，門控都不低於視覺單模態，六組有正增益、兩組在報告精度下持平，平均提升零點六個百分點。晚期融合則明顯較弱，尤其在 XD-Violence；這說明多一個模態本身不保證提升，關鍵是如何管理模態可靠度。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【建議時間：65 秒】</a:t>
            </a:r>
          </a:p>
          <a:p>
            <a:r>
              <a:t>骨架單獨使用時，UCF AUC 為六十八點八，XD AP 為四十點八，明顯低於視覺串流。因此我的結論不是骨架比視覺更強，而是骨架在部分片段或類別提供視覺缺少的結構性證據。整體證據是八組骨幹×資料集設定全部不劣於視覺單模態、平均加零點六個百分點的一致性；類別層級的分析方向上支持互補（人體動作類 +0.31、外觀類 −0.29、Shooting +1.05 最乾淨），但逐類樣本小、雜訊大，論文僅作為機制一致性檢查，不作為主張依據。</a:t>
            </a:r>
          </a:p>
          <a:p>
            <a:endParaRPr/>
          </a:p>
          <a:p>
            <a:r>
              <a:t>門控相對晚期融合在 UCF 提升約一點八到二點六，在 XD 提升十點九到十三點零；門控的價值是限制弱模態的傷害，同時保留有效片段的補充。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【建議時間：60 秒】</a:t>
            </a:r>
          </a:p>
          <a:p>
            <a:r>
              <a:t>RQ2 的答案不是單純的規模排序。UCF-Crime 以 Giant 的八十二點五最佳；XD-Violence 則以 SO400M 的七十八點七最高。（Giant 為 76.8±2.8，種子帶與 SO400M 平均重疊 — SO400M 屬觀察到的最高平均，非顯著勝出）這表示骨幹的預訓練資料、表徵空間與資料集事件型態之間存在匹配問題。</a:t>
            </a:r>
          </a:p>
          <a:p>
            <a:endParaRPr/>
          </a:p>
          <a:p>
            <a:r>
              <a:t>因此不應先假設最大骨幹一定最好，而應在目標資料上以一致的下游框架驗證。門控融合結論相對穩定，但觀察到的最佳平均仍受資料集影響。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【建議時間：55 秒】</a:t>
            </a:r>
          </a:p>
          <a:p>
            <a:r>
              <a:t>左圖是一部 Fighting 影片的時間序列。紅色區域是真實異常，門控模型在事件開始後迅速升高，並在事件結束後回落，表示它確實能提供時間定位，而不是只做影片分類。</a:t>
            </a:r>
          </a:p>
          <a:p>
            <a:endParaRPr/>
          </a:p>
          <a:p>
            <a:r>
              <a:t>右圖則揭露一個重要限制：正常與異常影格雖然在排序上仍可區分，所以 AUC 不差，但許多正常影格的輸出分數也接近一，正常影格第七十五百分位約零點九八六。換句話說，這個分數適合做相對排序，不代表零點五這類固定閾值可以直接拿去警報。部署前仍需要獨立校準集、溫度縮放或事件層級的閾值設計。</a:t>
            </a:r>
          </a:p>
          <a:p>
            <a:endParaRPr/>
          </a:p>
          <a:p>
            <a:r>
              <a:t>[20 分鐘版可略] 可保留一句：「能定位事件，但絕對分數未校準」。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【建議時間：60 秒】</a:t>
            </a:r>
          </a:p>
          <a:p>
            <a:r>
              <a:t>接下來回答 RQ3。我在 UCF 測試集的污染版本 UCF-Crime-C 建立四種影像污染：Gaussian noise、motion blur、JPEG 壓縮與 brightness，每種各有五個強度，共二十個條件。熱圖顯示，不更新模型的來源模型在多數條件都有退化，而且不同骨幹的弱點不完全一致；其中高強度 Gaussian noise 是最能使視覺語言串流崩潰的條件。</a:t>
            </a:r>
          </a:p>
          <a:p>
            <a:endParaRPr/>
          </a:p>
          <a:p>
            <a:r>
              <a:t>這件事有兩個含意。第一，乾淨資料上的最佳模型不一定在所有污染下都最佳；第二，若要在測試時調整模態權重，不能只看一般特徵位移，而要確認視覺串流是否真的失去區分片段的能力。這正是後續可靠度重加權的設計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【建議時間：70 秒】</a:t>
            </a:r>
          </a:p>
          <a:p>
            <a:r>
              <a:t>我先測試兩個代表性方法 TENT 與 SAR。表中的變化都小於零點一個 AUC 百分點，有些甚至微幅下降，整體可視為沒有實質效果。這不是因為程式完全沒跑，而是方法的主要適應槓桿與模型架構不匹配。</a:t>
            </a:r>
          </a:p>
          <a:p>
            <a:endParaRPr/>
          </a:p>
          <a:p>
            <a:r>
              <a:t>TENT 與 SAR 經常透過熵最小化更新正規化相關參數，尤其在含 BatchNorm 的模型上，批次統計可以隨測試分布改變。但 CLIP 與 SigLIP2 視覺 Transformer 主要使用 LayerNorm，沒有可用同樣方式更新的批次統計。此結果為三種子、連續（continual）協定、單一參考學習率 10⁻³（未做學習率掃描）下所得；結論主要依據排序不變機制，是我們論證的結構性限制。</a:t>
            </a:r>
          </a:p>
          <a:p>
            <a:endParaRPr/>
          </a:p>
          <a:p>
            <a:r>
              <a:t>因此，負結果的貢獻是界定方法邊界：不能把在 BatchNorm 網路有效的 TTA，直接假設會轉移到凍結融合頭的 LayerNorm 適應面。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【建議時間：85 秒】</a:t>
            </a:r>
          </a:p>
          <a:p>
            <a:r>
              <a:t>既然直接更新 LayerNorm 參數沒有幫助，我改變問題：不去改模型，而是判斷何時應該降低視覺串流的影響。第一步把骨架輸入設為零，讓同一個融合頭輸出 visual-only 的片段分數。第二步比較污染條件與乾淨參考的分數標準差；如果視覺分數被壓縮、失去區分片段的能力，w_vl 就會低於一。第三步再檢查骨架特徵相對乾淨參考的位移，形成安全閘 s；若骨架也受污染，就禁止改道。最後，w 等於一，減去「（一減 w_vl）乘上 s」；也就是只有骨架可信（s 接近一）時，w 才會往 w_vl 下調。</a:t>
            </a:r>
          </a:p>
          <a:p>
            <a:endParaRPr/>
          </a:p>
          <a:p>
            <a:r>
              <a:t>因此只有「視覺判別力崩潰、但骨架串流仍完好（乾淨快取）」兩個條件同時成立，模型才會向骨架改道；任何一項不成立，w 就等於一，輸出與來源模型完全相同。這個方法不需要梯度、最佳化器或標籤，但統計量是以整個污染條件彙整，所以屬於 transductive 協定，而不是單樣本線上適應。</a:t>
            </a:r>
          </a:p>
          <a:p>
            <a:endParaRPr/>
          </a:p>
          <a:p>
            <a:r>
              <a:t>要說明的是：本基準中 Gaussian 與 brightness 條件重用乾淨骨架快取，blur 與 JPEG 則從污染影格重抽取（論文 4.3 節揭露）。因此 Gaussian 的增益量化的是「仍存在完好骨架串流時」改道的上限，而非同一鏡頭全鏈路的穩健性；JPEG 列（骨架重抽取後安全閘為零、增益為 0）— 這是誠實對照。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【建議時間：65 秒】</a:t>
            </a:r>
          </a:p>
          <a:p>
            <a:r>
              <a:t>結果上，可靠度重加權在四個骨幹平均都有正增益。CLIP 提升零點六七、Base 一點五零、SO400M 二點二四、Giant 零點四二；把四個骨幹與二十個污染條件平均後，來源模型由六十點六提升到六十一點八，平均增加一點二一。最高增益是 SO400M 在第五級 Gaussian noise 的十三點二。</a:t>
            </a:r>
          </a:p>
          <a:p>
            <a:endParaRPr/>
          </a:p>
          <a:p>
            <a:r>
              <a:t>右邊熱圖顯示，增益主要集中在 Gaussian noise，而且會隨強度增加；對 motion blur、JPEG 與 brightness，骨架安全閘或視覺可靠度判斷會讓 w 保持一，因此結果與來源模型相同。這也是我把它定位為「選擇性救援」的原因：它不是讓模型對所有污染免疫，而是在視覺判別力真的崩潰、骨架串流仍完好（乾淨快取）時才介入。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【建議時間：75 秒】</a:t>
            </a:r>
          </a:p>
          <a:p>
            <a:r>
              <a:t>這一頁我主動界定四個研究邊界。第一，UCF 使用第三方重新散布的預抽影格版本，因此最適合支持同一協定內的消融與骨幹比較，跨論文絕對值要保守。第二，原先設定的最低目標是 UCF 八十三、XD 八十，但實測是八十二點五與七十八點七；我保留真實結果，不用目標值包裝。第三，二十個污染條件也參與了策略選擇，可靠度統計又是整個條件彙整，因此仍有 transductive 成分，未來應把開發污染與最終測試污染分開，並研究串流估計。</a:t>
            </a:r>
          </a:p>
          <a:p>
            <a:endParaRPr/>
          </a:p>
          <a:p>
            <a:r>
              <a:t>第四，早期時間平滑損失曾誤沿 batch 軸計算。我修正後做了完整二十九組設定重跑；主要八十二點五的結果重現，三種子平均僅差負零點零六、皆在種子標準差內；非頭條格另有較大位移（29 格整體平均約負零點一六，Skeleton-Only 列平均約負一點四），但方法排序與所有質性結論不變。</a:t>
            </a:r>
          </a:p>
          <a:p>
            <a:endParaRPr/>
          </a:p>
          <a:p>
            <a:r>
              <a:t>這些限制不是把研究作廢，而是精確說明證據能支持到哪裡。最核心的比較仍成立：在一致協定下，門控跨八個設定都不劣於視覺單模態；TENT／SAR 的 LayerNorm 限制與重加權的平均增益也可重現。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【建議時間：80 秒】</a:t>
            </a:r>
          </a:p>
          <a:p>
            <a:r>
              <a:t>最後回到三個研究問題。RQ1：雙模態有價值，但關鍵是門控融合，而不是把兩個分數固定相加；在四個骨幹與兩個資料集共八組設定中，門控都不低於視覺單模態，並明顯優於晚期融合。RQ2：門控結論跨骨幹成立，但最佳骨幹依資料集改變；UCF 最佳為 Giant 的八十二點五，XD 最佳為 SO400M 的七十八點七。RQ3：TENT 與 SAR 無法直接轉移到凍結融合頭的 LayerNorm 適應面；不更新模型、只在視覺崩潰且骨架可信時改道的可靠度重加權更符合此架構，二十個污染條件平均提升一點二一。</a:t>
            </a:r>
          </a:p>
          <a:p>
            <a:endParaRPr/>
          </a:p>
          <a:p>
            <a:r>
              <a:t>因此，本研究最核心的結論是：多模態的價值不只是加入更多資訊，而是依情境管理不同證據的可靠度。我的報告到這裡，謝謝各位委員聆聽，敬請指教。</a:t>
            </a:r>
          </a:p>
          <a:p>
            <a:endParaRPr/>
          </a:p>
          <a:p>
            <a:r>
              <a:t>[20 分鐘版] 這張仍建議完整保留，因為它直接回答三個研究問題；若超時，可將每題壓縮成一個句子。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本頁為正式報告結束後的備用投影片分隔頁，不計入建議時間。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若委員詢問舊平滑實作影響：先說明 29 格全部重跑，再把頭條結果的負零點零六與 29 格整體平均負零點一六分開。最大單格負四點一三發生在 Skeleton-Only s42，但該列本來就有正負二點八的種子帶；門控相對視覺與方法排序都沒有改變。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若委員問為何不只學一個 alpha：八個設定乘三個種子中，alpha 收斂在零點四四到零點四九，與等權初始化幾乎相同；和固定等權差不超過零點九，但仍落後門控。重點是靜態權重無法依每個輸入改變模態信任。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排除不是依結果挑樣本，而是架構最小輸入長度造成的預先規則。三十六部影片短於六十四影格，占十二點四趴；論文已揭露，並可由 data/ucf_total_frames.json 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這兩張圖顯示 gate 值會隨類別系統性變化，支持門控確實在管理模態信任。但這是 CLIP、單一種子 s42 的探索性分析，只能作為機制一致性檢查，不應升格成逐類效能主張。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頭條 UCF 設定中，正常影格第七十五百分位是零點九八六；異常與正常平均分數為零點八七四與零點三八二。AUC 與 AP 只看排序，因此部署時不能直接沿用固定閾值。可用保留正常影格做事後校準，或改用滑動視窗內的相對排序警報，兩者都不需要重訓骨幹。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六策略搜尋的實際六條線是：位移門控混合、通道選擇、投影空間校正、融合閘調變、骨架分數混合、以及開放式探索；勝出者為可靠度重加權（論文 6.3 節有逐一命名）。前置研究階段先檢驗熵最小化與特徵統計方法，其中 CORAL 於留一污染條件驗證中淘汰。最終方法則在篩選時未使用的骨幹、強度與種子上重現。不過二十個污染條件仍參與策略形成，因此殘餘選擇風險已在論文第六章揭露。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rcRect l="33300" t="14872" r="33300"/>
          <a:stretch>
            <a:fillRect/>
          </a:stretch>
        </p:blipFill>
        <p:spPr>
          <a:xfrm>
            <a:off x="7524750" y="1019907"/>
            <a:ext cx="4667250" cy="583809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BEFDB2-3C13-4E55-95A5-F0AA82FF3C37}"/>
              </a:ext>
            </a:extLst>
          </p:cNvPr>
          <p:cNvSpPr>
            <a:spLocks noGrp="1"/>
          </p:cNvSpPr>
          <p:nvPr/>
        </p:nvSpPr>
        <p:spPr>
          <a:xfrm>
            <a:off x="7096125" y="0"/>
            <a:ext cx="1143000" cy="6858000"/>
          </a:xfrm>
          <a:prstGeom prst="rect">
            <a:avLst/>
          </a:prstGeom>
          <a:solidFill>
            <a:srgbClr val="0B2545"/>
          </a:solidFill>
          <a:ln w="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C1AB39-F5D5-46D8-8649-F2769F890D5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碩士論文口試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B3ECDC-430A-4F5C-9DA7-4BF2AB152CF3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6572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雙模態骨架與視覺特徵融合</a:t>
            </a:r>
          </a:p>
          <a:p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於弱監督暴力偵測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43F084-5682-4363-970A-3D6A300784E4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rPr>
              <a:t>多種骨幹網路之比較研究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38FFF445-47C6-4617-9BA7-5B19CA687735}"/>
              </a:ext>
            </a:extLst>
          </p:cNvPr>
          <p:cNvSpPr>
            <a:spLocks noGrp="1"/>
          </p:cNvSpPr>
          <p:nvPr/>
        </p:nvSpPr>
        <p:spPr>
          <a:xfrm>
            <a:off x="714375" y="3600450"/>
            <a:ext cx="5591175" cy="9525"/>
          </a:xfrm>
          <a:prstGeom prst="line">
            <a:avLst/>
          </a:prstGeom>
          <a:noFill/>
          <a:ln w="19050">
            <a:solidFill>
              <a:srgbClr val="4F6F8E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B2CD8-29ED-4D9E-9D21-E9F68A83D63F}"/>
              </a:ext>
            </a:extLst>
          </p:cNvPr>
          <p:cNvSpPr>
            <a:spLocks noGrp="1"/>
          </p:cNvSpPr>
          <p:nvPr/>
        </p:nvSpPr>
        <p:spPr>
          <a:xfrm>
            <a:off x="714375" y="3781425"/>
            <a:ext cx="595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B9CBD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9CBD9"/>
                </a:solidFill>
                <a:latin typeface="Microsoft JhengHei"/>
                <a:ea typeface="Microsoft JhengHei"/>
                <a:cs typeface="Microsoft JhengHei"/>
              </a:rPr>
              <a:t>Dual-Modal Skeleton–Visual Fusion for Weakly Supervised Violence Detection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FC346D-E035-48A0-B344-C4EBA42FFE5E}"/>
              </a:ext>
            </a:extLst>
          </p:cNvPr>
          <p:cNvSpPr>
            <a:spLocks noGrp="1"/>
          </p:cNvSpPr>
          <p:nvPr/>
        </p:nvSpPr>
        <p:spPr>
          <a:xfrm>
            <a:off x="714375" y="4762500"/>
            <a:ext cx="54768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研究生　鄭暐瀚　Wei-Han Jeng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指導教授　楊傳凱 博士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國立臺灣科技大學 資訊管理系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16DA79-A1AA-41B8-BF6B-99581476551B}"/>
              </a:ext>
            </a:extLst>
          </p:cNvPr>
          <p:cNvSpPr>
            <a:spLocks noGrp="1"/>
          </p:cNvSpPr>
          <p:nvPr/>
        </p:nvSpPr>
        <p:spPr>
          <a:xfrm>
            <a:off x="714375" y="6096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口試日期｜2026 年 7 月 21 日</a:t>
            </a:r>
          </a:p>
        </p:txBody>
      </p:sp>
    </p:spTree>
    <p:extLst>
      <p:ext uri="{BB962C8B-B14F-4D97-AF65-F5344CB8AC3E}">
        <p14:creationId xmlns:p14="http://schemas.microsoft.com/office/powerpoint/2010/main" val="128743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C389B5E-F27E-4E2C-ACD2-60383B2DEBF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章｜緒論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72B88F-57B7-4219-95B9-9D130CD0665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監視影像的困難，不只是「看見暴力」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285945-C533-471C-9221-62F6B154719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真正的任務是從大量正常片段中，及時定位少數異常事件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66AF8504-A400-492A-B811-764C0055139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14F40F-E0FD-44D4-9623-A531541A21BC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rcRect l="8608" t="11508" r="8608" b="1"/>
          <a:stretch>
            <a:fillRect/>
          </a:stretch>
        </p:blipFill>
        <p:spPr>
          <a:xfrm>
            <a:off x="6877050" y="2073879"/>
            <a:ext cx="4724400" cy="3202970"/>
          </a:xfrm>
          <a:prstGeom prst="roundRect">
            <a:avLst>
              <a:gd name="adj" fmla="val 3158"/>
            </a:avLst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99E6C9-AF22-44A4-A780-848292A5F3B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D16468-7A3B-450D-8D20-3C9EF163F654}"/>
              </a:ext>
            </a:extLst>
          </p:cNvPr>
          <p:cNvSpPr>
            <a:spLocks noGrp="1"/>
          </p:cNvSpPr>
          <p:nvPr/>
        </p:nvSpPr>
        <p:spPr>
          <a:xfrm>
            <a:off x="762000" y="19335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長時段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DC40CF-D02C-4259-8A91-F1F2B7EC8D44}"/>
              </a:ext>
            </a:extLst>
          </p:cNvPr>
          <p:cNvSpPr>
            <a:spLocks noGrp="1"/>
          </p:cNvSpPr>
          <p:nvPr/>
        </p:nvSpPr>
        <p:spPr>
          <a:xfrm>
            <a:off x="742950" y="2447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監視影片連續、冗長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D685223-12BB-4C1F-AD19-47943246167D}"/>
              </a:ext>
            </a:extLst>
          </p:cNvPr>
          <p:cNvSpPr>
            <a:spLocks noGrp="1"/>
          </p:cNvSpPr>
          <p:nvPr/>
        </p:nvSpPr>
        <p:spPr>
          <a:xfrm>
            <a:off x="2609850" y="180975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F6A169-FB36-45E2-B328-9E9417522A71}"/>
              </a:ext>
            </a:extLst>
          </p:cNvPr>
          <p:cNvSpPr>
            <a:spLocks noGrp="1"/>
          </p:cNvSpPr>
          <p:nvPr/>
        </p:nvSpPr>
        <p:spPr>
          <a:xfrm>
            <a:off x="2762250" y="19335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稀少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BF31E5-2FD2-4ACC-9FF4-8D8682899D45}"/>
              </a:ext>
            </a:extLst>
          </p:cNvPr>
          <p:cNvSpPr>
            <a:spLocks noGrp="1"/>
          </p:cNvSpPr>
          <p:nvPr/>
        </p:nvSpPr>
        <p:spPr>
          <a:xfrm>
            <a:off x="2743200" y="2447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異常只占少數片段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C14D446-81FC-4375-9D6B-B9B447BEA2EB}"/>
              </a:ext>
            </a:extLst>
          </p:cNvPr>
          <p:cNvSpPr>
            <a:spLocks noGrp="1"/>
          </p:cNvSpPr>
          <p:nvPr/>
        </p:nvSpPr>
        <p:spPr>
          <a:xfrm>
            <a:off x="4610100" y="180975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90FDD9-D3BA-4C3F-A43B-43B4D34CEC7B}"/>
              </a:ext>
            </a:extLst>
          </p:cNvPr>
          <p:cNvSpPr>
            <a:spLocks noGrp="1"/>
          </p:cNvSpPr>
          <p:nvPr/>
        </p:nvSpPr>
        <p:spPr>
          <a:xfrm>
            <a:off x="4762500" y="19335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高代價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F84F75-3599-478F-9B38-7924687F3ABA}"/>
              </a:ext>
            </a:extLst>
          </p:cNvPr>
          <p:cNvSpPr>
            <a:spLocks noGrp="1"/>
          </p:cNvSpPr>
          <p:nvPr/>
        </p:nvSpPr>
        <p:spPr>
          <a:xfrm>
            <a:off x="4743450" y="2447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漏報與誤報都重要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F03228A-D423-4D0A-81E4-38267DA89493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5810250" cy="1009650"/>
          </a:xfrm>
          <a:prstGeom prst="roundRect">
            <a:avLst>
              <a:gd name="adj" fmla="val 7547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4C2748-2D66-4303-994A-3DD45461669C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66675" cy="10096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82ADE4-038A-49B9-94B4-83733074EE93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5486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研究焦點：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模型不只要判斷影片是否異常，也要給出隨時間變化的異常分數。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9088879-CD67-493E-9FD7-D3D2C6453D54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810250" cy="971550"/>
          </a:xfrm>
          <a:prstGeom prst="roundRect">
            <a:avLst>
              <a:gd name="adj" fmla="val 784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DD9D65-8609-4D77-9848-12679F119F95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66675" cy="9715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1CF48C-7587-4BF0-9C31-BDF1A847C9B5}"/>
              </a:ext>
            </a:extLst>
          </p:cNvPr>
          <p:cNvSpPr>
            <a:spLocks noGrp="1"/>
          </p:cNvSpPr>
          <p:nvPr/>
        </p:nvSpPr>
        <p:spPr>
          <a:xfrm>
            <a:off x="800100" y="4524375"/>
            <a:ext cx="5486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核心矛盾：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逐影格標註昂貴，但只用影片標籤又難以學到事件真正發生的位置。</a:t>
            </a:r>
          </a:p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ABF56276-CE65-448A-A0D2-9DE0B7CF9F01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6E47B6-3367-4667-9C0C-806A2FD4F23F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來源：本研究；示意影格取自論文實驗資料 XD-Violence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41D1EA-46AC-4D65-A22F-804265E25133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79069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D905006D-7EEB-4CD6-98B9-029CF036AF5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556913-3250-45AE-A4E6-D1AD2631B38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弱監督設定：只有影片標籤，卻要找出事件位置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A3E0DC6-CF43-4B66-AB8E-B8D9A2E2E685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13536D-9E13-4D84-BC0C-056D4AB1DA14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3448B32-0C45-44F6-9212-6D987F7E7ACE}"/>
              </a:ext>
            </a:extLst>
          </p:cNvPr>
          <p:cNvSpPr>
            <a:spLocks noGrp="1"/>
          </p:cNvSpPr>
          <p:nvPr/>
        </p:nvSpPr>
        <p:spPr>
          <a:xfrm>
            <a:off x="723900" y="1685925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71F752-D18C-49A6-8C48-7AA732AC83A9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C67F44A-1367-400D-B18E-1F2BA4DCC550}"/>
              </a:ext>
            </a:extLst>
          </p:cNvPr>
          <p:cNvSpPr>
            <a:spLocks noGrp="1"/>
          </p:cNvSpPr>
          <p:nvPr/>
        </p:nvSpPr>
        <p:spPr>
          <a:xfrm>
            <a:off x="4829175" y="1685925"/>
            <a:ext cx="10477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954B63-2516-40ED-B707-E9CC311A78EB}"/>
              </a:ext>
            </a:extLst>
          </p:cNvPr>
          <p:cNvSpPr>
            <a:spLocks noGrp="1"/>
          </p:cNvSpPr>
          <p:nvPr/>
        </p:nvSpPr>
        <p:spPr>
          <a:xfrm>
            <a:off x="4829175" y="16954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A84632B-138B-4E58-922C-EA70D2D2FEAC}"/>
              </a:ext>
            </a:extLst>
          </p:cNvPr>
          <p:cNvSpPr>
            <a:spLocks noGrp="1"/>
          </p:cNvSpPr>
          <p:nvPr/>
        </p:nvSpPr>
        <p:spPr>
          <a:xfrm>
            <a:off x="9810750" y="1685925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14EC2C-19C5-41A5-B972-DA161DF59B22}"/>
              </a:ext>
            </a:extLst>
          </p:cNvPr>
          <p:cNvSpPr>
            <a:spLocks noGrp="1"/>
          </p:cNvSpPr>
          <p:nvPr/>
        </p:nvSpPr>
        <p:spPr>
          <a:xfrm>
            <a:off x="9810750" y="16954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F7B3DF1-431F-4B33-A10F-A960695768B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61AFFC-72CC-45B5-8CEA-5456D06DCEA8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4E26CD9-43B5-40AA-A91A-1AEEF15C5F0A}"/>
              </a:ext>
            </a:extLst>
          </p:cNvPr>
          <p:cNvSpPr>
            <a:spLocks noGrp="1"/>
          </p:cNvSpPr>
          <p:nvPr/>
        </p:nvSpPr>
        <p:spPr>
          <a:xfrm>
            <a:off x="127635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24FE4C-0887-4D62-8215-75A4FB317F58}"/>
              </a:ext>
            </a:extLst>
          </p:cNvPr>
          <p:cNvSpPr>
            <a:spLocks noGrp="1"/>
          </p:cNvSpPr>
          <p:nvPr/>
        </p:nvSpPr>
        <p:spPr>
          <a:xfrm>
            <a:off x="127635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4019A18-F0DA-4B3A-9CF1-182020386362}"/>
              </a:ext>
            </a:extLst>
          </p:cNvPr>
          <p:cNvSpPr>
            <a:spLocks noGrp="1"/>
          </p:cNvSpPr>
          <p:nvPr/>
        </p:nvSpPr>
        <p:spPr>
          <a:xfrm>
            <a:off x="182880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1A9538-6344-4521-8F63-9C24225C4EA5}"/>
              </a:ext>
            </a:extLst>
          </p:cNvPr>
          <p:cNvSpPr>
            <a:spLocks noGrp="1"/>
          </p:cNvSpPr>
          <p:nvPr/>
        </p:nvSpPr>
        <p:spPr>
          <a:xfrm>
            <a:off x="182880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88BA24E-D13D-42DF-9594-0590E8F0DBED}"/>
              </a:ext>
            </a:extLst>
          </p:cNvPr>
          <p:cNvSpPr>
            <a:spLocks noGrp="1"/>
          </p:cNvSpPr>
          <p:nvPr/>
        </p:nvSpPr>
        <p:spPr>
          <a:xfrm>
            <a:off x="238125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F6E5E2"/>
          </a:solidFill>
          <a:ln w="9525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70E37C-20C3-46E6-82E5-79DBBAA7B7DE}"/>
              </a:ext>
            </a:extLst>
          </p:cNvPr>
          <p:cNvSpPr>
            <a:spLocks noGrp="1"/>
          </p:cNvSpPr>
          <p:nvPr/>
        </p:nvSpPr>
        <p:spPr>
          <a:xfrm>
            <a:off x="238125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3F47BE0-9780-491F-B7C1-D371B3A6296B}"/>
              </a:ext>
            </a:extLst>
          </p:cNvPr>
          <p:cNvSpPr>
            <a:spLocks noGrp="1"/>
          </p:cNvSpPr>
          <p:nvPr/>
        </p:nvSpPr>
        <p:spPr>
          <a:xfrm>
            <a:off x="293370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A7FE62-034F-4118-94BE-579EDFF7CE0D}"/>
              </a:ext>
            </a:extLst>
          </p:cNvPr>
          <p:cNvSpPr>
            <a:spLocks noGrp="1"/>
          </p:cNvSpPr>
          <p:nvPr/>
        </p:nvSpPr>
        <p:spPr>
          <a:xfrm>
            <a:off x="293370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22F31-E4D8-429A-A71D-5B5F1F1412B5}"/>
              </a:ext>
            </a:extLst>
          </p:cNvPr>
          <p:cNvSpPr>
            <a:spLocks noGrp="1"/>
          </p:cNvSpPr>
          <p:nvPr/>
        </p:nvSpPr>
        <p:spPr>
          <a:xfrm>
            <a:off x="3486150" y="2295525"/>
            <a:ext cx="457200" cy="8763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014DD-4784-4BA9-8DEA-4EB1B528F49A}"/>
              </a:ext>
            </a:extLst>
          </p:cNvPr>
          <p:cNvSpPr>
            <a:spLocks noGrp="1"/>
          </p:cNvSpPr>
          <p:nvPr/>
        </p:nvSpPr>
        <p:spPr>
          <a:xfrm>
            <a:off x="3486150" y="2533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06649A-ED6A-4B3F-AF57-37EC2F3F7CFA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321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整部影片只有一個標籤：異常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0D1D95-D21C-4408-978A-D32416E84929}"/>
              </a:ext>
            </a:extLst>
          </p:cNvPr>
          <p:cNvSpPr>
            <a:spLocks noGrp="1"/>
          </p:cNvSpPr>
          <p:nvPr/>
        </p:nvSpPr>
        <p:spPr>
          <a:xfrm>
            <a:off x="4038600" y="24765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116CAA0-34CD-460D-8493-26F331105975}"/>
              </a:ext>
            </a:extLst>
          </p:cNvPr>
          <p:cNvSpPr>
            <a:spLocks noGrp="1"/>
          </p:cNvSpPr>
          <p:nvPr/>
        </p:nvSpPr>
        <p:spPr>
          <a:xfrm>
            <a:off x="4857750" y="219075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2FC4A0-3E23-437F-9A3A-5D5ED94940CF}"/>
              </a:ext>
            </a:extLst>
          </p:cNvPr>
          <p:cNvSpPr>
            <a:spLocks noGrp="1"/>
          </p:cNvSpPr>
          <p:nvPr/>
        </p:nvSpPr>
        <p:spPr>
          <a:xfrm>
            <a:off x="5048250" y="23717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多重實例學習（MIL）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455420-8352-4FE7-B020-DD0F4D7D7A11}"/>
              </a:ext>
            </a:extLst>
          </p:cNvPr>
          <p:cNvSpPr>
            <a:spLocks noGrp="1"/>
          </p:cNvSpPr>
          <p:nvPr/>
        </p:nvSpPr>
        <p:spPr>
          <a:xfrm>
            <a:off x="5095875" y="2809875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把影片視為片段集合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從高分片段反推影片標籤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CB4DCC-B20E-4B8E-8442-C90714B59B3D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F6ABB5-6F70-4D3A-B59C-59C739E41C4D}"/>
              </a:ext>
            </a:extLst>
          </p:cNvPr>
          <p:cNvSpPr>
            <a:spLocks noGrp="1"/>
          </p:cNvSpPr>
          <p:nvPr/>
        </p:nvSpPr>
        <p:spPr>
          <a:xfrm>
            <a:off x="9077325" y="2990850"/>
            <a:ext cx="190500" cy="1714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BE1B39-A0E8-4CC6-9ACD-9381F86A87DF}"/>
              </a:ext>
            </a:extLst>
          </p:cNvPr>
          <p:cNvSpPr>
            <a:spLocks noGrp="1"/>
          </p:cNvSpPr>
          <p:nvPr/>
        </p:nvSpPr>
        <p:spPr>
          <a:xfrm>
            <a:off x="9363075" y="2952750"/>
            <a:ext cx="190500" cy="2095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54BA103-4768-46B2-90A9-A11463091E05}"/>
              </a:ext>
            </a:extLst>
          </p:cNvPr>
          <p:cNvSpPr>
            <a:spLocks noGrp="1"/>
          </p:cNvSpPr>
          <p:nvPr/>
        </p:nvSpPr>
        <p:spPr>
          <a:xfrm>
            <a:off x="9648825" y="2914650"/>
            <a:ext cx="190500" cy="2476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D96619-D9DD-458B-89F9-AD5BE50C9DE2}"/>
              </a:ext>
            </a:extLst>
          </p:cNvPr>
          <p:cNvSpPr>
            <a:spLocks noGrp="1"/>
          </p:cNvSpPr>
          <p:nvPr/>
        </p:nvSpPr>
        <p:spPr>
          <a:xfrm>
            <a:off x="9934575" y="2286000"/>
            <a:ext cx="190500" cy="876300"/>
          </a:xfrm>
          <a:prstGeom prst="rect">
            <a:avLst/>
          </a:prstGeom>
          <a:solidFill>
            <a:srgbClr val="C4453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40DC54-68A6-4970-96BD-6C3E68975647}"/>
              </a:ext>
            </a:extLst>
          </p:cNvPr>
          <p:cNvSpPr>
            <a:spLocks noGrp="1"/>
          </p:cNvSpPr>
          <p:nvPr/>
        </p:nvSpPr>
        <p:spPr>
          <a:xfrm>
            <a:off x="10220325" y="2457450"/>
            <a:ext cx="190500" cy="704850"/>
          </a:xfrm>
          <a:prstGeom prst="rect">
            <a:avLst/>
          </a:prstGeom>
          <a:solidFill>
            <a:srgbClr val="C4453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B3D2B6E-72D8-4E17-A979-B0B07C62156B}"/>
              </a:ext>
            </a:extLst>
          </p:cNvPr>
          <p:cNvSpPr>
            <a:spLocks noGrp="1"/>
          </p:cNvSpPr>
          <p:nvPr/>
        </p:nvSpPr>
        <p:spPr>
          <a:xfrm>
            <a:off x="10506075" y="2876550"/>
            <a:ext cx="190500" cy="2857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7BAD983-8A47-4EA2-863F-8A7AE6A26D09}"/>
              </a:ext>
            </a:extLst>
          </p:cNvPr>
          <p:cNvSpPr>
            <a:spLocks noGrp="1"/>
          </p:cNvSpPr>
          <p:nvPr/>
        </p:nvSpPr>
        <p:spPr>
          <a:xfrm>
            <a:off x="10791825" y="2952750"/>
            <a:ext cx="190500" cy="2095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ED11B5-9172-4859-80E0-AC06FDE0BCE4}"/>
              </a:ext>
            </a:extLst>
          </p:cNvPr>
          <p:cNvSpPr>
            <a:spLocks noGrp="1"/>
          </p:cNvSpPr>
          <p:nvPr/>
        </p:nvSpPr>
        <p:spPr>
          <a:xfrm>
            <a:off x="11077575" y="3000375"/>
            <a:ext cx="190500" cy="16192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F31AA8C-2B62-433F-826C-77FAC6C1BB5C}"/>
              </a:ext>
            </a:extLst>
          </p:cNvPr>
          <p:cNvSpPr>
            <a:spLocks noGrp="1"/>
          </p:cNvSpPr>
          <p:nvPr/>
        </p:nvSpPr>
        <p:spPr>
          <a:xfrm>
            <a:off x="8905875" y="33528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時間軸上的異常分數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4B6B2D4-5A43-4BF6-976A-881EAAE30677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10848975" cy="914400"/>
          </a:xfrm>
          <a:prstGeom prst="roundRect">
            <a:avLst>
              <a:gd name="adj" fmla="val 8333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5D0BE22-8E60-48F8-B3D0-096968566522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66675" cy="914400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F3DF215-0B54-4262-BB3A-4665067EC506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525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學習難點：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被標為異常的影片中哪些片段真的異常，訓練時並不知道；模型必須自行辨識。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7C787E0-9233-41EC-816B-54DE8109797B}"/>
              </a:ext>
            </a:extLst>
          </p:cNvPr>
          <p:cNvSpPr>
            <a:spLocks noGrp="1"/>
          </p:cNvSpPr>
          <p:nvPr/>
        </p:nvSpPr>
        <p:spPr>
          <a:xfrm>
            <a:off x="12001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影片層級監督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688A84-002D-43CE-B7CA-FFF0DB574725}"/>
              </a:ext>
            </a:extLst>
          </p:cNvPr>
          <p:cNvSpPr>
            <a:spLocks noGrp="1"/>
          </p:cNvSpPr>
          <p:nvPr/>
        </p:nvSpPr>
        <p:spPr>
          <a:xfrm>
            <a:off x="3371850" y="5372100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≠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F154A43-6767-4C64-9229-4F6D0F21B9C6}"/>
              </a:ext>
            </a:extLst>
          </p:cNvPr>
          <p:cNvSpPr>
            <a:spLocks noGrp="1"/>
          </p:cNvSpPr>
          <p:nvPr/>
        </p:nvSpPr>
        <p:spPr>
          <a:xfrm>
            <a:off x="445770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影格層級答案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2997D9F-39FB-468C-8342-B1C8914B3062}"/>
              </a:ext>
            </a:extLst>
          </p:cNvPr>
          <p:cNvSpPr>
            <a:spLocks noGrp="1"/>
          </p:cNvSpPr>
          <p:nvPr/>
        </p:nvSpPr>
        <p:spPr>
          <a:xfrm>
            <a:off x="7105650" y="5410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→ 需要更可靠的特徵與聚合方式</a:t>
            </a:r>
          </a:p>
        </p:txBody>
      </p:sp>
      <p:sp>
        <p:nvSpPr>
          <p:cNvPr id="45" name="直線接點 44">
            <a:extLst>
              <a:ext uri="{FF2B5EF4-FFF2-40B4-BE49-F238E27FC236}">
                <a16:creationId xmlns:a16="http://schemas.microsoft.com/office/drawing/2014/main" id="{EC8B8DE7-0EDF-489A-B926-2F02C85FCB2C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A478271-52C4-477B-90B2-2349F01701D2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來源：本研究整理（弱監督影片異常偵測設定）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ADB8712-D52B-4D8B-8AD2-D024BAC8DF25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6037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9BCF5067-FB1B-49A3-B877-AAB5D70F03C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章｜研究動機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512585-EAE0-40F3-9198-513E6DEF5299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單一視覺線索容易誤判；動作結構提供互補證據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67EA45E-F28A-40E4-AB1E-BBC660D2587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D0EAA4-DC91-417A-8228-8C6D9ABA15A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5B2C676-2DC7-4149-B573-3C1ADDE104B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4857750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CB95B0-9DDD-44B2-9A6D-6BBF67CC8F45}"/>
              </a:ext>
            </a:extLst>
          </p:cNvPr>
          <p:cNvSpPr>
            <a:spLocks noGrp="1"/>
          </p:cNvSpPr>
          <p:nvPr/>
        </p:nvSpPr>
        <p:spPr>
          <a:xfrm>
            <a:off x="933450" y="19621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視覺語意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E190EA-1F31-4A6C-BC92-F7BFD2D0D715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場景、物體、外觀、語意脈絡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A46F6B28-04E8-43A3-8149-D11A16CAB82E}"/>
              </a:ext>
            </a:extLst>
          </p:cNvPr>
          <p:cNvSpPr>
            <a:spLocks noGrp="1"/>
          </p:cNvSpPr>
          <p:nvPr/>
        </p:nvSpPr>
        <p:spPr>
          <a:xfrm>
            <a:off x="1628775" y="2943225"/>
            <a:ext cx="800100" cy="8001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D015E7-37AD-4EF3-8C88-2C9060D7278F}"/>
              </a:ext>
            </a:extLst>
          </p:cNvPr>
          <p:cNvSpPr>
            <a:spLocks noGrp="1"/>
          </p:cNvSpPr>
          <p:nvPr/>
        </p:nvSpPr>
        <p:spPr>
          <a:xfrm>
            <a:off x="1628775" y="3143250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畫面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D94420A-3A12-4405-BEDF-7F62752EA1F7}"/>
              </a:ext>
            </a:extLst>
          </p:cNvPr>
          <p:cNvSpPr>
            <a:spLocks noGrp="1"/>
          </p:cNvSpPr>
          <p:nvPr/>
        </p:nvSpPr>
        <p:spPr>
          <a:xfrm>
            <a:off x="3638550" y="2943225"/>
            <a:ext cx="800100" cy="8001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6FE12C-297D-4207-B93F-4073791647CD}"/>
              </a:ext>
            </a:extLst>
          </p:cNvPr>
          <p:cNvSpPr>
            <a:spLocks noGrp="1"/>
          </p:cNvSpPr>
          <p:nvPr/>
        </p:nvSpPr>
        <p:spPr>
          <a:xfrm>
            <a:off x="3638550" y="3143250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語意</a:t>
            </a:r>
          </a:p>
        </p:txBody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4C1CE6DA-67FE-419A-9D35-5FFB9E8FBFE6}"/>
              </a:ext>
            </a:extLst>
          </p:cNvPr>
          <p:cNvSpPr>
            <a:spLocks noGrp="1"/>
          </p:cNvSpPr>
          <p:nvPr/>
        </p:nvSpPr>
        <p:spPr>
          <a:xfrm>
            <a:off x="2428875" y="3343275"/>
            <a:ext cx="1209675" cy="9525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B63C99-3846-409F-9A9A-E71E11B8FB37}"/>
              </a:ext>
            </a:extLst>
          </p:cNvPr>
          <p:cNvSpPr>
            <a:spLocks noGrp="1"/>
          </p:cNvSpPr>
          <p:nvPr/>
        </p:nvSpPr>
        <p:spPr>
          <a:xfrm>
            <a:off x="1000125" y="4238625"/>
            <a:ext cx="407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弱點：背景偏差、遮擋、視角改變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524AFC6-E460-45AE-A9A0-A225BA0F0624}"/>
              </a:ext>
            </a:extLst>
          </p:cNvPr>
          <p:cNvSpPr>
            <a:spLocks noGrp="1"/>
          </p:cNvSpPr>
          <p:nvPr/>
        </p:nvSpPr>
        <p:spPr>
          <a:xfrm>
            <a:off x="6724650" y="1695450"/>
            <a:ext cx="4857750" cy="33147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C77907-16F6-4F59-9AC1-6389A237FBE2}"/>
              </a:ext>
            </a:extLst>
          </p:cNvPr>
          <p:cNvSpPr>
            <a:spLocks noGrp="1"/>
          </p:cNvSpPr>
          <p:nvPr/>
        </p:nvSpPr>
        <p:spPr>
          <a:xfrm>
            <a:off x="7048500" y="19621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骨架動態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AAD6AD-A3F3-4F92-9073-13977E87353D}"/>
              </a:ext>
            </a:extLst>
          </p:cNvPr>
          <p:cNvSpPr>
            <a:spLocks noGrp="1"/>
          </p:cNvSpPr>
          <p:nvPr/>
        </p:nvSpPr>
        <p:spPr>
          <a:xfrm>
            <a:off x="7048500" y="24003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關節位置、相對姿態、時間變化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E975700-C66E-4A35-BEC1-F04E69CDF861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BFB7ACA-B005-453E-A941-37A89B2A985C}"/>
              </a:ext>
            </a:extLst>
          </p:cNvPr>
          <p:cNvSpPr>
            <a:spLocks noGrp="1"/>
          </p:cNvSpPr>
          <p:nvPr/>
        </p:nvSpPr>
        <p:spPr>
          <a:xfrm>
            <a:off x="9667875" y="29432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529817B-3B2B-4676-B2F9-E321D02F0ABB}"/>
              </a:ext>
            </a:extLst>
          </p:cNvPr>
          <p:cNvSpPr>
            <a:spLocks noGrp="1"/>
          </p:cNvSpPr>
          <p:nvPr/>
        </p:nvSpPr>
        <p:spPr>
          <a:xfrm>
            <a:off x="9001125" y="34766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530A5FEA-984C-48B4-A6DC-A09C6447326C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46A3D664-97EA-46DE-9F81-E32808C364E6}"/>
              </a:ext>
            </a:extLst>
          </p:cNvPr>
          <p:cNvSpPr>
            <a:spLocks noGrp="1"/>
          </p:cNvSpPr>
          <p:nvPr/>
        </p:nvSpPr>
        <p:spPr>
          <a:xfrm>
            <a:off x="9477375" y="4048125"/>
            <a:ext cx="228600" cy="228600"/>
          </a:xfrm>
          <a:prstGeom prst="ellipse">
            <a:avLst/>
          </a:prstGeom>
          <a:solidFill>
            <a:srgbClr val="D9EEE8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FF92DC07-2593-4527-A440-841C915A6399}"/>
              </a:ext>
            </a:extLst>
          </p:cNvPr>
          <p:cNvSpPr>
            <a:spLocks noGrp="1"/>
          </p:cNvSpPr>
          <p:nvPr/>
        </p:nvSpPr>
        <p:spPr>
          <a:xfrm>
            <a:off x="8562975" y="3057525"/>
            <a:ext cx="1104900" cy="9525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F3034972-EFA9-468F-9309-5E5B168161C1}"/>
              </a:ext>
            </a:extLst>
          </p:cNvPr>
          <p:cNvSpPr>
            <a:spLocks noGrp="1"/>
          </p:cNvSpPr>
          <p:nvPr/>
        </p:nvSpPr>
        <p:spPr>
          <a:xfrm>
            <a:off x="8562975" y="3057525"/>
            <a:ext cx="438150" cy="5334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4D1436B1-4590-4F10-93AE-0E545B8F0DBC}"/>
              </a:ext>
            </a:extLst>
          </p:cNvPr>
          <p:cNvSpPr>
            <a:spLocks noGrp="1"/>
          </p:cNvSpPr>
          <p:nvPr/>
        </p:nvSpPr>
        <p:spPr>
          <a:xfrm>
            <a:off x="9229725" y="3057525"/>
            <a:ext cx="666750" cy="5334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530A83FD-676E-4571-8447-55F59FC4A3E9}"/>
              </a:ext>
            </a:extLst>
          </p:cNvPr>
          <p:cNvSpPr>
            <a:spLocks noGrp="1"/>
          </p:cNvSpPr>
          <p:nvPr/>
        </p:nvSpPr>
        <p:spPr>
          <a:xfrm>
            <a:off x="8639175" y="3705225"/>
            <a:ext cx="476250" cy="4572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1AF754BF-8E97-4A8C-B1D7-73B782D14EC5}"/>
              </a:ext>
            </a:extLst>
          </p:cNvPr>
          <p:cNvSpPr>
            <a:spLocks noGrp="1"/>
          </p:cNvSpPr>
          <p:nvPr/>
        </p:nvSpPr>
        <p:spPr>
          <a:xfrm>
            <a:off x="9115425" y="3705225"/>
            <a:ext cx="476250" cy="457200"/>
          </a:xfrm>
          <a:prstGeom prst="line">
            <a:avLst/>
          </a:prstGeom>
          <a:noFill/>
          <a:ln w="2857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E4E0327-E032-43EA-B635-1588E2EB61C1}"/>
              </a:ext>
            </a:extLst>
          </p:cNvPr>
          <p:cNvSpPr>
            <a:spLocks noGrp="1"/>
          </p:cNvSpPr>
          <p:nvPr/>
        </p:nvSpPr>
        <p:spPr>
          <a:xfrm>
            <a:off x="7115175" y="4438650"/>
            <a:ext cx="407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弱點：偵測漏失、遠景、小人物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2B7F8F8-428A-4183-8B10-711F9FFFB388}"/>
              </a:ext>
            </a:extLst>
          </p:cNvPr>
          <p:cNvSpPr>
            <a:spLocks noGrp="1"/>
          </p:cNvSpPr>
          <p:nvPr/>
        </p:nvSpPr>
        <p:spPr>
          <a:xfrm>
            <a:off x="1676400" y="5314950"/>
            <a:ext cx="8839200" cy="781050"/>
          </a:xfrm>
          <a:prstGeom prst="roundRect">
            <a:avLst>
              <a:gd name="adj" fmla="val 9756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C13D024-C370-46DF-B540-D3BB01693B6D}"/>
              </a:ext>
            </a:extLst>
          </p:cNvPr>
          <p:cNvSpPr>
            <a:spLocks noGrp="1"/>
          </p:cNvSpPr>
          <p:nvPr/>
        </p:nvSpPr>
        <p:spPr>
          <a:xfrm>
            <a:off x="1676400" y="5314950"/>
            <a:ext cx="66675" cy="7810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AEF835-6996-404B-A7D1-A2DCD1015DD7}"/>
              </a:ext>
            </a:extLst>
          </p:cNvPr>
          <p:cNvSpPr>
            <a:spLocks noGrp="1"/>
          </p:cNvSpPr>
          <p:nvPr/>
        </p:nvSpPr>
        <p:spPr>
          <a:xfrm>
            <a:off x="1866900" y="5448300"/>
            <a:ext cx="8515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研究假設：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讓模型依片段情境決定「此刻更相信哪一種證據」，會比固定相加更有效。</a:t>
            </a:r>
          </a:p>
        </p:txBody>
      </p:sp>
      <p:sp>
        <p:nvSpPr>
          <p:cNvPr id="31" name="直線接點 30">
            <a:extLst>
              <a:ext uri="{FF2B5EF4-FFF2-40B4-BE49-F238E27FC236}">
                <a16:creationId xmlns:a16="http://schemas.microsoft.com/office/drawing/2014/main" id="{B7FDD672-610A-4959-8E5F-0FD573AABA40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F512BC-1D97-4C14-9B04-DE09FFB26AA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來源：本研究概念整理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2DC48D7-81ED-4680-96E2-1C437D8B70B4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34097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E7F0B36-23A5-49C8-BBBF-B16E1DBDFAD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章｜研究問題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941E9E-9FB5-4782-A1D3-C62390510649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三個研究問題，對應三層驗證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903D7125-4B68-4AE0-A52F-BB36CF72E96B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957328-70A7-42E9-BF98-3F535AA24F59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3452CE4-DFD0-41F1-934B-7FB8CF8AA3FD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109347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9A65BDF-F4E0-467A-A1ED-ACBDEFBCE974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1276350" cy="1133475"/>
          </a:xfrm>
          <a:prstGeom prst="roundRect">
            <a:avLst>
              <a:gd name="adj" fmla="val 6723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C9969A-6CFE-4183-843A-2057F3F35CB9}"/>
              </a:ext>
            </a:extLst>
          </p:cNvPr>
          <p:cNvSpPr>
            <a:spLocks noGrp="1"/>
          </p:cNvSpPr>
          <p:nvPr/>
        </p:nvSpPr>
        <p:spPr>
          <a:xfrm>
            <a:off x="628650" y="2047875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1DE707-2004-43AF-9B97-3E0C0A0AB46F}"/>
              </a:ext>
            </a:extLst>
          </p:cNvPr>
          <p:cNvSpPr>
            <a:spLocks noGrp="1"/>
          </p:cNvSpPr>
          <p:nvPr/>
        </p:nvSpPr>
        <p:spPr>
          <a:xfrm>
            <a:off x="2209800" y="18954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融合是否真的有價值？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4BE62F-6C0F-4FC6-A9F1-4F22941FE7A9}"/>
              </a:ext>
            </a:extLst>
          </p:cNvPr>
          <p:cNvSpPr>
            <a:spLocks noGrp="1"/>
          </p:cNvSpPr>
          <p:nvPr/>
        </p:nvSpPr>
        <p:spPr>
          <a:xfrm>
            <a:off x="2209800" y="2343150"/>
            <a:ext cx="845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門控融合能否穩定優於單模態與晚期融合？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6770ED-A169-4EB2-99FA-6571015E18C4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09347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A2C22FA-A035-4B17-A29B-E7E0DEE3EE39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276350" cy="1133475"/>
          </a:xfrm>
          <a:prstGeom prst="roundRect">
            <a:avLst>
              <a:gd name="adj" fmla="val 6723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2B037E-FC8A-4C70-B7A1-B6729ACA1BD7}"/>
              </a:ext>
            </a:extLst>
          </p:cNvPr>
          <p:cNvSpPr>
            <a:spLocks noGrp="1"/>
          </p:cNvSpPr>
          <p:nvPr/>
        </p:nvSpPr>
        <p:spPr>
          <a:xfrm>
            <a:off x="628650" y="34290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F8DC3E-F8B2-4D1A-907B-BACD7415F447}"/>
              </a:ext>
            </a:extLst>
          </p:cNvPr>
          <p:cNvSpPr>
            <a:spLocks noGrp="1"/>
          </p:cNvSpPr>
          <p:nvPr/>
        </p:nvSpPr>
        <p:spPr>
          <a:xfrm>
            <a:off x="2209800" y="32766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骨幹選擇是否影響結論？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C8160E-1289-45EB-88EB-0AF8EEA6D5FE}"/>
              </a:ext>
            </a:extLst>
          </p:cNvPr>
          <p:cNvSpPr>
            <a:spLocks noGrp="1"/>
          </p:cNvSpPr>
          <p:nvPr/>
        </p:nvSpPr>
        <p:spPr>
          <a:xfrm>
            <a:off x="2209800" y="3724275"/>
            <a:ext cx="845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四種視覺語言骨幹、兩個資料集是否一致？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EA45346-2295-41D7-90F4-21F086B7469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109347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D0E34E8-8FC1-4A2D-B610-545A2F159A81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1276350" cy="1133475"/>
          </a:xfrm>
          <a:prstGeom prst="roundRect">
            <a:avLst>
              <a:gd name="adj" fmla="val 672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692AEF-F2F7-413F-899C-A25C8D297A9B}"/>
              </a:ext>
            </a:extLst>
          </p:cNvPr>
          <p:cNvSpPr>
            <a:spLocks noGrp="1"/>
          </p:cNvSpPr>
          <p:nvPr/>
        </p:nvSpPr>
        <p:spPr>
          <a:xfrm>
            <a:off x="628650" y="4810125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RQ3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2EF3FB-5C58-4A2A-B765-C20791DE365E}"/>
              </a:ext>
            </a:extLst>
          </p:cNvPr>
          <p:cNvSpPr>
            <a:spLocks noGrp="1"/>
          </p:cNvSpPr>
          <p:nvPr/>
        </p:nvSpPr>
        <p:spPr>
          <a:xfrm>
            <a:off x="2209800" y="46577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分布偏移時如何適應？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CCCC4F-5EB4-4F2C-9220-146C00188C96}"/>
              </a:ext>
            </a:extLst>
          </p:cNvPr>
          <p:cNvSpPr>
            <a:spLocks noGrp="1"/>
          </p:cNvSpPr>
          <p:nvPr/>
        </p:nvSpPr>
        <p:spPr>
          <a:xfrm>
            <a:off x="2209800" y="5105400"/>
            <a:ext cx="845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凍結架構下，若僅適應融合頭 </a:t>
            </a:r>
            <a:r>
              <a:rPr lang="en-US" altLang="zh-TW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3 </a:t>
            </a: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 </a:t>
            </a:r>
            <a:r>
              <a:rPr lang="en-US" altLang="zh-TW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LayerNorm</a:t>
            </a: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，傳統 </a:t>
            </a:r>
            <a:r>
              <a:rPr lang="en-US" altLang="zh-TW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TTA </a:t>
            </a: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是否有效？替代策略是什麼？</a:t>
            </a:r>
            <a:endParaRPr sz="1350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AC0FA6-7CAB-44AB-AFD8-B3E4C7603999}"/>
              </a:ext>
            </a:extLst>
          </p:cNvPr>
          <p:cNvSpPr>
            <a:spLocks noGrp="1"/>
          </p:cNvSpPr>
          <p:nvPr/>
        </p:nvSpPr>
        <p:spPr>
          <a:xfrm>
            <a:off x="2266950" y="5953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方法價值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8F56BB-842D-43EE-A233-715EB283DAC8}"/>
              </a:ext>
            </a:extLst>
          </p:cNvPr>
          <p:cNvSpPr>
            <a:spLocks noGrp="1"/>
          </p:cNvSpPr>
          <p:nvPr/>
        </p:nvSpPr>
        <p:spPr>
          <a:xfrm>
            <a:off x="4048125" y="59055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444C535-FC6D-4CC7-94B1-8062BD25FC31}"/>
              </a:ext>
            </a:extLst>
          </p:cNvPr>
          <p:cNvSpPr>
            <a:spLocks noGrp="1"/>
          </p:cNvSpPr>
          <p:nvPr/>
        </p:nvSpPr>
        <p:spPr>
          <a:xfrm>
            <a:off x="4972050" y="5953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泛化邊界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E66B07-3A1E-44E1-B27F-925AF9DC424C}"/>
              </a:ext>
            </a:extLst>
          </p:cNvPr>
          <p:cNvSpPr>
            <a:spLocks noGrp="1"/>
          </p:cNvSpPr>
          <p:nvPr/>
        </p:nvSpPr>
        <p:spPr>
          <a:xfrm>
            <a:off x="6753225" y="59055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11ECA1-CC23-4632-A3A3-C4A68A487CD8}"/>
              </a:ext>
            </a:extLst>
          </p:cNvPr>
          <p:cNvSpPr>
            <a:spLocks noGrp="1"/>
          </p:cNvSpPr>
          <p:nvPr/>
        </p:nvSpPr>
        <p:spPr>
          <a:xfrm>
            <a:off x="7677150" y="5953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部署穩健性</a:t>
            </a:r>
          </a:p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DC597376-8DC4-4645-9551-EE97F10D95A1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A6E261-7C7D-46C7-A7FA-0E3A69FF421A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來源：本研究研究問題設計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5A2224-D231-435A-9833-193E2BC259BF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2027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342C9ED-4A6B-4DF4-A185-50DB75B2A64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1 章｜研究貢獻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8C6824-6346-47D9-887A-860150A4D581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本研究的四項貢獻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5A0FD76-BD77-463B-9606-FA7906BC309B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5B97E1-A2A5-421D-801C-60A8B889859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C34B67D-2E7C-4392-B9A2-2C4839817FC5}"/>
              </a:ext>
            </a:extLst>
          </p:cNvPr>
          <p:cNvSpPr>
            <a:spLocks noGrp="1"/>
          </p:cNvSpPr>
          <p:nvPr/>
        </p:nvSpPr>
        <p:spPr>
          <a:xfrm>
            <a:off x="628650" y="1743075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F37F644-0866-451E-B6DE-1629BCB09187}"/>
              </a:ext>
            </a:extLst>
          </p:cNvPr>
          <p:cNvSpPr>
            <a:spLocks noGrp="1"/>
          </p:cNvSpPr>
          <p:nvPr/>
        </p:nvSpPr>
        <p:spPr>
          <a:xfrm>
            <a:off x="857250" y="19716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0151EC-9F4B-457E-8672-19A2F5FF245A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088233-175D-4D3F-8AA2-B2AAA6E0BACD}"/>
              </a:ext>
            </a:extLst>
          </p:cNvPr>
          <p:cNvSpPr>
            <a:spLocks noGrp="1"/>
          </p:cNvSpPr>
          <p:nvPr/>
        </p:nvSpPr>
        <p:spPr>
          <a:xfrm>
            <a:off x="1466850" y="1952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雙模態架構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BB0844-91F7-4DFE-87BF-03F3902CCB22}"/>
              </a:ext>
            </a:extLst>
          </p:cNvPr>
          <p:cNvSpPr>
            <a:spLocks noGrp="1"/>
          </p:cNvSpPr>
          <p:nvPr/>
        </p:nvSpPr>
        <p:spPr>
          <a:xfrm>
            <a:off x="1466850" y="2409825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VLM 視覺特徵＋CTR-GCN 骨架特徵，以片段門控進行融合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ABF7D9-8365-472E-80D3-55C0AF99AD33}"/>
              </a:ext>
            </a:extLst>
          </p:cNvPr>
          <p:cNvSpPr>
            <a:spLocks noGrp="1"/>
          </p:cNvSpPr>
          <p:nvPr/>
        </p:nvSpPr>
        <p:spPr>
          <a:xfrm>
            <a:off x="6134100" y="1743075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7EE5641-F8CD-439E-B544-79F288E0E9FC}"/>
              </a:ext>
            </a:extLst>
          </p:cNvPr>
          <p:cNvSpPr>
            <a:spLocks noGrp="1"/>
          </p:cNvSpPr>
          <p:nvPr/>
        </p:nvSpPr>
        <p:spPr>
          <a:xfrm>
            <a:off x="6362700" y="19716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1F0AC-0C59-4355-A205-BF510353FCBA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602CB2-09CA-4421-BF68-AC6EC7D2D535}"/>
              </a:ext>
            </a:extLst>
          </p:cNvPr>
          <p:cNvSpPr>
            <a:spLocks noGrp="1"/>
          </p:cNvSpPr>
          <p:nvPr/>
        </p:nvSpPr>
        <p:spPr>
          <a:xfrm>
            <a:off x="6972300" y="1952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多骨幹比較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B9C42B-8E21-4966-9DF4-65DFAA7293DF}"/>
              </a:ext>
            </a:extLst>
          </p:cNvPr>
          <p:cNvSpPr>
            <a:spLocks noGrp="1"/>
          </p:cNvSpPr>
          <p:nvPr/>
        </p:nvSpPr>
        <p:spPr>
          <a:xfrm>
            <a:off x="6972300" y="2409825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同一訓練框架比較 CLIP、SigLIP2 Base、SO400M 與 Giant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17E7BE5-249C-49A3-9E19-083BBA2C2EB4}"/>
              </a:ext>
            </a:extLst>
          </p:cNvPr>
          <p:cNvSpPr>
            <a:spLocks noGrp="1"/>
          </p:cNvSpPr>
          <p:nvPr/>
        </p:nvSpPr>
        <p:spPr>
          <a:xfrm>
            <a:off x="628650" y="3695700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059E7E1-65C0-4B58-9D0E-AC0A27B214B4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E2A9D7-0375-4D8E-9117-AB8A84B1859B}"/>
              </a:ext>
            </a:extLst>
          </p:cNvPr>
          <p:cNvSpPr>
            <a:spLocks noGrp="1"/>
          </p:cNvSpPr>
          <p:nvPr/>
        </p:nvSpPr>
        <p:spPr>
          <a:xfrm>
            <a:off x="857250" y="39338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1950AB-53D1-4AC1-9FCB-F343ECA80BFC}"/>
              </a:ext>
            </a:extLst>
          </p:cNvPr>
          <p:cNvSpPr>
            <a:spLocks noGrp="1"/>
          </p:cNvSpPr>
          <p:nvPr/>
        </p:nvSpPr>
        <p:spPr>
          <a:xfrm>
            <a:off x="1466850" y="3905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LayerNorm TTA 診斷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528997-701D-4DD7-8177-B51858B4F0CA}"/>
              </a:ext>
            </a:extLst>
          </p:cNvPr>
          <p:cNvSpPr>
            <a:spLocks noGrp="1"/>
          </p:cNvSpPr>
          <p:nvPr/>
        </p:nvSpPr>
        <p:spPr>
          <a:xfrm>
            <a:off x="1466850" y="4362450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實證 TENT／SAR 在此設定幾乎不改變結果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2B26E93-850D-4495-9701-FDBD14D15FE1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5257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4B27D85C-87B0-4761-B88C-72509D6E3A16}"/>
              </a:ext>
            </a:extLst>
          </p:cNvPr>
          <p:cNvSpPr>
            <a:spLocks noGrp="1"/>
          </p:cNvSpPr>
          <p:nvPr/>
        </p:nvSpPr>
        <p:spPr>
          <a:xfrm>
            <a:off x="6362700" y="39243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AC8AD6-CAF7-4748-B49F-A0805DB1D417}"/>
              </a:ext>
            </a:extLst>
          </p:cNvPr>
          <p:cNvSpPr>
            <a:spLocks noGrp="1"/>
          </p:cNvSpPr>
          <p:nvPr/>
        </p:nvSpPr>
        <p:spPr>
          <a:xfrm>
            <a:off x="6362700" y="39338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64E164-F780-420F-A379-FFB6739DE8DA}"/>
              </a:ext>
            </a:extLst>
          </p:cNvPr>
          <p:cNvSpPr>
            <a:spLocks noGrp="1"/>
          </p:cNvSpPr>
          <p:nvPr/>
        </p:nvSpPr>
        <p:spPr>
          <a:xfrm>
            <a:off x="6972300" y="3905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無梯度穩健化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6DFA06-21E8-4BA9-8D51-7890CAD61832}"/>
              </a:ext>
            </a:extLst>
          </p:cNvPr>
          <p:cNvSpPr>
            <a:spLocks noGrp="1"/>
          </p:cNvSpPr>
          <p:nvPr/>
        </p:nvSpPr>
        <p:spPr>
          <a:xfrm>
            <a:off x="6972300" y="4362450"/>
            <a:ext cx="400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以視覺串流 solo 分數離散度偵測判別力崩潰，配合骨架位移安全閘，測試時重新分配模態信任（零參數更新、無標籤）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AEE687A2-B112-4705-A78C-0C586CBEAB2E}"/>
              </a:ext>
            </a:extLst>
          </p:cNvPr>
          <p:cNvSpPr>
            <a:spLocks noGrp="1"/>
          </p:cNvSpPr>
          <p:nvPr/>
        </p:nvSpPr>
        <p:spPr>
          <a:xfrm>
            <a:off x="1905000" y="5715000"/>
            <a:ext cx="8382000" cy="552450"/>
          </a:xfrm>
          <a:prstGeom prst="roundRect">
            <a:avLst>
              <a:gd name="adj" fmla="val 13793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143FEF-403D-466E-BA21-6474D344B43F}"/>
              </a:ext>
            </a:extLst>
          </p:cNvPr>
          <p:cNvSpPr>
            <a:spLocks noGrp="1"/>
          </p:cNvSpPr>
          <p:nvPr/>
        </p:nvSpPr>
        <p:spPr>
          <a:xfrm>
            <a:off x="1905000" y="5715000"/>
            <a:ext cx="66675" cy="5524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C47E81-83DB-4F4D-87C5-CC31E3D6562F}"/>
              </a:ext>
            </a:extLst>
          </p:cNvPr>
          <p:cNvSpPr>
            <a:spLocks noGrp="1"/>
          </p:cNvSpPr>
          <p:nvPr/>
        </p:nvSpPr>
        <p:spPr>
          <a:xfrm>
            <a:off x="2095500" y="5848350"/>
            <a:ext cx="805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實驗定位：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重點不只追求單一最高分，而是釐清何時有效、何時失效，以及原因。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D1F3FC65-9B80-4D0E-9D6C-D7261091A023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A7045D-6739-4CE4-BEB6-1D20951C358F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來源：本研究整理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6952BA-17DC-4D90-A104-88ED68E74C0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47256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AADB4CB-CA9B-4E33-8B31-1312C44E2C94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2 章｜文獻探討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5C1928-95D1-4DB4-BC12-0A498F7A149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從單一路徑，到多模態與測試時穩健化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70666BB-5DBA-4A41-98B1-51113830003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0BAD4E-72F5-4776-A946-3380F2A4591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6585B5D6-8F6D-4B2B-9A72-E35263E6777E}"/>
              </a:ext>
            </a:extLst>
          </p:cNvPr>
          <p:cNvSpPr>
            <a:spLocks noGrp="1"/>
          </p:cNvSpPr>
          <p:nvPr/>
        </p:nvSpPr>
        <p:spPr>
          <a:xfrm>
            <a:off x="1200150" y="3219450"/>
            <a:ext cx="9791700" cy="9525"/>
          </a:xfrm>
          <a:prstGeom prst="line">
            <a:avLst/>
          </a:prstGeom>
          <a:noFill/>
          <a:ln w="476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BBD641B-49B8-4C66-B309-7B2EED5E8FE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457200" cy="457200"/>
          </a:xfrm>
          <a:prstGeom prst="ellipse">
            <a:avLst/>
          </a:prstGeom>
          <a:solidFill>
            <a:srgbClr val="8A98A5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14DD15-2C44-40BF-914C-D2024DF6856A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手工特徵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0893B-A0DF-4D1E-91E7-6C4227F362B3}"/>
              </a:ext>
            </a:extLst>
          </p:cNvPr>
          <p:cNvSpPr>
            <a:spLocks noGrp="1"/>
          </p:cNvSpPr>
          <p:nvPr/>
        </p:nvSpPr>
        <p:spPr>
          <a:xfrm>
            <a:off x="419100" y="40671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光流／軌跡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BDFB5B0-837C-44C8-8FF3-3B070A777312}"/>
              </a:ext>
            </a:extLst>
          </p:cNvPr>
          <p:cNvSpPr>
            <a:spLocks noGrp="1"/>
          </p:cNvSpPr>
          <p:nvPr/>
        </p:nvSpPr>
        <p:spPr>
          <a:xfrm>
            <a:off x="3543300" y="2990850"/>
            <a:ext cx="457200" cy="457200"/>
          </a:xfrm>
          <a:prstGeom prst="ellipse">
            <a:avLst/>
          </a:prstGeom>
          <a:solidFill>
            <a:srgbClr val="1F4E79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9A4C5C-A73F-43E4-97DF-6BC1F7175288}"/>
              </a:ext>
            </a:extLst>
          </p:cNvPr>
          <p:cNvSpPr>
            <a:spLocks noGrp="1"/>
          </p:cNvSpPr>
          <p:nvPr/>
        </p:nvSpPr>
        <p:spPr>
          <a:xfrm>
            <a:off x="2895600" y="20383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深度視覺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DE9FE2-BC5B-4ACC-B09B-C060A80F14D7}"/>
              </a:ext>
            </a:extLst>
          </p:cNvPr>
          <p:cNvSpPr>
            <a:spLocks noGrp="1"/>
          </p:cNvSpPr>
          <p:nvPr/>
        </p:nvSpPr>
        <p:spPr>
          <a:xfrm>
            <a:off x="2819400" y="23907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C3D／I3D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FAAB02F-473C-4163-8916-B006AA92B642}"/>
              </a:ext>
            </a:extLst>
          </p:cNvPr>
          <p:cNvSpPr>
            <a:spLocks noGrp="1"/>
          </p:cNvSpPr>
          <p:nvPr/>
        </p:nvSpPr>
        <p:spPr>
          <a:xfrm>
            <a:off x="5943600" y="2990850"/>
            <a:ext cx="457200" cy="457200"/>
          </a:xfrm>
          <a:prstGeom prst="ellipse">
            <a:avLst/>
          </a:prstGeom>
          <a:solidFill>
            <a:srgbClr val="1F4E79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F301BE-1860-4AF6-A9E4-25D8A35BB1F4}"/>
              </a:ext>
            </a:extLst>
          </p:cNvPr>
          <p:cNvSpPr>
            <a:spLocks noGrp="1"/>
          </p:cNvSpPr>
          <p:nvPr/>
        </p:nvSpPr>
        <p:spPr>
          <a:xfrm>
            <a:off x="5295900" y="37147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弱監督 MIL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634BB8-614C-445E-AB6E-770AE7E7F283}"/>
              </a:ext>
            </a:extLst>
          </p:cNvPr>
          <p:cNvSpPr>
            <a:spLocks noGrp="1"/>
          </p:cNvSpPr>
          <p:nvPr/>
        </p:nvSpPr>
        <p:spPr>
          <a:xfrm>
            <a:off x="5219700" y="40671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Top-k／排序損失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67F5C8A3-BE2E-4D9A-8F50-FA2CA568CB4B}"/>
              </a:ext>
            </a:extLst>
          </p:cNvPr>
          <p:cNvSpPr>
            <a:spLocks noGrp="1"/>
          </p:cNvSpPr>
          <p:nvPr/>
        </p:nvSpPr>
        <p:spPr>
          <a:xfrm>
            <a:off x="8343900" y="2990850"/>
            <a:ext cx="457200" cy="457200"/>
          </a:xfrm>
          <a:prstGeom prst="ellipse">
            <a:avLst/>
          </a:prstGeom>
          <a:solidFill>
            <a:srgbClr val="2B7A78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69D7A9-B667-4A8E-BFAA-6D687EBDB369}"/>
              </a:ext>
            </a:extLst>
          </p:cNvPr>
          <p:cNvSpPr>
            <a:spLocks noGrp="1"/>
          </p:cNvSpPr>
          <p:nvPr/>
        </p:nvSpPr>
        <p:spPr>
          <a:xfrm>
            <a:off x="7696200" y="20383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視覺語言模型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151190-EDF5-4C9D-8AC1-5ED494686FD1}"/>
              </a:ext>
            </a:extLst>
          </p:cNvPr>
          <p:cNvSpPr>
            <a:spLocks noGrp="1"/>
          </p:cNvSpPr>
          <p:nvPr/>
        </p:nvSpPr>
        <p:spPr>
          <a:xfrm>
            <a:off x="7620000" y="23907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語意表徵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04AC12E-B01D-471B-9B74-B12696889151}"/>
              </a:ext>
            </a:extLst>
          </p:cNvPr>
          <p:cNvSpPr>
            <a:spLocks noGrp="1"/>
          </p:cNvSpPr>
          <p:nvPr/>
        </p:nvSpPr>
        <p:spPr>
          <a:xfrm>
            <a:off x="10591800" y="2990850"/>
            <a:ext cx="457200" cy="457200"/>
          </a:xfrm>
          <a:prstGeom prst="ellipse">
            <a:avLst/>
          </a:prstGeom>
          <a:solidFill>
            <a:srgbClr val="D97841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EAEE32-7B5E-4BEE-9FEE-FEC4B7F7A106}"/>
              </a:ext>
            </a:extLst>
          </p:cNvPr>
          <p:cNvSpPr>
            <a:spLocks noGrp="1"/>
          </p:cNvSpPr>
          <p:nvPr/>
        </p:nvSpPr>
        <p:spPr>
          <a:xfrm>
            <a:off x="9944100" y="37147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本研究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786492-543A-4E76-846D-412CEE5CE58B}"/>
              </a:ext>
            </a:extLst>
          </p:cNvPr>
          <p:cNvSpPr>
            <a:spLocks noGrp="1"/>
          </p:cNvSpPr>
          <p:nvPr/>
        </p:nvSpPr>
        <p:spPr>
          <a:xfrm>
            <a:off x="9867900" y="406717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骨架＋門控＋TTA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C543026A-71F7-44F1-92FF-CB1E8E1B2CD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5238750" cy="895350"/>
          </a:xfrm>
          <a:prstGeom prst="roundRect">
            <a:avLst>
              <a:gd name="adj" fmla="val 8511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7E26CF-065C-4748-A190-225AC05AF20C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66675" cy="8953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6FBF27-F73F-4A9C-A094-64E6E1B7DAD7}"/>
              </a:ext>
            </a:extLst>
          </p:cNvPr>
          <p:cNvSpPr>
            <a:spLocks noGrp="1"/>
          </p:cNvSpPr>
          <p:nvPr/>
        </p:nvSpPr>
        <p:spPr>
          <a:xfrm>
            <a:off x="895350" y="5038725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研究缺口 1：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既有弱監督方法多倚賴單一視覺串流；骨架與大規模 VLM 的融合比較仍不足。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1DC8F95-C0CF-4B0E-BB4F-FFBE9363AB59}"/>
              </a:ext>
            </a:extLst>
          </p:cNvPr>
          <p:cNvSpPr>
            <a:spLocks noGrp="1"/>
          </p:cNvSpPr>
          <p:nvPr/>
        </p:nvSpPr>
        <p:spPr>
          <a:xfrm>
            <a:off x="6248400" y="4905375"/>
            <a:ext cx="5238750" cy="895350"/>
          </a:xfrm>
          <a:prstGeom prst="roundRect">
            <a:avLst>
              <a:gd name="adj" fmla="val 85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8C371C-4F0F-4033-B826-5B7DA64E1890}"/>
              </a:ext>
            </a:extLst>
          </p:cNvPr>
          <p:cNvSpPr>
            <a:spLocks noGrp="1"/>
          </p:cNvSpPr>
          <p:nvPr/>
        </p:nvSpPr>
        <p:spPr>
          <a:xfrm>
            <a:off x="6248400" y="4905375"/>
            <a:ext cx="66675" cy="8953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8E76DE0-62C1-4C90-8F77-D0358E4AEF93}"/>
              </a:ext>
            </a:extLst>
          </p:cNvPr>
          <p:cNvSpPr>
            <a:spLocks noGrp="1"/>
          </p:cNvSpPr>
          <p:nvPr/>
        </p:nvSpPr>
        <p:spPr>
          <a:xfrm>
            <a:off x="6438900" y="5038725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研究缺口 </a:t>
            </a:r>
            <a:r>
              <a:rPr lang="en-US" altLang="zh-TW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lang="zh-TW" altLang="en-US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TTA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常假設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BatchNorm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可更新；凍結架構下若僅適應融合頭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3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個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LayerNorm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，機制可能失效。</a:t>
            </a:r>
            <a:endParaRPr sz="135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74C02DF0-0F46-4CEF-AEEC-955390665266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41DA9F-39C9-4137-AE7A-CBB75B7A6854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2 章文獻回顧；Sultani et al. (2018)、TENT、SAR 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A3E6AA-AC9C-447A-8425-BD2693800604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9642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2767E20-2477-4D1D-BB30-014E50AF2A8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章｜研究方法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6244DC-5B5C-415A-B577-2B00195B6453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整體架構：雙流特徵、門控融合、MIL 分數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0886A2D-FB95-48FA-8E49-6EC43D71756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8FB807-827B-4F68-8549-97B5FEBC83C5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1675" y="1628775"/>
            <a:ext cx="9988651" cy="285750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DDA36BD-CA70-4D3D-AAED-9499515842F0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6EC730-BA92-48BE-B650-FD8982780115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① 片段取樣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8DCE0C4-6EEF-4C37-B2E6-B9AA691A2130}"/>
              </a:ext>
            </a:extLst>
          </p:cNvPr>
          <p:cNvSpPr>
            <a:spLocks noGrp="1"/>
          </p:cNvSpPr>
          <p:nvPr/>
        </p:nvSpPr>
        <p:spPr>
          <a:xfrm>
            <a:off x="291465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7BD5B0-D47C-4677-89A8-3BFB82FBAE60}"/>
              </a:ext>
            </a:extLst>
          </p:cNvPr>
          <p:cNvSpPr>
            <a:spLocks noGrp="1"/>
          </p:cNvSpPr>
          <p:nvPr/>
        </p:nvSpPr>
        <p:spPr>
          <a:xfrm>
            <a:off x="291465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② 視覺編碼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8E3C18-1926-41D7-A32C-DC809ACD84DB}"/>
              </a:ext>
            </a:extLst>
          </p:cNvPr>
          <p:cNvSpPr>
            <a:spLocks noGrp="1"/>
          </p:cNvSpPr>
          <p:nvPr/>
        </p:nvSpPr>
        <p:spPr>
          <a:xfrm>
            <a:off x="499110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F3A5CB-4C71-4A35-BC32-1F7B87924A1C}"/>
              </a:ext>
            </a:extLst>
          </p:cNvPr>
          <p:cNvSpPr>
            <a:spLocks noGrp="1"/>
          </p:cNvSpPr>
          <p:nvPr/>
        </p:nvSpPr>
        <p:spPr>
          <a:xfrm>
            <a:off x="499110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③ 骨架編碼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0537AA8-93D2-4C3A-96E0-F5A1F26E88C9}"/>
              </a:ext>
            </a:extLst>
          </p:cNvPr>
          <p:cNvSpPr>
            <a:spLocks noGrp="1"/>
          </p:cNvSpPr>
          <p:nvPr/>
        </p:nvSpPr>
        <p:spPr>
          <a:xfrm>
            <a:off x="706755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D52D8-7737-4386-8267-CF987178B900}"/>
              </a:ext>
            </a:extLst>
          </p:cNvPr>
          <p:cNvSpPr>
            <a:spLocks noGrp="1"/>
          </p:cNvSpPr>
          <p:nvPr/>
        </p:nvSpPr>
        <p:spPr>
          <a:xfrm>
            <a:off x="706755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④ 門控融合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F9ABEE2-473F-49AC-BB46-53C80B02021F}"/>
              </a:ext>
            </a:extLst>
          </p:cNvPr>
          <p:cNvSpPr>
            <a:spLocks noGrp="1"/>
          </p:cNvSpPr>
          <p:nvPr/>
        </p:nvSpPr>
        <p:spPr>
          <a:xfrm>
            <a:off x="9144000" y="4810125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CD549F-3EA7-4B65-BD83-64BFA067C6FC}"/>
              </a:ext>
            </a:extLst>
          </p:cNvPr>
          <p:cNvSpPr>
            <a:spLocks noGrp="1"/>
          </p:cNvSpPr>
          <p:nvPr/>
        </p:nvSpPr>
        <p:spPr>
          <a:xfrm>
            <a:off x="9144000" y="48196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⑤ MIL 聚合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4BE88F3-D12D-48DE-B8CC-11A042C8412D}"/>
              </a:ext>
            </a:extLst>
          </p:cNvPr>
          <p:cNvSpPr>
            <a:spLocks noGrp="1"/>
          </p:cNvSpPr>
          <p:nvPr/>
        </p:nvSpPr>
        <p:spPr>
          <a:xfrm>
            <a:off x="1752600" y="5372100"/>
            <a:ext cx="8686800" cy="704850"/>
          </a:xfrm>
          <a:prstGeom prst="roundRect">
            <a:avLst>
              <a:gd name="adj" fmla="val 108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336675-0A4A-4306-8C0A-360F598ADA56}"/>
              </a:ext>
            </a:extLst>
          </p:cNvPr>
          <p:cNvSpPr>
            <a:spLocks noGrp="1"/>
          </p:cNvSpPr>
          <p:nvPr/>
        </p:nvSpPr>
        <p:spPr>
          <a:xfrm>
            <a:off x="1752600" y="5372100"/>
            <a:ext cx="66675" cy="7048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6EEDEC-4183-4FD5-B003-7347F4F1B9EF}"/>
              </a:ext>
            </a:extLst>
          </p:cNvPr>
          <p:cNvSpPr>
            <a:spLocks noGrp="1"/>
          </p:cNvSpPr>
          <p:nvPr/>
        </p:nvSpPr>
        <p:spPr>
          <a:xfrm>
            <a:off x="1943100" y="5505450"/>
            <a:ext cx="8362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設計原則：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凍結大型特徵抽取器，只訓練輕量融合頭；把比較焦點放在表徵與融合。</a:t>
            </a:r>
          </a:p>
        </p:txBody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FE61DDAD-D341-4201-92E9-33A616FD5497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4760D4-83BE-4E8B-8012-E260743073D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來源：本論文圖 3.1（整體研究架構）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815C59-6088-489B-A9A7-D22FB5E9408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4981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495A94E-AEF3-47C7-99A6-FADD1494308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章｜骨架分支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14C337-87F3-4F1B-B8A8-446CCA9695B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骨架分支：把人物姿態轉成可比較的動作表徵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8B45A03-12AB-4E8D-8432-AE693679C901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D2E1C-F10B-420A-9D95-DB5B4B45760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3"/>
          <a:srcRect l="14690" t="14872" r="14690"/>
          <a:stretch>
            <a:fillRect/>
          </a:stretch>
        </p:blipFill>
        <p:spPr>
          <a:xfrm>
            <a:off x="609600" y="2250342"/>
            <a:ext cx="5276850" cy="3121757"/>
          </a:xfrm>
          <a:prstGeom prst="roundRect">
            <a:avLst>
              <a:gd name="adj" fmla="val 3117"/>
            </a:avLst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3AAE052F-7D0D-4161-B6A6-9E5291F5341F}"/>
              </a:ext>
            </a:extLst>
          </p:cNvPr>
          <p:cNvSpPr>
            <a:spLocks noGrp="1"/>
          </p:cNvSpPr>
          <p:nvPr/>
        </p:nvSpPr>
        <p:spPr>
          <a:xfrm>
            <a:off x="6438900" y="1790700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847548-25F3-4C72-B8FE-16A46FA91D0D}"/>
              </a:ext>
            </a:extLst>
          </p:cNvPr>
          <p:cNvSpPr>
            <a:spLocks noGrp="1"/>
          </p:cNvSpPr>
          <p:nvPr/>
        </p:nvSpPr>
        <p:spPr>
          <a:xfrm>
            <a:off x="6438900" y="18002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CCC62B-A0A0-4CED-AB53-D7E92ADA680E}"/>
              </a:ext>
            </a:extLst>
          </p:cNvPr>
          <p:cNvSpPr>
            <a:spLocks noGrp="1"/>
          </p:cNvSpPr>
          <p:nvPr/>
        </p:nvSpPr>
        <p:spPr>
          <a:xfrm>
            <a:off x="7029450" y="17621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RTMPose-m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445C1B-D039-49F1-8DFB-93D335D9CC64}"/>
              </a:ext>
            </a:extLst>
          </p:cNvPr>
          <p:cNvSpPr>
            <a:spLocks noGrp="1"/>
          </p:cNvSpPr>
          <p:nvPr/>
        </p:nvSpPr>
        <p:spPr>
          <a:xfrm>
            <a:off x="7029450" y="21240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YOLOX-m 定位人物，RTMPose-m 估計 17 關節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D49A3DCC-9325-4F60-99DA-EF1C35B8C252}"/>
              </a:ext>
            </a:extLst>
          </p:cNvPr>
          <p:cNvSpPr>
            <a:spLocks noGrp="1"/>
          </p:cNvSpPr>
          <p:nvPr/>
        </p:nvSpPr>
        <p:spPr>
          <a:xfrm>
            <a:off x="6648450" y="2219325"/>
            <a:ext cx="9525" cy="428625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B18DC8F-4A2B-4D8A-8ED4-04AD776CC8C7}"/>
              </a:ext>
            </a:extLst>
          </p:cNvPr>
          <p:cNvSpPr>
            <a:spLocks noGrp="1"/>
          </p:cNvSpPr>
          <p:nvPr/>
        </p:nvSpPr>
        <p:spPr>
          <a:xfrm>
            <a:off x="6438900" y="2705100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07E080-CA6B-400D-BB7F-467A7BC03C0E}"/>
              </a:ext>
            </a:extLst>
          </p:cNvPr>
          <p:cNvSpPr>
            <a:spLocks noGrp="1"/>
          </p:cNvSpPr>
          <p:nvPr/>
        </p:nvSpPr>
        <p:spPr>
          <a:xfrm>
            <a:off x="6438900" y="27146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188A15-EDE3-4A11-8E36-AA90BFCB1847}"/>
              </a:ext>
            </a:extLst>
          </p:cNvPr>
          <p:cNvSpPr>
            <a:spLocks noGrp="1"/>
          </p:cNvSpPr>
          <p:nvPr/>
        </p:nvSpPr>
        <p:spPr>
          <a:xfrm>
            <a:off x="7029450" y="26765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Top-2／正規化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A7299D-8989-419A-9B69-C180E3AE8AB8}"/>
              </a:ext>
            </a:extLst>
          </p:cNvPr>
          <p:cNvSpPr>
            <a:spLocks noGrp="1"/>
          </p:cNvSpPr>
          <p:nvPr/>
        </p:nvSpPr>
        <p:spPr>
          <a:xfrm>
            <a:off x="7029450" y="30384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保留兩人；座標縮放至 [−1, 1]</a:t>
            </a: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8560B752-BB87-4F78-B4DF-19501691F475}"/>
              </a:ext>
            </a:extLst>
          </p:cNvPr>
          <p:cNvSpPr>
            <a:spLocks noGrp="1"/>
          </p:cNvSpPr>
          <p:nvPr/>
        </p:nvSpPr>
        <p:spPr>
          <a:xfrm>
            <a:off x="6648450" y="3133725"/>
            <a:ext cx="9525" cy="428625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1135213-84AE-43F2-8677-76ECB7C79047}"/>
              </a:ext>
            </a:extLst>
          </p:cNvPr>
          <p:cNvSpPr>
            <a:spLocks noGrp="1"/>
          </p:cNvSpPr>
          <p:nvPr/>
        </p:nvSpPr>
        <p:spPr>
          <a:xfrm>
            <a:off x="6438900" y="36195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4B3898-59A0-42E5-AD9A-938C822D0D7D}"/>
              </a:ext>
            </a:extLst>
          </p:cNvPr>
          <p:cNvSpPr>
            <a:spLocks noGrp="1"/>
          </p:cNvSpPr>
          <p:nvPr/>
        </p:nvSpPr>
        <p:spPr>
          <a:xfrm>
            <a:off x="6438900" y="36290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79C75B-F8D1-4C29-A08C-C999E04D60D7}"/>
              </a:ext>
            </a:extLst>
          </p:cNvPr>
          <p:cNvSpPr>
            <a:spLocks noGrp="1"/>
          </p:cNvSpPr>
          <p:nvPr/>
        </p:nvSpPr>
        <p:spPr>
          <a:xfrm>
            <a:off x="7029450" y="35909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CTR-GCN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487FCD-F36E-4302-81C0-708FA3DBC444}"/>
              </a:ext>
            </a:extLst>
          </p:cNvPr>
          <p:cNvSpPr>
            <a:spLocks noGrp="1"/>
          </p:cNvSpPr>
          <p:nvPr/>
        </p:nvSpPr>
        <p:spPr>
          <a:xfrm>
            <a:off x="7029450" y="39528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4-stream 時空關節圖卷積</a:t>
            </a: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35F621CF-FBEB-429B-BB06-E6DC3DFA7000}"/>
              </a:ext>
            </a:extLst>
          </p:cNvPr>
          <p:cNvSpPr>
            <a:spLocks noGrp="1"/>
          </p:cNvSpPr>
          <p:nvPr/>
        </p:nvSpPr>
        <p:spPr>
          <a:xfrm>
            <a:off x="6648450" y="4048125"/>
            <a:ext cx="9525" cy="428625"/>
          </a:xfrm>
          <a:prstGeom prst="line">
            <a:avLst/>
          </a:prstGeom>
          <a:noFill/>
          <a:ln w="19050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48F5A3-3385-48F3-8A8E-5C60E90100FA}"/>
              </a:ext>
            </a:extLst>
          </p:cNvPr>
          <p:cNvSpPr>
            <a:spLocks noGrp="1"/>
          </p:cNvSpPr>
          <p:nvPr/>
        </p:nvSpPr>
        <p:spPr>
          <a:xfrm>
            <a:off x="6438900" y="4533900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46EE84-62B5-4384-B993-20F1E1506A8C}"/>
              </a:ext>
            </a:extLst>
          </p:cNvPr>
          <p:cNvSpPr>
            <a:spLocks noGrp="1"/>
          </p:cNvSpPr>
          <p:nvPr/>
        </p:nvSpPr>
        <p:spPr>
          <a:xfrm>
            <a:off x="6438900" y="45434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DAA4D3-F036-4483-BA3E-1EE1CA428B84}"/>
              </a:ext>
            </a:extLst>
          </p:cNvPr>
          <p:cNvSpPr>
            <a:spLocks noGrp="1"/>
          </p:cNvSpPr>
          <p:nvPr/>
        </p:nvSpPr>
        <p:spPr>
          <a:xfrm>
            <a:off x="7029450" y="45053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256-d 表徵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A05AE9-BF04-41D0-89E6-F100045F2F7E}"/>
              </a:ext>
            </a:extLst>
          </p:cNvPr>
          <p:cNvSpPr>
            <a:spLocks noGrp="1"/>
          </p:cNvSpPr>
          <p:nvPr/>
        </p:nvSpPr>
        <p:spPr>
          <a:xfrm>
            <a:off x="7029450" y="486727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64 影格片段的骨架特徵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C23A5DC-C2D8-4B98-9C5B-02F8E7945805}"/>
              </a:ext>
            </a:extLst>
          </p:cNvPr>
          <p:cNvSpPr>
            <a:spLocks noGrp="1"/>
          </p:cNvSpPr>
          <p:nvPr/>
        </p:nvSpPr>
        <p:spPr>
          <a:xfrm>
            <a:off x="6343650" y="5534025"/>
            <a:ext cx="5029200" cy="609600"/>
          </a:xfrm>
          <a:prstGeom prst="roundRect">
            <a:avLst>
              <a:gd name="adj" fmla="val 125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6D5367-4BF1-4A50-90FC-6A451918390C}"/>
              </a:ext>
            </a:extLst>
          </p:cNvPr>
          <p:cNvSpPr>
            <a:spLocks noGrp="1"/>
          </p:cNvSpPr>
          <p:nvPr/>
        </p:nvSpPr>
        <p:spPr>
          <a:xfrm>
            <a:off x="6343650" y="5534025"/>
            <a:ext cx="66675" cy="6096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E61B57-F227-4BC6-990E-978D13667EB9}"/>
              </a:ext>
            </a:extLst>
          </p:cNvPr>
          <p:cNvSpPr>
            <a:spLocks noGrp="1"/>
          </p:cNvSpPr>
          <p:nvPr/>
        </p:nvSpPr>
        <p:spPr>
          <a:xfrm>
            <a:off x="6534150" y="5667375"/>
            <a:ext cx="4705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互補性：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骨架弱化衣著與背景影響，但品質受人物大小、遮擋與姿態偵測影響。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DD65F442-CADC-4AFA-8B48-3839334466DE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985A2E-9F85-466C-8289-3A3687685CA2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3.2 節；示意影格取自論文實驗資料 XD-Violence（Salt, 2010）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67555A-4BDB-483D-8919-F175A01A8DCF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04015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C3CBCD4-85ED-4636-AA2A-C5A44B1AB58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章｜視覺分支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98C8C6-5E36-43BB-9116-13FD1A9CBFC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四種視覺語言骨幹：同一框架下比較規模與預訓練差異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F56A3B9-55D6-444B-996A-494E6098B05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7F977B-D3BE-4F6D-89F3-D1EBAC77F680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481C2E-4BC4-4975-AA3C-BCD1E4BA1945}"/>
              </a:ext>
            </a:extLst>
          </p:cNvPr>
          <p:cNvSpPr>
            <a:spLocks noGrp="1"/>
          </p:cNvSpPr>
          <p:nvPr/>
        </p:nvSpPr>
        <p:spPr>
          <a:xfrm>
            <a:off x="800100" y="17430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模型規模／表徵維度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D2E76A-F03C-424F-AD26-3208BADC94C2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CLIP ViT-B/16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1383C1D-6268-4D53-868B-003BA42E3807}"/>
              </a:ext>
            </a:extLst>
          </p:cNvPr>
          <p:cNvSpPr>
            <a:spLocks noGrp="1"/>
          </p:cNvSpPr>
          <p:nvPr/>
        </p:nvSpPr>
        <p:spPr>
          <a:xfrm>
            <a:off x="3124200" y="2238375"/>
            <a:ext cx="2011680" cy="257175"/>
          </a:xfrm>
          <a:prstGeom prst="roundRect">
            <a:avLst>
              <a:gd name="adj" fmla="val 29630"/>
            </a:avLst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FE473D-0794-431D-8F79-EED081DC25C1}"/>
              </a:ext>
            </a:extLst>
          </p:cNvPr>
          <p:cNvSpPr>
            <a:spLocks noGrp="1"/>
          </p:cNvSpPr>
          <p:nvPr/>
        </p:nvSpPr>
        <p:spPr>
          <a:xfrm>
            <a:off x="9410700" y="22098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512-d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E29872-706B-4D09-BD55-BC53D4082CF6}"/>
              </a:ext>
            </a:extLst>
          </p:cNvPr>
          <p:cNvSpPr>
            <a:spLocks noGrp="1"/>
          </p:cNvSpPr>
          <p:nvPr/>
        </p:nvSpPr>
        <p:spPr>
          <a:xfrm>
            <a:off x="10515600" y="22098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基準模型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B03E8A-3E73-45AD-A450-C1EA74398CD4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SigLIP2 Base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A424563-E4FA-4917-A3B5-D5871B052BC2}"/>
              </a:ext>
            </a:extLst>
          </p:cNvPr>
          <p:cNvSpPr>
            <a:spLocks noGrp="1"/>
          </p:cNvSpPr>
          <p:nvPr/>
        </p:nvSpPr>
        <p:spPr>
          <a:xfrm>
            <a:off x="3124200" y="3076575"/>
            <a:ext cx="2621280" cy="257175"/>
          </a:xfrm>
          <a:prstGeom prst="roundRect">
            <a:avLst>
              <a:gd name="adj" fmla="val 29630"/>
            </a:avLst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1AA5E0-E37A-44A3-BC45-50C13E280793}"/>
              </a:ext>
            </a:extLst>
          </p:cNvPr>
          <p:cNvSpPr>
            <a:spLocks noGrp="1"/>
          </p:cNvSpPr>
          <p:nvPr/>
        </p:nvSpPr>
        <p:spPr>
          <a:xfrm>
            <a:off x="9410700" y="30480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768-d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CA252-3125-497E-82C3-4BFC46CDCC31}"/>
              </a:ext>
            </a:extLst>
          </p:cNvPr>
          <p:cNvSpPr>
            <a:spLocks noGrp="1"/>
          </p:cNvSpPr>
          <p:nvPr/>
        </p:nvSpPr>
        <p:spPr>
          <a:xfrm>
            <a:off x="10515600" y="30480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656"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相近規模、不同目標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3598F1-09B6-4993-AE28-6491AA6FD9CA}"/>
              </a:ext>
            </a:extLst>
          </p:cNvPr>
          <p:cNvSpPr>
            <a:spLocks noGrp="1"/>
          </p:cNvSpPr>
          <p:nvPr/>
        </p:nvSpPr>
        <p:spPr>
          <a:xfrm>
            <a:off x="800100" y="38862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SigLIP2 SO400M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CA85E50-C4C9-49CB-9BE7-8B64A5DE5B7F}"/>
              </a:ext>
            </a:extLst>
          </p:cNvPr>
          <p:cNvSpPr>
            <a:spLocks noGrp="1"/>
          </p:cNvSpPr>
          <p:nvPr/>
        </p:nvSpPr>
        <p:spPr>
          <a:xfrm>
            <a:off x="3124200" y="3914775"/>
            <a:ext cx="4389120" cy="257175"/>
          </a:xfrm>
          <a:prstGeom prst="roundRect">
            <a:avLst>
              <a:gd name="adj" fmla="val 29630"/>
            </a:avLst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FA13DD-3E7D-4EE8-8412-8B5C01A70C1D}"/>
              </a:ext>
            </a:extLst>
          </p:cNvPr>
          <p:cNvSpPr>
            <a:spLocks noGrp="1"/>
          </p:cNvSpPr>
          <p:nvPr/>
        </p:nvSpPr>
        <p:spPr>
          <a:xfrm>
            <a:off x="9410700" y="38862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1152-d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908101-FDA8-403A-9D1D-7EB91221276F}"/>
              </a:ext>
            </a:extLst>
          </p:cNvPr>
          <p:cNvSpPr>
            <a:spLocks noGrp="1"/>
          </p:cNvSpPr>
          <p:nvPr/>
        </p:nvSpPr>
        <p:spPr>
          <a:xfrm>
            <a:off x="10515600" y="38862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大型骨幹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A8E3DB-4F3E-45DC-8EE5-49BA799A248C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SigLIP2 Giant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61091FF-B455-4CF8-958F-AB597BD6FDCB}"/>
              </a:ext>
            </a:extLst>
          </p:cNvPr>
          <p:cNvSpPr>
            <a:spLocks noGrp="1"/>
          </p:cNvSpPr>
          <p:nvPr/>
        </p:nvSpPr>
        <p:spPr>
          <a:xfrm>
            <a:off x="3124200" y="4752975"/>
            <a:ext cx="6096000" cy="257175"/>
          </a:xfrm>
          <a:prstGeom prst="roundRect">
            <a:avLst>
              <a:gd name="adj" fmla="val 29630"/>
            </a:avLst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559859-E9EF-4255-9853-90A82A947911}"/>
              </a:ext>
            </a:extLst>
          </p:cNvPr>
          <p:cNvSpPr>
            <a:spLocks noGrp="1"/>
          </p:cNvSpPr>
          <p:nvPr/>
        </p:nvSpPr>
        <p:spPr>
          <a:xfrm>
            <a:off x="9410700" y="47244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1536-d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5F0377-D973-4B78-856D-DFA368CABFBD}"/>
              </a:ext>
            </a:extLst>
          </p:cNvPr>
          <p:cNvSpPr>
            <a:spLocks noGrp="1"/>
          </p:cNvSpPr>
          <p:nvPr/>
        </p:nvSpPr>
        <p:spPr>
          <a:xfrm>
            <a:off x="10515600" y="47244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最大規模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FC94001-DFB0-4B97-B5CD-D526A3456DC9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4933950" cy="609600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04DBF6-0140-4DDD-AD4A-5C787E2AB5FB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66675" cy="6096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95E4FD-F4B3-4B3F-8789-1213A9F3950B}"/>
              </a:ext>
            </a:extLst>
          </p:cNvPr>
          <p:cNvSpPr>
            <a:spLocks noGrp="1"/>
          </p:cNvSpPr>
          <p:nvPr/>
        </p:nvSpPr>
        <p:spPr>
          <a:xfrm>
            <a:off x="990600" y="5791200"/>
            <a:ext cx="461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597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控制變因：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影片切片、骨架分支、融合頭、損失與訓練設定保持一致。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2D6E567-3AD0-4D9E-931D-92A4F68B33B3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5467350" cy="609600"/>
          </a:xfrm>
          <a:prstGeom prst="roundRect">
            <a:avLst>
              <a:gd name="adj" fmla="val 125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9C32FA-F9D8-4E68-8B51-73D50F32CDD6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66675" cy="6096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C42011-E86C-4888-B11F-789FB731E582}"/>
              </a:ext>
            </a:extLst>
          </p:cNvPr>
          <p:cNvSpPr>
            <a:spLocks noGrp="1"/>
          </p:cNvSpPr>
          <p:nvPr/>
        </p:nvSpPr>
        <p:spPr>
          <a:xfrm>
            <a:off x="6191250" y="57912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要驗證的不是：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「最大模型一定最好」，而是效能是否受到資料集與任務型態影響。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339D76FC-C6F1-4F44-8ADC-69941E6A0FB6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CE90BA-3C30-4121-ABE6-23AC53A954A9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3.4 節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4D8EBD-B2FF-49D1-83AC-BD7D42D8B94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83137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20B57593-10B5-44CC-9719-989CE0DFF6A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章｜融合機制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30CA32-EE17-4B2D-A42E-89A04346F0D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晚期融合固定相加；門控融合逐片段選擇證據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CF1EAC4-61B0-4D95-B6A4-02B943830B9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0CCE5D-98C0-446D-8238-0A1010D36EAC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4714710-DE5E-46CE-AFE7-44CF755A2D1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1816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5FAD2A-C616-4FFD-8C61-E9036E04ECD7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晚期分數融合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E77A54-36CC-4D65-AAA3-7D7484654E5E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A4B1EE-88A3-4020-8791-D814C0C2FE5F}"/>
              </a:ext>
            </a:extLst>
          </p:cNvPr>
          <p:cNvSpPr>
            <a:spLocks noGrp="1"/>
          </p:cNvSpPr>
          <p:nvPr/>
        </p:nvSpPr>
        <p:spPr>
          <a:xfrm>
            <a:off x="1085850" y="26574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Visual score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F5ACD3-F6E9-4AAA-AC25-95BBE9866889}"/>
              </a:ext>
            </a:extLst>
          </p:cNvPr>
          <p:cNvSpPr>
            <a:spLocks noGrp="1"/>
          </p:cNvSpPr>
          <p:nvPr/>
        </p:nvSpPr>
        <p:spPr>
          <a:xfrm>
            <a:off x="3810000" y="264795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D2E14-1CF6-424D-A55C-79EB5BBC8929}"/>
              </a:ext>
            </a:extLst>
          </p:cNvPr>
          <p:cNvSpPr>
            <a:spLocks noGrp="1"/>
          </p:cNvSpPr>
          <p:nvPr/>
        </p:nvSpPr>
        <p:spPr>
          <a:xfrm>
            <a:off x="3810000" y="26574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Skeleton score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607D4-8F6E-420A-9FEF-3A2A6CBCB7C8}"/>
              </a:ext>
            </a:extLst>
          </p:cNvPr>
          <p:cNvSpPr>
            <a:spLocks noGrp="1"/>
          </p:cNvSpPr>
          <p:nvPr/>
        </p:nvSpPr>
        <p:spPr>
          <a:xfrm>
            <a:off x="2686050" y="2647950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D90651-35FA-45EC-A385-91C8AF9EFAFF}"/>
              </a:ext>
            </a:extLst>
          </p:cNvPr>
          <p:cNvSpPr>
            <a:spLocks noGrp="1"/>
          </p:cNvSpPr>
          <p:nvPr/>
        </p:nvSpPr>
        <p:spPr>
          <a:xfrm>
            <a:off x="1123950" y="33909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aₗₐₜₑ = ½hₛ(s) + ½hᵥ(v)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36E506-424E-4C65-862E-C645E35EED6C}"/>
              </a:ext>
            </a:extLst>
          </p:cNvPr>
          <p:cNvSpPr>
            <a:spLocks noGrp="1"/>
          </p:cNvSpPr>
          <p:nvPr/>
        </p:nvSpPr>
        <p:spPr>
          <a:xfrm>
            <a:off x="1028700" y="40005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所有片段皆固定等權平均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0EBFCE5-0635-4306-8B46-92239184D4FC}"/>
              </a:ext>
            </a:extLst>
          </p:cNvPr>
          <p:cNvSpPr>
            <a:spLocks noGrp="1"/>
          </p:cNvSpPr>
          <p:nvPr/>
        </p:nvSpPr>
        <p:spPr>
          <a:xfrm>
            <a:off x="952500" y="4543425"/>
            <a:ext cx="4476750" cy="581025"/>
          </a:xfrm>
          <a:prstGeom prst="roundRect">
            <a:avLst>
              <a:gd name="adj" fmla="val 13115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3A8600-134D-4748-B0A5-F96D57C1C996}"/>
              </a:ext>
            </a:extLst>
          </p:cNvPr>
          <p:cNvSpPr>
            <a:spLocks noGrp="1"/>
          </p:cNvSpPr>
          <p:nvPr/>
        </p:nvSpPr>
        <p:spPr>
          <a:xfrm>
            <a:off x="952500" y="4543425"/>
            <a:ext cx="66675" cy="581025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6465DC-111C-49D5-A7A8-F5A266E4CCE0}"/>
              </a:ext>
            </a:extLst>
          </p:cNvPr>
          <p:cNvSpPr>
            <a:spLocks noGrp="1"/>
          </p:cNvSpPr>
          <p:nvPr/>
        </p:nvSpPr>
        <p:spPr>
          <a:xfrm>
            <a:off x="1143000" y="4676775"/>
            <a:ext cx="4152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風險：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任一模態的錯誤高分，可能直接污染最後結果。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4A1CB06-62D6-41F4-9EF3-A1A0142E4515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51816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637858-1C64-4D4E-B651-FCA2C93270A4}"/>
              </a:ext>
            </a:extLst>
          </p:cNvPr>
          <p:cNvSpPr>
            <a:spLocks noGrp="1"/>
          </p:cNvSpPr>
          <p:nvPr/>
        </p:nvSpPr>
        <p:spPr>
          <a:xfrm>
            <a:off x="6705600" y="19621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門控特徵融合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E32B65D8-B0EE-4438-9FF4-97F877858E56}"/>
              </a:ext>
            </a:extLst>
          </p:cNvPr>
          <p:cNvSpPr>
            <a:spLocks noGrp="1"/>
          </p:cNvSpPr>
          <p:nvPr/>
        </p:nvSpPr>
        <p:spPr>
          <a:xfrm>
            <a:off x="6838950" y="264795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E1ADE71-C3A0-436C-B7E7-A9E3B113DFF9}"/>
              </a:ext>
            </a:extLst>
          </p:cNvPr>
          <p:cNvSpPr>
            <a:spLocks noGrp="1"/>
          </p:cNvSpPr>
          <p:nvPr/>
        </p:nvSpPr>
        <p:spPr>
          <a:xfrm>
            <a:off x="6838950" y="26574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Visual feature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C3217B1-9BA5-4759-94DF-1CB9C640A2C9}"/>
              </a:ext>
            </a:extLst>
          </p:cNvPr>
          <p:cNvSpPr>
            <a:spLocks noGrp="1"/>
          </p:cNvSpPr>
          <p:nvPr/>
        </p:nvSpPr>
        <p:spPr>
          <a:xfrm>
            <a:off x="9563100" y="2647950"/>
            <a:ext cx="15621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0923EC-3839-4082-9D5C-5326AC457678}"/>
              </a:ext>
            </a:extLst>
          </p:cNvPr>
          <p:cNvSpPr>
            <a:spLocks noGrp="1"/>
          </p:cNvSpPr>
          <p:nvPr/>
        </p:nvSpPr>
        <p:spPr>
          <a:xfrm>
            <a:off x="9563100" y="26574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Skeleton feature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707947-0927-422C-B571-CD56D3FC6B1F}"/>
              </a:ext>
            </a:extLst>
          </p:cNvPr>
          <p:cNvSpPr>
            <a:spLocks noGrp="1"/>
          </p:cNvSpPr>
          <p:nvPr/>
        </p:nvSpPr>
        <p:spPr>
          <a:xfrm>
            <a:off x="8496300" y="264795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2CADDD-5743-44AB-B11F-D441C96F5D72}"/>
              </a:ext>
            </a:extLst>
          </p:cNvPr>
          <p:cNvSpPr>
            <a:spLocks noGrp="1"/>
          </p:cNvSpPr>
          <p:nvPr/>
        </p:nvSpPr>
        <p:spPr>
          <a:xfrm>
            <a:off x="6610350" y="3333750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f = LN(g⊙ŝ + (1−g)⊙v̂ + ŝ + v̂)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DCC42-AB59-495B-A70C-352F1B324A82}"/>
              </a:ext>
            </a:extLst>
          </p:cNvPr>
          <p:cNvSpPr>
            <a:spLocks noGrp="1"/>
          </p:cNvSpPr>
          <p:nvPr/>
        </p:nvSpPr>
        <p:spPr>
          <a:xfrm>
            <a:off x="6629400" y="390525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g ∈ [0,1]²⁵⁶；逐維度調整，residual 保留兩路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99B230B-B4BE-421D-9B17-9DA8F7CF8AFD}"/>
              </a:ext>
            </a:extLst>
          </p:cNvPr>
          <p:cNvSpPr>
            <a:spLocks noGrp="1"/>
          </p:cNvSpPr>
          <p:nvPr/>
        </p:nvSpPr>
        <p:spPr>
          <a:xfrm>
            <a:off x="6743700" y="4543425"/>
            <a:ext cx="4476750" cy="581025"/>
          </a:xfrm>
          <a:prstGeom prst="roundRect">
            <a:avLst>
              <a:gd name="adj" fmla="val 13115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41563F-306E-4F3F-AD31-D4D9044EA698}"/>
              </a:ext>
            </a:extLst>
          </p:cNvPr>
          <p:cNvSpPr>
            <a:spLocks noGrp="1"/>
          </p:cNvSpPr>
          <p:nvPr/>
        </p:nvSpPr>
        <p:spPr>
          <a:xfrm>
            <a:off x="6743700" y="4543425"/>
            <a:ext cx="66675" cy="581025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EFA2E6-92B5-4B2C-9369-12F9966BBE84}"/>
              </a:ext>
            </a:extLst>
          </p:cNvPr>
          <p:cNvSpPr>
            <a:spLocks noGrp="1"/>
          </p:cNvSpPr>
          <p:nvPr/>
        </p:nvSpPr>
        <p:spPr>
          <a:xfrm>
            <a:off x="6934200" y="4676775"/>
            <a:ext cx="4152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優點：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每個片段都可依可靠度重新分配兩種證據。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DE38902D-13D5-4F6C-B55B-4C9C6511BCF3}"/>
              </a:ext>
            </a:extLst>
          </p:cNvPr>
          <p:cNvSpPr>
            <a:spLocks noGrp="1"/>
          </p:cNvSpPr>
          <p:nvPr/>
        </p:nvSpPr>
        <p:spPr>
          <a:xfrm>
            <a:off x="2000250" y="5638800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9676A6D-A317-490F-8CF9-39DC91090EE8}"/>
              </a:ext>
            </a:extLst>
          </p:cNvPr>
          <p:cNvSpPr>
            <a:spLocks noGrp="1"/>
          </p:cNvSpPr>
          <p:nvPr/>
        </p:nvSpPr>
        <p:spPr>
          <a:xfrm>
            <a:off x="2000250" y="5638800"/>
            <a:ext cx="66675" cy="5905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F1D341-D364-44B2-955D-77ABE682BF10}"/>
              </a:ext>
            </a:extLst>
          </p:cNvPr>
          <p:cNvSpPr>
            <a:spLocks noGrp="1"/>
          </p:cNvSpPr>
          <p:nvPr/>
        </p:nvSpPr>
        <p:spPr>
          <a:xfrm>
            <a:off x="2190750" y="5772150"/>
            <a:ext cx="786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關鍵實證：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門控相對晚期融合：UCF +1.8～+2.6；XD +10.9～+13.0。</a:t>
            </a:r>
          </a:p>
        </p:txBody>
      </p:sp>
      <p:sp>
        <p:nvSpPr>
          <p:cNvPr id="32" name="直線接點 31">
            <a:extLst>
              <a:ext uri="{FF2B5EF4-FFF2-40B4-BE49-F238E27FC236}">
                <a16:creationId xmlns:a16="http://schemas.microsoft.com/office/drawing/2014/main" id="{2F1BA39E-9B85-4D9D-B091-0F4C6D6E92A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3448916-3792-4BAE-BE47-5A8291383108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3.5 節；表 5.1 與表 5.2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EDE8F4-5E94-4BA0-A7B4-95BE8CEFDBC2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  <p:sp>
        <p:nvSpPr>
          <p:cNvPr id="36" name="Round3_S11_TermNote">
            <a:extLst>
              <a:ext uri="{FF2B5EF4-FFF2-40B4-BE49-F238E27FC236}">
                <a16:creationId xmlns:a16="http://schemas.microsoft.com/office/drawing/2014/main" id="{602040F8-1CAA-B2AA-96E1-C205D32F2D80}"/>
              </a:ext>
            </a:extLst>
          </p:cNvPr>
          <p:cNvSpPr txBox="1"/>
          <p:nvPr/>
        </p:nvSpPr>
        <p:spPr>
          <a:xfrm>
            <a:off x="6705600" y="230505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050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（論文中文摘要譯為閘控融合，同一機制）</a:t>
            </a:r>
          </a:p>
        </p:txBody>
      </p:sp>
    </p:spTree>
    <p:extLst>
      <p:ext uri="{BB962C8B-B14F-4D97-AF65-F5344CB8AC3E}">
        <p14:creationId xmlns:p14="http://schemas.microsoft.com/office/powerpoint/2010/main" val="177906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E66CED25-9F78-4AB2-8A51-47DA5DBB5C7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3 章｜訓練目標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E6DE5F-C899-47F9-826C-AACCF020A31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Top-k MIL：由最具證據的片段支持影片標籤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B2DF999-D817-44F1-9CA0-80190345293E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1A6B6E-FE8C-4DBF-82AD-BB57F85D88AD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CA8F91-C805-4CBF-93A7-31A2823C84B8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異常影片袋 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A40BDC-E66B-41BE-810F-F4B35BFB1336}"/>
              </a:ext>
            </a:extLst>
          </p:cNvPr>
          <p:cNvSpPr>
            <a:spLocks noGrp="1"/>
          </p:cNvSpPr>
          <p:nvPr/>
        </p:nvSpPr>
        <p:spPr>
          <a:xfrm>
            <a:off x="876300" y="3950970"/>
            <a:ext cx="228600" cy="14478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6F0DA4-97E1-4E22-848C-BACE66E2EAC5}"/>
              </a:ext>
            </a:extLst>
          </p:cNvPr>
          <p:cNvSpPr>
            <a:spLocks noGrp="1"/>
          </p:cNvSpPr>
          <p:nvPr/>
        </p:nvSpPr>
        <p:spPr>
          <a:xfrm>
            <a:off x="1228725" y="3878580"/>
            <a:ext cx="228600" cy="21717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5A2CCF-10C6-46EA-90A7-F35C2C3E2665}"/>
              </a:ext>
            </a:extLst>
          </p:cNvPr>
          <p:cNvSpPr>
            <a:spLocks noGrp="1"/>
          </p:cNvSpPr>
          <p:nvPr/>
        </p:nvSpPr>
        <p:spPr>
          <a:xfrm>
            <a:off x="1581150" y="3769995"/>
            <a:ext cx="228600" cy="325755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B29DF2-F0A9-4E5F-9139-16872768C41E}"/>
              </a:ext>
            </a:extLst>
          </p:cNvPr>
          <p:cNvSpPr>
            <a:spLocks noGrp="1"/>
          </p:cNvSpPr>
          <p:nvPr/>
        </p:nvSpPr>
        <p:spPr>
          <a:xfrm>
            <a:off x="1933575" y="3625215"/>
            <a:ext cx="228600" cy="470535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553FA7-83C6-441B-A2F6-53796908327E}"/>
              </a:ext>
            </a:extLst>
          </p:cNvPr>
          <p:cNvSpPr>
            <a:spLocks noGrp="1"/>
          </p:cNvSpPr>
          <p:nvPr/>
        </p:nvSpPr>
        <p:spPr>
          <a:xfrm>
            <a:off x="2286000" y="3299460"/>
            <a:ext cx="228600" cy="79629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347292-4DE7-4159-93F0-FA52E0452AC7}"/>
              </a:ext>
            </a:extLst>
          </p:cNvPr>
          <p:cNvSpPr>
            <a:spLocks noGrp="1"/>
          </p:cNvSpPr>
          <p:nvPr/>
        </p:nvSpPr>
        <p:spPr>
          <a:xfrm>
            <a:off x="2638425" y="2430780"/>
            <a:ext cx="228600" cy="1664970"/>
          </a:xfrm>
          <a:prstGeom prst="rect">
            <a:avLst/>
          </a:prstGeom>
          <a:solidFill>
            <a:srgbClr val="D9784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8521D5-2040-4A3F-940F-617E29253414}"/>
              </a:ext>
            </a:extLst>
          </p:cNvPr>
          <p:cNvSpPr>
            <a:spLocks noGrp="1"/>
          </p:cNvSpPr>
          <p:nvPr/>
        </p:nvSpPr>
        <p:spPr>
          <a:xfrm>
            <a:off x="2990850" y="2575560"/>
            <a:ext cx="228600" cy="1520190"/>
          </a:xfrm>
          <a:prstGeom prst="rect">
            <a:avLst/>
          </a:prstGeom>
          <a:solidFill>
            <a:srgbClr val="D9784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9A9034-17FC-47F9-A5BE-4F940882B7BB}"/>
              </a:ext>
            </a:extLst>
          </p:cNvPr>
          <p:cNvSpPr>
            <a:spLocks noGrp="1"/>
          </p:cNvSpPr>
          <p:nvPr/>
        </p:nvSpPr>
        <p:spPr>
          <a:xfrm>
            <a:off x="3343275" y="3444240"/>
            <a:ext cx="228600" cy="65151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62E3086-DFA1-493F-B5E3-A0D155A46404}"/>
              </a:ext>
            </a:extLst>
          </p:cNvPr>
          <p:cNvSpPr>
            <a:spLocks noGrp="1"/>
          </p:cNvSpPr>
          <p:nvPr/>
        </p:nvSpPr>
        <p:spPr>
          <a:xfrm>
            <a:off x="1704975" y="42672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FC59CC-90E9-472E-AD0A-32CD2772AB89}"/>
              </a:ext>
            </a:extLst>
          </p:cNvPr>
          <p:cNvSpPr>
            <a:spLocks noGrp="1"/>
          </p:cNvSpPr>
          <p:nvPr/>
        </p:nvSpPr>
        <p:spPr>
          <a:xfrm>
            <a:off x="1704975" y="427672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Top-k 平均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FAC373-4D32-4440-AD58-1ED352B59F4A}"/>
              </a:ext>
            </a:extLst>
          </p:cNvPr>
          <p:cNvSpPr>
            <a:spLocks noGrp="1"/>
          </p:cNvSpPr>
          <p:nvPr/>
        </p:nvSpPr>
        <p:spPr>
          <a:xfrm>
            <a:off x="4476750" y="1790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正常影片袋 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F1073F-98AB-4E79-88FF-5516E6BCF603}"/>
              </a:ext>
            </a:extLst>
          </p:cNvPr>
          <p:cNvSpPr>
            <a:spLocks noGrp="1"/>
          </p:cNvSpPr>
          <p:nvPr/>
        </p:nvSpPr>
        <p:spPr>
          <a:xfrm>
            <a:off x="4648200" y="4023360"/>
            <a:ext cx="228600" cy="72390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8235FF-3BF8-41E3-B3A5-31799BA257E7}"/>
              </a:ext>
            </a:extLst>
          </p:cNvPr>
          <p:cNvSpPr>
            <a:spLocks noGrp="1"/>
          </p:cNvSpPr>
          <p:nvPr/>
        </p:nvSpPr>
        <p:spPr>
          <a:xfrm>
            <a:off x="5000625" y="3969068"/>
            <a:ext cx="228600" cy="126683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118FF5-99EB-4345-852F-9B59A6B2615D}"/>
              </a:ext>
            </a:extLst>
          </p:cNvPr>
          <p:cNvSpPr>
            <a:spLocks noGrp="1"/>
          </p:cNvSpPr>
          <p:nvPr/>
        </p:nvSpPr>
        <p:spPr>
          <a:xfrm>
            <a:off x="5353050" y="3896678"/>
            <a:ext cx="228600" cy="199073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373361-F303-4D07-B296-8C5511E86D6E}"/>
              </a:ext>
            </a:extLst>
          </p:cNvPr>
          <p:cNvSpPr>
            <a:spLocks noGrp="1"/>
          </p:cNvSpPr>
          <p:nvPr/>
        </p:nvSpPr>
        <p:spPr>
          <a:xfrm>
            <a:off x="5705475" y="3824288"/>
            <a:ext cx="228600" cy="271463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CDE493-578F-4413-B786-A5C8AFC2BF00}"/>
              </a:ext>
            </a:extLst>
          </p:cNvPr>
          <p:cNvSpPr>
            <a:spLocks noGrp="1"/>
          </p:cNvSpPr>
          <p:nvPr/>
        </p:nvSpPr>
        <p:spPr>
          <a:xfrm>
            <a:off x="6057900" y="3697605"/>
            <a:ext cx="228600" cy="39814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571D53-BF86-47A3-BDDE-C6736CDE3F07}"/>
              </a:ext>
            </a:extLst>
          </p:cNvPr>
          <p:cNvSpPr>
            <a:spLocks noGrp="1"/>
          </p:cNvSpPr>
          <p:nvPr/>
        </p:nvSpPr>
        <p:spPr>
          <a:xfrm>
            <a:off x="6410325" y="3570923"/>
            <a:ext cx="228600" cy="524828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1E625C-81C6-40A0-B74A-8CF4132F6FBB}"/>
              </a:ext>
            </a:extLst>
          </p:cNvPr>
          <p:cNvSpPr>
            <a:spLocks noGrp="1"/>
          </p:cNvSpPr>
          <p:nvPr/>
        </p:nvSpPr>
        <p:spPr>
          <a:xfrm>
            <a:off x="6762750" y="3769995"/>
            <a:ext cx="228600" cy="325755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0D82FD-F244-4989-BDAB-40F351B0AB13}"/>
              </a:ext>
            </a:extLst>
          </p:cNvPr>
          <p:cNvSpPr>
            <a:spLocks noGrp="1"/>
          </p:cNvSpPr>
          <p:nvPr/>
        </p:nvSpPr>
        <p:spPr>
          <a:xfrm>
            <a:off x="7115175" y="3932873"/>
            <a:ext cx="228600" cy="162877"/>
          </a:xfrm>
          <a:prstGeom prst="rect">
            <a:avLst/>
          </a:prstGeom>
          <a:solidFill>
            <a:srgbClr val="8A98A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25DF63C-71D3-4C8A-9C83-AF9571944F34}"/>
              </a:ext>
            </a:extLst>
          </p:cNvPr>
          <p:cNvSpPr>
            <a:spLocks noGrp="1"/>
          </p:cNvSpPr>
          <p:nvPr/>
        </p:nvSpPr>
        <p:spPr>
          <a:xfrm>
            <a:off x="5476875" y="42672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8098B9-863C-4EBD-B00A-98252B554927}"/>
              </a:ext>
            </a:extLst>
          </p:cNvPr>
          <p:cNvSpPr>
            <a:spLocks noGrp="1"/>
          </p:cNvSpPr>
          <p:nvPr/>
        </p:nvSpPr>
        <p:spPr>
          <a:xfrm>
            <a:off x="5476875" y="427672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Top-k 平均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57A343-9D03-4C3D-8685-511B7113E867}"/>
              </a:ext>
            </a:extLst>
          </p:cNvPr>
          <p:cNvSpPr>
            <a:spLocks noGrp="1"/>
          </p:cNvSpPr>
          <p:nvPr/>
        </p:nvSpPr>
        <p:spPr>
          <a:xfrm>
            <a:off x="7753350" y="2847975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CAE6835-DF52-436C-A7ED-9E49ADF2ED36}"/>
              </a:ext>
            </a:extLst>
          </p:cNvPr>
          <p:cNvSpPr>
            <a:spLocks noGrp="1"/>
          </p:cNvSpPr>
          <p:nvPr/>
        </p:nvSpPr>
        <p:spPr>
          <a:xfrm>
            <a:off x="8382000" y="2247900"/>
            <a:ext cx="304800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905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33832E-4441-436D-B139-56B9EFAB8F43}"/>
              </a:ext>
            </a:extLst>
          </p:cNvPr>
          <p:cNvSpPr>
            <a:spLocks noGrp="1"/>
          </p:cNvSpPr>
          <p:nvPr/>
        </p:nvSpPr>
        <p:spPr>
          <a:xfrm>
            <a:off x="8620125" y="24193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排序損失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F14530-705C-43EA-824C-62824BC4EA90}"/>
              </a:ext>
            </a:extLst>
          </p:cNvPr>
          <p:cNvSpPr>
            <a:spLocks noGrp="1"/>
          </p:cNvSpPr>
          <p:nvPr/>
        </p:nvSpPr>
        <p:spPr>
          <a:xfrm>
            <a:off x="8601075" y="2914650"/>
            <a:ext cx="2609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55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Lrank = max(0, 1 − mean(Aₖ)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 mean(Nₖ))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6E0AA3-4F42-43CB-8024-68898A5698EA}"/>
              </a:ext>
            </a:extLst>
          </p:cNvPr>
          <p:cNvSpPr>
            <a:spLocks noGrp="1"/>
          </p:cNvSpPr>
          <p:nvPr/>
        </p:nvSpPr>
        <p:spPr>
          <a:xfrm>
            <a:off x="8591550" y="3629025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04"/>
          </a:bodyPr>
          <a:lstStyle/>
          <a:p>
            <a:pPr algn="ctr">
              <a:lnSpc>
                <a:spcPct val="105000"/>
              </a:lnSpc>
              <a:buNone/>
              <a:defRPr sz="10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讓異常袋 Top-k 高於正常袋至少 1 個 margin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1D1F841-0B04-412B-ABD5-98B794656432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5657850" cy="723900"/>
          </a:xfrm>
          <a:prstGeom prst="roundRect">
            <a:avLst>
              <a:gd name="adj" fmla="val 1052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1496A57-3DF2-4B34-85EB-DD7886F66B03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66675" cy="7239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645F02-A31A-4083-BB98-A07D5CB6EB79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正則化：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稀疏性＋相鄰片段時間平滑，抑制整段高分與快速震盪。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C9068FA1-5B8F-4BE5-ADB6-911E56758F6A}"/>
              </a:ext>
            </a:extLst>
          </p:cNvPr>
          <p:cNvSpPr>
            <a:spLocks noGrp="1"/>
          </p:cNvSpPr>
          <p:nvPr/>
        </p:nvSpPr>
        <p:spPr>
          <a:xfrm>
            <a:off x="6705600" y="4819650"/>
            <a:ext cx="21145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6B9C5B-B641-4D0D-8BA9-B76A9C5BD1FA}"/>
              </a:ext>
            </a:extLst>
          </p:cNvPr>
          <p:cNvSpPr>
            <a:spLocks noGrp="1"/>
          </p:cNvSpPr>
          <p:nvPr/>
        </p:nvSpPr>
        <p:spPr>
          <a:xfrm>
            <a:off x="6858000" y="494347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78"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0.50–1.02M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58CEC4B-BD90-4A9D-B810-7A694DF9AABB}"/>
              </a:ext>
            </a:extLst>
          </p:cNvPr>
          <p:cNvSpPr>
            <a:spLocks noGrp="1"/>
          </p:cNvSpPr>
          <p:nvPr/>
        </p:nvSpPr>
        <p:spPr>
          <a:xfrm>
            <a:off x="6838950" y="5457825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可訓練參數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389549DE-BAF3-41AE-AAD8-AAA56D3FFDBD}"/>
              </a:ext>
            </a:extLst>
          </p:cNvPr>
          <p:cNvSpPr>
            <a:spLocks noGrp="1"/>
          </p:cNvSpPr>
          <p:nvPr/>
        </p:nvSpPr>
        <p:spPr>
          <a:xfrm>
            <a:off x="9048750" y="481965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174ECE-D760-4D00-A3E8-7BE3C332AFA4}"/>
              </a:ext>
            </a:extLst>
          </p:cNvPr>
          <p:cNvSpPr>
            <a:spLocks noGrp="1"/>
          </p:cNvSpPr>
          <p:nvPr/>
        </p:nvSpPr>
        <p:spPr>
          <a:xfrm>
            <a:off x="9201150" y="4943475"/>
            <a:ext cx="2076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&lt; 5 分鐘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2DE0DBF-64F8-4643-A551-17A0AEF29A41}"/>
              </a:ext>
            </a:extLst>
          </p:cNvPr>
          <p:cNvSpPr>
            <a:spLocks noGrp="1"/>
          </p:cNvSpPr>
          <p:nvPr/>
        </p:nvSpPr>
        <p:spPr>
          <a:xfrm>
            <a:off x="9182100" y="5457825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單一 RTX 4090／每設定</a:t>
            </a:r>
          </a:p>
        </p:txBody>
      </p:sp>
      <p:sp>
        <p:nvSpPr>
          <p:cNvPr id="41" name="直線接點 40">
            <a:extLst>
              <a:ext uri="{FF2B5EF4-FFF2-40B4-BE49-F238E27FC236}">
                <a16:creationId xmlns:a16="http://schemas.microsoft.com/office/drawing/2014/main" id="{D1C88010-6AD3-4437-9B56-3CDB2EBED7C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BFAE980-63D8-4783-A603-444CAFC101D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3.6 節與第 4.7 節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590AF86-DD77-4941-B9AE-058A42A448CC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7648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ACB41B9-051A-49E2-95DE-F05278491E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4 章｜實驗設計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CBDCB1-B54D-40FB-9EF6-64BE855AA2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兩個資料集、兩種指標；評估協定需分開解讀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57A7D90-01CA-4463-8AA1-1A69F545EC81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BEA273-ED5F-4749-AE3E-827362835A74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089A100-6254-48D8-BAD1-62F759C21AC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2578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33C67-207F-435E-A2E6-5E3E003CDA60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UCF-Crime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512A3F1-CD33-46E6-BB38-2D0450440507}"/>
              </a:ext>
            </a:extLst>
          </p:cNvPr>
          <p:cNvSpPr>
            <a:spLocks noGrp="1"/>
          </p:cNvSpPr>
          <p:nvPr/>
        </p:nvSpPr>
        <p:spPr>
          <a:xfrm>
            <a:off x="971550" y="2543175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5C6D84-C95F-42AF-9F1F-7EB7789C5139}"/>
              </a:ext>
            </a:extLst>
          </p:cNvPr>
          <p:cNvSpPr>
            <a:spLocks noGrp="1"/>
          </p:cNvSpPr>
          <p:nvPr/>
        </p:nvSpPr>
        <p:spPr>
          <a:xfrm>
            <a:off x="1123950" y="2667000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AUC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A993A4-E6C5-4982-AC40-1FBBF4ACFDA1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主要評估指標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8891577-4F41-4003-A8F3-8311449A1A47}"/>
              </a:ext>
            </a:extLst>
          </p:cNvPr>
          <p:cNvSpPr>
            <a:spLocks noGrp="1"/>
          </p:cNvSpPr>
          <p:nvPr/>
        </p:nvSpPr>
        <p:spPr>
          <a:xfrm>
            <a:off x="3067050" y="2543175"/>
            <a:ext cx="21336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AB2D47-A6FA-40FE-B483-489584189CDA}"/>
              </a:ext>
            </a:extLst>
          </p:cNvPr>
          <p:cNvSpPr>
            <a:spLocks noGrp="1"/>
          </p:cNvSpPr>
          <p:nvPr/>
        </p:nvSpPr>
        <p:spPr>
          <a:xfrm>
            <a:off x="3219450" y="26670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254 / 290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995334-5854-4F51-B9AA-AB16534778FC}"/>
              </a:ext>
            </a:extLst>
          </p:cNvPr>
          <p:cNvSpPr>
            <a:spLocks noGrp="1"/>
          </p:cNvSpPr>
          <p:nvPr/>
        </p:nvSpPr>
        <p:spPr>
          <a:xfrm>
            <a:off x="3200400" y="31813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可納入測試影片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FFA5EE-B524-4088-8677-CC53F0AF0101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4286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使用第三方重新散布的預抽影格版本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約 64×64、每 10 影格取 1 張（約 3 FPS）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片段至少需 64 影格，短影片因此排除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333ED48-845B-40B1-8221-F6028FEDFA09}"/>
              </a:ext>
            </a:extLst>
          </p:cNvPr>
          <p:cNvSpPr>
            <a:spLocks noGrp="1"/>
          </p:cNvSpPr>
          <p:nvPr/>
        </p:nvSpPr>
        <p:spPr>
          <a:xfrm>
            <a:off x="6324600" y="1695450"/>
            <a:ext cx="52578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560836-CEA2-4FF8-88C6-2963AE8C0625}"/>
              </a:ext>
            </a:extLst>
          </p:cNvPr>
          <p:cNvSpPr>
            <a:spLocks noGrp="1"/>
          </p:cNvSpPr>
          <p:nvPr/>
        </p:nvSpPr>
        <p:spPr>
          <a:xfrm>
            <a:off x="6629400" y="1952625"/>
            <a:ext cx="464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XD-Violence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39522D4-C3B5-4B11-9DB1-E912C30C8C5D}"/>
              </a:ext>
            </a:extLst>
          </p:cNvPr>
          <p:cNvSpPr>
            <a:spLocks noGrp="1"/>
          </p:cNvSpPr>
          <p:nvPr/>
        </p:nvSpPr>
        <p:spPr>
          <a:xfrm>
            <a:off x="6686550" y="2543175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5F30C4-C12D-4F8B-AD13-622FA06DDF1B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AP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E5D34A-BCB3-450F-8C41-E2ECD9C568FE}"/>
              </a:ext>
            </a:extLst>
          </p:cNvPr>
          <p:cNvSpPr>
            <a:spLocks noGrp="1"/>
          </p:cNvSpPr>
          <p:nvPr/>
        </p:nvSpPr>
        <p:spPr>
          <a:xfrm>
            <a:off x="6819900" y="31813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主要評估指標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CDBC2F2-9B9B-4734-BCA8-08979F3178CF}"/>
              </a:ext>
            </a:extLst>
          </p:cNvPr>
          <p:cNvSpPr>
            <a:spLocks noGrp="1"/>
          </p:cNvSpPr>
          <p:nvPr/>
        </p:nvSpPr>
        <p:spPr>
          <a:xfrm>
            <a:off x="8782050" y="2543175"/>
            <a:ext cx="21336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0ADD37-DAE9-4E00-9179-8FEDD4B451D5}"/>
              </a:ext>
            </a:extLst>
          </p:cNvPr>
          <p:cNvSpPr>
            <a:spLocks noGrp="1"/>
          </p:cNvSpPr>
          <p:nvPr/>
        </p:nvSpPr>
        <p:spPr>
          <a:xfrm>
            <a:off x="8934450" y="26670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多場景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08DB9D9-43ED-4C7D-94B3-0938614D9EDE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電影／新聞／運動／網路影片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EB80C2-9DC0-4EA7-AC9E-75628E8BE793}"/>
              </a:ext>
            </a:extLst>
          </p:cNvPr>
          <p:cNvSpPr>
            <a:spLocks noGrp="1"/>
          </p:cNvSpPr>
          <p:nvPr/>
        </p:nvSpPr>
        <p:spPr>
          <a:xfrm>
            <a:off x="6667500" y="3867150"/>
            <a:ext cx="4286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事件型態與來源更異質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正負樣本不均衡，因此採用 AP</a:t>
            </a:r>
          </a:p>
          <a:p>
            <a:pPr marL="24" indent="-14" algn="l">
              <a:lnSpc>
                <a:spcPct val="108000"/>
              </a:lnSpc>
              <a:spcAft>
                <a:spcPts val="5"/>
              </a:spcAft>
              <a:buNone/>
              <a:def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與 UCF 使用同一雙模態訓練框架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BD9AA86-4AE0-4D12-AEAA-F2643F0006D1}"/>
              </a:ext>
            </a:extLst>
          </p:cNvPr>
          <p:cNvSpPr>
            <a:spLocks noGrp="1"/>
          </p:cNvSpPr>
          <p:nvPr/>
        </p:nvSpPr>
        <p:spPr>
          <a:xfrm>
            <a:off x="1390650" y="5514975"/>
            <a:ext cx="9410700" cy="704850"/>
          </a:xfrm>
          <a:prstGeom prst="roundRect">
            <a:avLst>
              <a:gd name="adj" fmla="val 10811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A342FB-7DD2-4BB8-8B96-75AC46F1B6CB}"/>
              </a:ext>
            </a:extLst>
          </p:cNvPr>
          <p:cNvSpPr>
            <a:spLocks noGrp="1"/>
          </p:cNvSpPr>
          <p:nvPr/>
        </p:nvSpPr>
        <p:spPr>
          <a:xfrm>
            <a:off x="1390650" y="5514975"/>
            <a:ext cx="66675" cy="7048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9222C9-BFE1-4B27-9FA4-7E804278C495}"/>
              </a:ext>
            </a:extLst>
          </p:cNvPr>
          <p:cNvSpPr>
            <a:spLocks noGrp="1"/>
          </p:cNvSpPr>
          <p:nvPr/>
        </p:nvSpPr>
        <p:spPr>
          <a:xfrm>
            <a:off x="1581150" y="5648325"/>
            <a:ext cx="908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解讀原則：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資料集內消融與骨幹比較是公平的；UCF 絕對分數不宜與官方原始影片協定直接等同比較。</a:t>
            </a:r>
          </a:p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9E5EDC45-499F-44A4-A1BA-E47CEF3004C0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D7F5AF-CC7C-4D26-ACE2-0A31067BD481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4.1–4.2 節；UCF-Crime 與 XD-Violence 資料集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67BDD0-D9CF-4CA1-B8D2-5281D9CCB79B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370664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A85C29F5-2077-4457-94B3-51A48C4FBD0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4 章｜實驗矩陣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96CFEF-653A-4D87-9487-8E5A922B0DB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同一套控制變因，依序回答 RQ1–RQ3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51CCD42-7233-418B-910D-220EAEE6DE1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5E8618-0916-471D-84D9-2DB9B4CAB543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70EFA3-082E-42C9-905E-9EA7610484ED}"/>
              </a:ext>
            </a:extLst>
          </p:cNvPr>
          <p:cNvSpPr>
            <a:spLocks noGrp="1"/>
          </p:cNvSpPr>
          <p:nvPr/>
        </p:nvSpPr>
        <p:spPr>
          <a:xfrm>
            <a:off x="1562100" y="1828800"/>
            <a:ext cx="2095500" cy="514350"/>
          </a:xfrm>
          <a:prstGeom prst="rect">
            <a:avLst/>
          </a:prstGeom>
          <a:solidFill>
            <a:srgbClr val="0B2545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83BAAD-82B4-4CAD-9178-7764C6F91639}"/>
              </a:ext>
            </a:extLst>
          </p:cNvPr>
          <p:cNvSpPr>
            <a:spLocks noGrp="1"/>
          </p:cNvSpPr>
          <p:nvPr/>
        </p:nvSpPr>
        <p:spPr>
          <a:xfrm>
            <a:off x="1657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比較項目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E49071-55AF-401D-990D-60B001F63D40}"/>
              </a:ext>
            </a:extLst>
          </p:cNvPr>
          <p:cNvSpPr>
            <a:spLocks noGrp="1"/>
          </p:cNvSpPr>
          <p:nvPr/>
        </p:nvSpPr>
        <p:spPr>
          <a:xfrm>
            <a:off x="3848100" y="1828800"/>
            <a:ext cx="20955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31396D-309C-4344-AEF7-D090173D9D6F}"/>
              </a:ext>
            </a:extLst>
          </p:cNvPr>
          <p:cNvSpPr>
            <a:spLocks noGrp="1"/>
          </p:cNvSpPr>
          <p:nvPr/>
        </p:nvSpPr>
        <p:spPr>
          <a:xfrm>
            <a:off x="3943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RQ1 融合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6B20BB-703A-4A4A-8F36-45C806AE764B}"/>
              </a:ext>
            </a:extLst>
          </p:cNvPr>
          <p:cNvSpPr>
            <a:spLocks noGrp="1"/>
          </p:cNvSpPr>
          <p:nvPr/>
        </p:nvSpPr>
        <p:spPr>
          <a:xfrm>
            <a:off x="6134100" y="1828800"/>
            <a:ext cx="20955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D1632E-9F44-4A2E-B56A-972CEC241901}"/>
              </a:ext>
            </a:extLst>
          </p:cNvPr>
          <p:cNvSpPr>
            <a:spLocks noGrp="1"/>
          </p:cNvSpPr>
          <p:nvPr/>
        </p:nvSpPr>
        <p:spPr>
          <a:xfrm>
            <a:off x="6229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RQ2 骨幹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A61034-9CEB-43BD-8182-59C03F217DA7}"/>
              </a:ext>
            </a:extLst>
          </p:cNvPr>
          <p:cNvSpPr>
            <a:spLocks noGrp="1"/>
          </p:cNvSpPr>
          <p:nvPr/>
        </p:nvSpPr>
        <p:spPr>
          <a:xfrm>
            <a:off x="8420100" y="1828800"/>
            <a:ext cx="20955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14FE79-5D40-4F67-96F6-B4584FDCF87F}"/>
              </a:ext>
            </a:extLst>
          </p:cNvPr>
          <p:cNvSpPr>
            <a:spLocks noGrp="1"/>
          </p:cNvSpPr>
          <p:nvPr/>
        </p:nvSpPr>
        <p:spPr>
          <a:xfrm>
            <a:off x="8515350" y="19335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RQ3 穩健性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E5A694-247A-4F34-8B58-2413F07E6001}"/>
              </a:ext>
            </a:extLst>
          </p:cNvPr>
          <p:cNvSpPr>
            <a:spLocks noGrp="1"/>
          </p:cNvSpPr>
          <p:nvPr/>
        </p:nvSpPr>
        <p:spPr>
          <a:xfrm>
            <a:off x="1562100" y="2343150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258555-52B3-4CD0-8CBC-E8DF3A3783FC}"/>
              </a:ext>
            </a:extLst>
          </p:cNvPr>
          <p:cNvSpPr>
            <a:spLocks noGrp="1"/>
          </p:cNvSpPr>
          <p:nvPr/>
        </p:nvSpPr>
        <p:spPr>
          <a:xfrm>
            <a:off x="1695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模態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C5B5EA-E452-4C75-9859-3919A814BF94}"/>
              </a:ext>
            </a:extLst>
          </p:cNvPr>
          <p:cNvSpPr>
            <a:spLocks noGrp="1"/>
          </p:cNvSpPr>
          <p:nvPr/>
        </p:nvSpPr>
        <p:spPr>
          <a:xfrm>
            <a:off x="3848100" y="234315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8FD02F-2A42-4295-B2AF-78814A2E4D8F}"/>
              </a:ext>
            </a:extLst>
          </p:cNvPr>
          <p:cNvSpPr>
            <a:spLocks noGrp="1"/>
          </p:cNvSpPr>
          <p:nvPr/>
        </p:nvSpPr>
        <p:spPr>
          <a:xfrm>
            <a:off x="3981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Visual／Skeleton／Fusion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76A48C-A8FC-4A0D-86F0-ED110B9C0ADB}"/>
              </a:ext>
            </a:extLst>
          </p:cNvPr>
          <p:cNvSpPr>
            <a:spLocks noGrp="1"/>
          </p:cNvSpPr>
          <p:nvPr/>
        </p:nvSpPr>
        <p:spPr>
          <a:xfrm>
            <a:off x="6134100" y="234315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DB04DA-0962-432C-82FB-EE9569AA6F6E}"/>
              </a:ext>
            </a:extLst>
          </p:cNvPr>
          <p:cNvSpPr>
            <a:spLocks noGrp="1"/>
          </p:cNvSpPr>
          <p:nvPr/>
        </p:nvSpPr>
        <p:spPr>
          <a:xfrm>
            <a:off x="6267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固定雙模態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A77835-1994-4F0E-9885-CAA69B500C1C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47334B-CF6B-4E03-99CD-5EF113C55C40}"/>
              </a:ext>
            </a:extLst>
          </p:cNvPr>
          <p:cNvSpPr>
            <a:spLocks noGrp="1"/>
          </p:cNvSpPr>
          <p:nvPr/>
        </p:nvSpPr>
        <p:spPr>
          <a:xfrm>
            <a:off x="8553450" y="246697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固定最佳融合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0CAC00-B0A2-4E76-B8FC-F20A42833F83}"/>
              </a:ext>
            </a:extLst>
          </p:cNvPr>
          <p:cNvSpPr>
            <a:spLocks noGrp="1"/>
          </p:cNvSpPr>
          <p:nvPr/>
        </p:nvSpPr>
        <p:spPr>
          <a:xfrm>
            <a:off x="1562100" y="3076575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D00035-9DF7-4CC7-86BD-42074289B297}"/>
              </a:ext>
            </a:extLst>
          </p:cNvPr>
          <p:cNvSpPr>
            <a:spLocks noGrp="1"/>
          </p:cNvSpPr>
          <p:nvPr/>
        </p:nvSpPr>
        <p:spPr>
          <a:xfrm>
            <a:off x="1695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8824ACB-D519-4DD0-B392-77F163FF3F97}"/>
              </a:ext>
            </a:extLst>
          </p:cNvPr>
          <p:cNvSpPr>
            <a:spLocks noGrp="1"/>
          </p:cNvSpPr>
          <p:nvPr/>
        </p:nvSpPr>
        <p:spPr>
          <a:xfrm>
            <a:off x="3848100" y="307657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14F7FC-DA7B-46E5-83F7-2D966C3FAB6A}"/>
              </a:ext>
            </a:extLst>
          </p:cNvPr>
          <p:cNvSpPr>
            <a:spLocks noGrp="1"/>
          </p:cNvSpPr>
          <p:nvPr/>
        </p:nvSpPr>
        <p:spPr>
          <a:xfrm>
            <a:off x="3981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同骨幹內比較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39692D-17AC-4CE5-806B-3F4032436B4F}"/>
              </a:ext>
            </a:extLst>
          </p:cNvPr>
          <p:cNvSpPr>
            <a:spLocks noGrp="1"/>
          </p:cNvSpPr>
          <p:nvPr/>
        </p:nvSpPr>
        <p:spPr>
          <a:xfrm>
            <a:off x="6134100" y="307657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DE369F-3B4E-43D1-A0E3-BA535F7B1035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種 VLM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9417C7-234D-45DE-9DBA-76EB05B4AF65}"/>
              </a:ext>
            </a:extLst>
          </p:cNvPr>
          <p:cNvSpPr>
            <a:spLocks noGrp="1"/>
          </p:cNvSpPr>
          <p:nvPr/>
        </p:nvSpPr>
        <p:spPr>
          <a:xfrm>
            <a:off x="8420100" y="307657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27A133-182D-49BC-90CF-31D2740195D1}"/>
              </a:ext>
            </a:extLst>
          </p:cNvPr>
          <p:cNvSpPr>
            <a:spLocks noGrp="1"/>
          </p:cNvSpPr>
          <p:nvPr/>
        </p:nvSpPr>
        <p:spPr>
          <a:xfrm>
            <a:off x="8553450" y="32004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種 VLM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0481C1-D2C8-43C0-8DA0-FB0A18509C2D}"/>
              </a:ext>
            </a:extLst>
          </p:cNvPr>
          <p:cNvSpPr>
            <a:spLocks noGrp="1"/>
          </p:cNvSpPr>
          <p:nvPr/>
        </p:nvSpPr>
        <p:spPr>
          <a:xfrm>
            <a:off x="1562100" y="3810000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5478E4-85D1-45F3-A3A4-338AF9484E8A}"/>
              </a:ext>
            </a:extLst>
          </p:cNvPr>
          <p:cNvSpPr>
            <a:spLocks noGrp="1"/>
          </p:cNvSpPr>
          <p:nvPr/>
        </p:nvSpPr>
        <p:spPr>
          <a:xfrm>
            <a:off x="1695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199992D-BF8B-4124-9B55-B066417E600E}"/>
              </a:ext>
            </a:extLst>
          </p:cNvPr>
          <p:cNvSpPr>
            <a:spLocks noGrp="1"/>
          </p:cNvSpPr>
          <p:nvPr/>
        </p:nvSpPr>
        <p:spPr>
          <a:xfrm>
            <a:off x="3848100" y="381000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BABC7A-46B5-4018-AE33-CCE1E3DAC91D}"/>
              </a:ext>
            </a:extLst>
          </p:cNvPr>
          <p:cNvSpPr>
            <a:spLocks noGrp="1"/>
          </p:cNvSpPr>
          <p:nvPr/>
        </p:nvSpPr>
        <p:spPr>
          <a:xfrm>
            <a:off x="3981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UCF＋XD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CBDB6D1-C38A-4A6D-8676-4A817D763E8B}"/>
              </a:ext>
            </a:extLst>
          </p:cNvPr>
          <p:cNvSpPr>
            <a:spLocks noGrp="1"/>
          </p:cNvSpPr>
          <p:nvPr/>
        </p:nvSpPr>
        <p:spPr>
          <a:xfrm>
            <a:off x="6134100" y="381000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7D33EB-B96B-4340-9CBA-3BB59BB65E8F}"/>
              </a:ext>
            </a:extLst>
          </p:cNvPr>
          <p:cNvSpPr>
            <a:spLocks noGrp="1"/>
          </p:cNvSpPr>
          <p:nvPr/>
        </p:nvSpPr>
        <p:spPr>
          <a:xfrm>
            <a:off x="6267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UCF＋XD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63AB96-76D2-417A-98B3-31E30F2D33ED}"/>
              </a:ext>
            </a:extLst>
          </p:cNvPr>
          <p:cNvSpPr>
            <a:spLocks noGrp="1"/>
          </p:cNvSpPr>
          <p:nvPr/>
        </p:nvSpPr>
        <p:spPr>
          <a:xfrm>
            <a:off x="8420100" y="3810000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ADF0D3-8895-4F7D-8312-92FB2C09F941}"/>
              </a:ext>
            </a:extLst>
          </p:cNvPr>
          <p:cNvSpPr>
            <a:spLocks noGrp="1"/>
          </p:cNvSpPr>
          <p:nvPr/>
        </p:nvSpPr>
        <p:spPr>
          <a:xfrm>
            <a:off x="8553450" y="3933825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種污染 × 5 強度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35CC78-984D-4FBB-BA8E-A0C3CF22E90C}"/>
              </a:ext>
            </a:extLst>
          </p:cNvPr>
          <p:cNvSpPr>
            <a:spLocks noGrp="1"/>
          </p:cNvSpPr>
          <p:nvPr/>
        </p:nvSpPr>
        <p:spPr>
          <a:xfrm>
            <a:off x="1562100" y="4543425"/>
            <a:ext cx="2095500" cy="733425"/>
          </a:xfrm>
          <a:prstGeom prst="rect">
            <a:avLst/>
          </a:prstGeom>
          <a:solidFill>
            <a:srgbClr val="EFF3F6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41B1350-C827-44E7-B0F1-92EC370C456C}"/>
              </a:ext>
            </a:extLst>
          </p:cNvPr>
          <p:cNvSpPr>
            <a:spLocks noGrp="1"/>
          </p:cNvSpPr>
          <p:nvPr/>
        </p:nvSpPr>
        <p:spPr>
          <a:xfrm>
            <a:off x="1695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BFF87F-0E97-437E-9DAB-591E30A7785B}"/>
              </a:ext>
            </a:extLst>
          </p:cNvPr>
          <p:cNvSpPr>
            <a:spLocks noGrp="1"/>
          </p:cNvSpPr>
          <p:nvPr/>
        </p:nvSpPr>
        <p:spPr>
          <a:xfrm>
            <a:off x="3848100" y="454342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3D8A366-0F2C-47D3-A30A-13F275C98757}"/>
              </a:ext>
            </a:extLst>
          </p:cNvPr>
          <p:cNvSpPr>
            <a:spLocks noGrp="1"/>
          </p:cNvSpPr>
          <p:nvPr/>
        </p:nvSpPr>
        <p:spPr>
          <a:xfrm>
            <a:off x="3981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Late vs Gated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FA0278C-DC69-4A54-9BFB-4DEDD6C34F81}"/>
              </a:ext>
            </a:extLst>
          </p:cNvPr>
          <p:cNvSpPr>
            <a:spLocks noGrp="1"/>
          </p:cNvSpPr>
          <p:nvPr/>
        </p:nvSpPr>
        <p:spPr>
          <a:xfrm>
            <a:off x="6134100" y="454342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21C1765-CB5B-4432-A013-3F74FB3D2EE6}"/>
              </a:ext>
            </a:extLst>
          </p:cNvPr>
          <p:cNvSpPr>
            <a:spLocks noGrp="1"/>
          </p:cNvSpPr>
          <p:nvPr/>
        </p:nvSpPr>
        <p:spPr>
          <a:xfrm>
            <a:off x="6267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同一訓練頭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B2A580-AC24-43A9-81F4-24FBA163DC41}"/>
              </a:ext>
            </a:extLst>
          </p:cNvPr>
          <p:cNvSpPr>
            <a:spLocks noGrp="1"/>
          </p:cNvSpPr>
          <p:nvPr/>
        </p:nvSpPr>
        <p:spPr>
          <a:xfrm>
            <a:off x="8420100" y="4543425"/>
            <a:ext cx="20955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413DFFF-75B2-4BE8-8EB9-9E21FEEA0BC7}"/>
              </a:ext>
            </a:extLst>
          </p:cNvPr>
          <p:cNvSpPr>
            <a:spLocks noGrp="1"/>
          </p:cNvSpPr>
          <p:nvPr/>
        </p:nvSpPr>
        <p:spPr>
          <a:xfrm>
            <a:off x="8553450" y="46672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Source／TENT／SAR／本方法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ED22E769-6440-495E-9D8A-D175D001CEEA}"/>
              </a:ext>
            </a:extLst>
          </p:cNvPr>
          <p:cNvSpPr>
            <a:spLocks noGrp="1"/>
          </p:cNvSpPr>
          <p:nvPr/>
        </p:nvSpPr>
        <p:spPr>
          <a:xfrm>
            <a:off x="3295650" y="5619750"/>
            <a:ext cx="5600700" cy="609600"/>
          </a:xfrm>
          <a:prstGeom prst="roundRect">
            <a:avLst>
              <a:gd name="adj" fmla="val 12500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4AABDE8-5815-438C-9118-075F09F3E455}"/>
              </a:ext>
            </a:extLst>
          </p:cNvPr>
          <p:cNvSpPr>
            <a:spLocks noGrp="1"/>
          </p:cNvSpPr>
          <p:nvPr/>
        </p:nvSpPr>
        <p:spPr>
          <a:xfrm>
            <a:off x="3295650" y="5619750"/>
            <a:ext cx="66675" cy="6096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109B860-C7C1-4E57-B08A-8472A4FBB2C8}"/>
              </a:ext>
            </a:extLst>
          </p:cNvPr>
          <p:cNvSpPr>
            <a:spLocks noGrp="1"/>
          </p:cNvSpPr>
          <p:nvPr/>
        </p:nvSpPr>
        <p:spPr>
          <a:xfrm>
            <a:off x="3486150" y="5753100"/>
            <a:ext cx="527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重複實驗：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主要結果以 3 個隨機種子報告平均值與標準差。</a:t>
            </a:r>
          </a:p>
        </p:txBody>
      </p:sp>
      <p:sp>
        <p:nvSpPr>
          <p:cNvPr id="48" name="直線接點 47">
            <a:extLst>
              <a:ext uri="{FF2B5EF4-FFF2-40B4-BE49-F238E27FC236}">
                <a16:creationId xmlns:a16="http://schemas.microsoft.com/office/drawing/2014/main" id="{002D5CC6-0348-4BCF-B08A-A4E733AAE288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369FC70-5321-47AB-8C3B-35F5FA264C98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4 章實驗設計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C69E0A-7E42-4572-912C-1B3A6A9E3205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31621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0E85E86-0062-4508-823F-40ADF67A03F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章｜主要結果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35B1D1-533A-46D7-8BD4-1C261FD45ACF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門控融合在兩個資料集皆達最佳整體結果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36099F9-AF0C-4C1E-8ECE-B810BF634B8C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4BC91E-1E28-4688-9E6C-5C73BA8C256F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2362528"/>
            <a:ext cx="7477125" cy="2342494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E970C54-638A-4E51-AD90-30A5A293D0C4}"/>
              </a:ext>
            </a:extLst>
          </p:cNvPr>
          <p:cNvSpPr>
            <a:spLocks noGrp="1"/>
          </p:cNvSpPr>
          <p:nvPr/>
        </p:nvSpPr>
        <p:spPr>
          <a:xfrm>
            <a:off x="8515350" y="1847850"/>
            <a:ext cx="27432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C5C085-8297-4FE0-B4DC-F448272F52C5}"/>
              </a:ext>
            </a:extLst>
          </p:cNvPr>
          <p:cNvSpPr>
            <a:spLocks noGrp="1"/>
          </p:cNvSpPr>
          <p:nvPr/>
        </p:nvSpPr>
        <p:spPr>
          <a:xfrm>
            <a:off x="8667750" y="1971675"/>
            <a:ext cx="2438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82.5 ± 0.4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F274DC-C4F2-4FF3-AF89-396652E1DD8A}"/>
              </a:ext>
            </a:extLst>
          </p:cNvPr>
          <p:cNvSpPr>
            <a:spLocks noGrp="1"/>
          </p:cNvSpPr>
          <p:nvPr/>
        </p:nvSpPr>
        <p:spPr>
          <a:xfrm>
            <a:off x="8648700" y="24860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 AUC｜Gated + Giant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2E5F5E7-D2DF-4261-BC44-CDFD2BE55640}"/>
              </a:ext>
            </a:extLst>
          </p:cNvPr>
          <p:cNvSpPr>
            <a:spLocks noGrp="1"/>
          </p:cNvSpPr>
          <p:nvPr/>
        </p:nvSpPr>
        <p:spPr>
          <a:xfrm>
            <a:off x="8515350" y="3143250"/>
            <a:ext cx="27432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903401-D3A2-47DC-A218-5DC07CD281E6}"/>
              </a:ext>
            </a:extLst>
          </p:cNvPr>
          <p:cNvSpPr>
            <a:spLocks noGrp="1"/>
          </p:cNvSpPr>
          <p:nvPr/>
        </p:nvSpPr>
        <p:spPr>
          <a:xfrm>
            <a:off x="8667750" y="3267075"/>
            <a:ext cx="2438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78.7 ± 0.9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85AEAC-9E9F-4573-B854-BDB5ECA023D8}"/>
              </a:ext>
            </a:extLst>
          </p:cNvPr>
          <p:cNvSpPr>
            <a:spLocks noGrp="1"/>
          </p:cNvSpPr>
          <p:nvPr/>
        </p:nvSpPr>
        <p:spPr>
          <a:xfrm>
            <a:off x="8648700" y="37814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XD AP｜Gated + SO400M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7AA0A88-3D72-40C3-899B-1578CC5711ED}"/>
              </a:ext>
            </a:extLst>
          </p:cNvPr>
          <p:cNvSpPr>
            <a:spLocks noGrp="1"/>
          </p:cNvSpPr>
          <p:nvPr/>
        </p:nvSpPr>
        <p:spPr>
          <a:xfrm>
            <a:off x="8382000" y="4486275"/>
            <a:ext cx="3000375" cy="971550"/>
          </a:xfrm>
          <a:prstGeom prst="roundRect">
            <a:avLst>
              <a:gd name="adj" fmla="val 7843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F6A6BE-10B8-419B-91D0-2C93EB8B4D29}"/>
              </a:ext>
            </a:extLst>
          </p:cNvPr>
          <p:cNvSpPr>
            <a:spLocks noGrp="1"/>
          </p:cNvSpPr>
          <p:nvPr/>
        </p:nvSpPr>
        <p:spPr>
          <a:xfrm>
            <a:off x="8382000" y="4486275"/>
            <a:ext cx="66675" cy="9715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672AE6-9B5C-404D-A678-5ECB8D6B80B3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6765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14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一致性：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8 個骨幹 × 資料集組合中，門控皆不低於視覺單模態；6 組嚴格提升、2 組持平。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971C62-9447-4B37-8A99-4906FEB20E92}"/>
              </a:ext>
            </a:extLst>
          </p:cNvPr>
          <p:cNvSpPr>
            <a:spLocks noGrp="1"/>
          </p:cNvSpPr>
          <p:nvPr/>
        </p:nvSpPr>
        <p:spPr>
          <a:xfrm>
            <a:off x="8058150" y="57721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平均增益 +0.6 個百分點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C3735BDD-293A-4C0B-89D2-092A429392C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98F0D1-81A1-4CA8-952A-BF37FAD94113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來源：本論文圖 5.1、表 5.1、表 5.2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262B78-5ED6-4A62-AFBA-C852E625CAE9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81843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853FCE3-A124-4F71-A820-30530B12EAC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章｜消融分析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BBA44D-DA04-4E35-A358-F411C9FDACD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骨架不是主角：整體增益小而一致，類別層級呈方向性支持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AB28E06-44EE-42DC-B15B-BF3E0297E2D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32C04B-0235-442A-9763-1F5A33B72A2B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2231512"/>
            <a:ext cx="7086600" cy="2442601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8BC2ADE9-A0E7-4CE0-B0A4-5E2539575BD0}"/>
              </a:ext>
            </a:extLst>
          </p:cNvPr>
          <p:cNvSpPr>
            <a:spLocks noGrp="1"/>
          </p:cNvSpPr>
          <p:nvPr/>
        </p:nvSpPr>
        <p:spPr>
          <a:xfrm>
            <a:off x="8058150" y="1724025"/>
            <a:ext cx="3486150" cy="161925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EAD935-52F3-4FB2-896E-7D87E18F92D1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2990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單獨骨架表現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206743-72D5-48FB-B677-6240AEB9087A}"/>
              </a:ext>
            </a:extLst>
          </p:cNvPr>
          <p:cNvSpPr>
            <a:spLocks noGrp="1"/>
          </p:cNvSpPr>
          <p:nvPr/>
        </p:nvSpPr>
        <p:spPr>
          <a:xfrm>
            <a:off x="8372475" y="24098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UCF  68.8 ± 2.8 AUC</a:t>
            </a: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XD     40.8 ± 0.6 AP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6E2905-31D0-4185-851A-4781F754C20C}"/>
              </a:ext>
            </a:extLst>
          </p:cNvPr>
          <p:cNvSpPr>
            <a:spLocks noGrp="1"/>
          </p:cNvSpPr>
          <p:nvPr/>
        </p:nvSpPr>
        <p:spPr>
          <a:xfrm>
            <a:off x="8058150" y="3552825"/>
            <a:ext cx="3486150" cy="1619250"/>
          </a:xfrm>
          <a:prstGeom prst="roundRect">
            <a:avLst>
              <a:gd name="adj" fmla="val 470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11C2BD-8682-40AB-BAA2-B3BBF978BB2C}"/>
              </a:ext>
            </a:extLst>
          </p:cNvPr>
          <p:cNvSpPr>
            <a:spLocks noGrp="1"/>
          </p:cNvSpPr>
          <p:nvPr/>
        </p:nvSpPr>
        <p:spPr>
          <a:xfrm>
            <a:off x="8267700" y="37719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門控相對晚期融合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8BE066-80A4-4D98-A482-5C9661A8180D}"/>
              </a:ext>
            </a:extLst>
          </p:cNvPr>
          <p:cNvSpPr>
            <a:spLocks noGrp="1"/>
          </p:cNvSpPr>
          <p:nvPr/>
        </p:nvSpPr>
        <p:spPr>
          <a:xfrm>
            <a:off x="8334375" y="4238625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UCF  +1.8 ～ +2.6</a:t>
            </a:r>
          </a:p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XD   +10.9 ～ +13.0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A4D3F8-EDBD-48CA-89C9-BFD0FBDB4B83}"/>
              </a:ext>
            </a:extLst>
          </p:cNvPr>
          <p:cNvSpPr>
            <a:spLocks noGrp="1"/>
          </p:cNvSpPr>
          <p:nvPr/>
        </p:nvSpPr>
        <p:spPr>
          <a:xfrm>
            <a:off x="628650" y="5162550"/>
            <a:ext cx="708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類別分析圖：CLIP ViT-B/16、單一種子（s42）、探索性分析；正式 3 種子數據見論文表格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0267A8C-7D2C-48F3-841F-314E47B78545}"/>
              </a:ext>
            </a:extLst>
          </p:cNvPr>
          <p:cNvSpPr>
            <a:spLocks noGrp="1"/>
          </p:cNvSpPr>
          <p:nvPr/>
        </p:nvSpPr>
        <p:spPr>
          <a:xfrm>
            <a:off x="1876425" y="5543550"/>
            <a:ext cx="8439150" cy="628650"/>
          </a:xfrm>
          <a:prstGeom prst="roundRect">
            <a:avLst>
              <a:gd name="adj" fmla="val 1212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614A35-A59F-4578-A6ED-4F1DC5F9E556}"/>
              </a:ext>
            </a:extLst>
          </p:cNvPr>
          <p:cNvSpPr>
            <a:spLocks noGrp="1"/>
          </p:cNvSpPr>
          <p:nvPr/>
        </p:nvSpPr>
        <p:spPr>
          <a:xfrm>
            <a:off x="1876425" y="5543550"/>
            <a:ext cx="66675" cy="6286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4AE802-C437-4507-9B53-651A341F7F05}"/>
              </a:ext>
            </a:extLst>
          </p:cNvPr>
          <p:cNvSpPr>
            <a:spLocks noGrp="1"/>
          </p:cNvSpPr>
          <p:nvPr/>
        </p:nvSpPr>
        <p:spPr>
          <a:xfrm>
            <a:off x="2066925" y="5676900"/>
            <a:ext cx="811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解讀：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骨架單獨不足以取代視覺；價值在於當視覺不確定時，提供結構性補證。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F7E8C155-B779-49DA-86A2-87DABD55FFC9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61E526-004D-428D-A2EC-17957A1C71AF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5.1、5.3 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D8892A-32A9-4103-8F8F-10278C208588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146708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19C193E-7658-4942-B049-983E805B941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章｜骨幹比較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D6AD5A-D0E0-4268-9FA1-34491BC70DA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最佳骨幹依資料集而變：模型更大，不代表任務一定更好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28FBC5E-CF8B-4265-A39E-DB1AD276298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6A649B-F562-48DF-8626-CD61EB54DA2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D98B31C-8DCD-4D63-82DB-001B7ABDFCED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219700" cy="339090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E5464A9-154A-4AEF-AFE0-C92057A9D45E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EABB37-5BF0-436A-B66A-2557E0F26480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UCF-Crime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F0CB89-083B-4376-A90F-02ABBB00A0E3}"/>
              </a:ext>
            </a:extLst>
          </p:cNvPr>
          <p:cNvSpPr>
            <a:spLocks noGrp="1"/>
          </p:cNvSpPr>
          <p:nvPr/>
        </p:nvSpPr>
        <p:spPr>
          <a:xfrm>
            <a:off x="885825" y="2466975"/>
            <a:ext cx="443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SigLIP2 Giant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BEB7BD-7E5B-459E-A8F5-220D073DC060}"/>
              </a:ext>
            </a:extLst>
          </p:cNvPr>
          <p:cNvSpPr>
            <a:spLocks noGrp="1"/>
          </p:cNvSpPr>
          <p:nvPr/>
        </p:nvSpPr>
        <p:spPr>
          <a:xfrm>
            <a:off x="885825" y="3086100"/>
            <a:ext cx="443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82.5 ± 0.4 AUC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9B25BA-D39D-4111-B6FE-EF7B93159CFB}"/>
              </a:ext>
            </a:extLst>
          </p:cNvPr>
          <p:cNvSpPr>
            <a:spLocks noGrp="1"/>
          </p:cNvSpPr>
          <p:nvPr/>
        </p:nvSpPr>
        <p:spPr>
          <a:xfrm>
            <a:off x="1009650" y="392430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這可能反映：監視場景較一致，最大骨幹的語意容量有利</a:t>
            </a:r>
            <a:endParaRPr sz="1350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DB443BC-2315-44B0-8493-EBAC868D0052}"/>
              </a:ext>
            </a:extLst>
          </p:cNvPr>
          <p:cNvSpPr>
            <a:spLocks noGrp="1"/>
          </p:cNvSpPr>
          <p:nvPr/>
        </p:nvSpPr>
        <p:spPr>
          <a:xfrm>
            <a:off x="6343650" y="1714500"/>
            <a:ext cx="5219700" cy="339090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12DDEDA-5A3A-41C5-AC85-1023789554FE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20C350-6364-407F-85D8-C71E16645C83}"/>
              </a:ext>
            </a:extLst>
          </p:cNvPr>
          <p:cNvSpPr>
            <a:spLocks noGrp="1"/>
          </p:cNvSpPr>
          <p:nvPr/>
        </p:nvSpPr>
        <p:spPr>
          <a:xfrm>
            <a:off x="6591300" y="195262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XD-Violence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48896E-9878-47D0-917D-C3ADB2F4509C}"/>
              </a:ext>
            </a:extLst>
          </p:cNvPr>
          <p:cNvSpPr>
            <a:spLocks noGrp="1"/>
          </p:cNvSpPr>
          <p:nvPr/>
        </p:nvSpPr>
        <p:spPr>
          <a:xfrm>
            <a:off x="6600825" y="2466975"/>
            <a:ext cx="443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SigLIP2 SO400M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3A3754-296B-4C0C-9B0D-706C02B4496C}"/>
              </a:ext>
            </a:extLst>
          </p:cNvPr>
          <p:cNvSpPr>
            <a:spLocks noGrp="1"/>
          </p:cNvSpPr>
          <p:nvPr/>
        </p:nvSpPr>
        <p:spPr>
          <a:xfrm>
            <a:off x="6600825" y="3086100"/>
            <a:ext cx="443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78.7 ± 0.9 AP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6FFFCB-2EB8-4F10-BABC-4251BD201073}"/>
              </a:ext>
            </a:extLst>
          </p:cNvPr>
          <p:cNvSpPr>
            <a:spLocks noGrp="1"/>
          </p:cNvSpPr>
          <p:nvPr/>
        </p:nvSpPr>
        <p:spPr>
          <a:xfrm>
            <a:off x="6724650" y="392430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這可能反映：來源更異質，中大型骨幹的表徵匹配較佳</a:t>
            </a:r>
            <a:endParaRPr sz="1350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20F4AD-A053-4166-855E-6F5D2EC41FED}"/>
              </a:ext>
            </a:extLst>
          </p:cNvPr>
          <p:cNvSpPr>
            <a:spLocks noGrp="1"/>
          </p:cNvSpPr>
          <p:nvPr/>
        </p:nvSpPr>
        <p:spPr>
          <a:xfrm>
            <a:off x="2028825" y="5543550"/>
            <a:ext cx="8134350" cy="628650"/>
          </a:xfrm>
          <a:prstGeom prst="roundRect">
            <a:avLst>
              <a:gd name="adj" fmla="val 12121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CA17E5-75DC-487E-85F6-7C65978B93B9}"/>
              </a:ext>
            </a:extLst>
          </p:cNvPr>
          <p:cNvSpPr>
            <a:spLocks noGrp="1"/>
          </p:cNvSpPr>
          <p:nvPr/>
        </p:nvSpPr>
        <p:spPr>
          <a:xfrm>
            <a:off x="2028825" y="5543550"/>
            <a:ext cx="66675" cy="6286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B39D0A-8F52-4AAB-9EEF-6A4427E968B0}"/>
              </a:ext>
            </a:extLst>
          </p:cNvPr>
          <p:cNvSpPr>
            <a:spLocks noGrp="1"/>
          </p:cNvSpPr>
          <p:nvPr/>
        </p:nvSpPr>
        <p:spPr>
          <a:xfrm>
            <a:off x="2219325" y="56769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結論：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骨幹選擇應由資料特性與驗證結果決定，不宜只依參數量排序。</a:t>
            </a: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E1A30A4F-F188-4CAE-A4D5-410CCED9541D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645ACD-7A02-4DBA-93B6-F466353FDD37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5.2 節骨幹比較分析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4D7342-0D0F-4FEA-9834-EB8D0A3F92BF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195001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C691D01-E071-4DB2-AAF2-5E46A9A89D9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5 章｜質化分析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97F9F1-136F-4250-8C28-76327F5D78D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6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事件時間可被定位，但分數校準仍有改善空間（案例：</a:t>
            </a:r>
            <a:r>
              <a:rPr lang="en-US" sz="26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Fighting047）</a:t>
            </a:r>
            <a:endParaRPr sz="2600" b="1">
              <a:solidFill>
                <a:srgbClr val="0B254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136D8C8-71D0-476A-9965-DC16DD44CBB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33E324-6130-45D4-9CDB-000FEA54B2F4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5770" y="1752600"/>
            <a:ext cx="5719011" cy="3067050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20050" y="2190750"/>
            <a:ext cx="3505200" cy="2190750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4EE274C-387B-4F98-B7CC-D969FEBBBCAD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5219700" cy="762000"/>
          </a:xfrm>
          <a:prstGeom prst="roundRect">
            <a:avLst>
              <a:gd name="adj" fmla="val 10000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5D21E-F478-4C78-B697-3EDF7AEDF826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66675" cy="7620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A33C8A-0026-4545-ACF8-7EDAC563C30A}"/>
              </a:ext>
            </a:extLst>
          </p:cNvPr>
          <p:cNvSpPr>
            <a:spLocks noGrp="1"/>
          </p:cNvSpPr>
          <p:nvPr/>
        </p:nvSpPr>
        <p:spPr>
          <a:xfrm>
            <a:off x="819150" y="5257800"/>
            <a:ext cx="4895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定位能力：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門控分數在真實異常區段快速升高，事件結束後回落。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D679A85-9363-4D0B-B91C-D88294B93216}"/>
              </a:ext>
            </a:extLst>
          </p:cNvPr>
          <p:cNvSpPr>
            <a:spLocks noGrp="1"/>
          </p:cNvSpPr>
          <p:nvPr/>
        </p:nvSpPr>
        <p:spPr>
          <a:xfrm>
            <a:off x="6172200" y="5124450"/>
            <a:ext cx="5353050" cy="762000"/>
          </a:xfrm>
          <a:prstGeom prst="roundRect">
            <a:avLst>
              <a:gd name="adj" fmla="val 100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B5E919-82B0-4C94-A054-92AB669E9762}"/>
              </a:ext>
            </a:extLst>
          </p:cNvPr>
          <p:cNvSpPr>
            <a:spLocks noGrp="1"/>
          </p:cNvSpPr>
          <p:nvPr/>
        </p:nvSpPr>
        <p:spPr>
          <a:xfrm>
            <a:off x="6172200" y="5124450"/>
            <a:ext cx="66675" cy="7620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7F96DB-12EA-42FF-81DD-4623F016BE18}"/>
              </a:ext>
            </a:extLst>
          </p:cNvPr>
          <p:cNvSpPr>
            <a:spLocks noGrp="1"/>
          </p:cNvSpPr>
          <p:nvPr/>
        </p:nvSpPr>
        <p:spPr>
          <a:xfrm>
            <a:off x="6362700" y="5257800"/>
            <a:ext cx="502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校準問題：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正常影格第 75 百分位仍達 0.986；排序可用，不等於閾值可直接部署。</a:t>
            </a:r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4A504D72-2BD5-4E8A-8416-A0482603A017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EFE469-9391-4B37-AB1D-D08C71BCC1FD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5.7 節質化分析與第 5.8 節失效分析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6510C8-4F10-4192-B6A8-727F56168BDE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888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BDF74B0-A0FA-41F6-8958-167D79DC53B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章｜分布偏移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4A07DB-A3CD-4CA8-A1EA-15687D909E03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UCF-Crime-C：20 個污染條件下，來源模型出現系統性退化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CDF8CF5-B0E0-4D7F-A8C2-95637EF751B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2DE89C-AA43-404D-810C-7E9CC779DE67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57898" y="1657350"/>
            <a:ext cx="3513904" cy="41433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6516B7-2961-43A5-98ED-7E75A9BE51FC}"/>
              </a:ext>
            </a:extLst>
          </p:cNvPr>
          <p:cNvSpPr>
            <a:spLocks noGrp="1"/>
          </p:cNvSpPr>
          <p:nvPr/>
        </p:nvSpPr>
        <p:spPr>
          <a:xfrm>
            <a:off x="8763000" y="17716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污染家族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763804B-02AC-42CB-B15C-C40808B9A440}"/>
              </a:ext>
            </a:extLst>
          </p:cNvPr>
          <p:cNvSpPr>
            <a:spLocks noGrp="1"/>
          </p:cNvSpPr>
          <p:nvPr/>
        </p:nvSpPr>
        <p:spPr>
          <a:xfrm>
            <a:off x="8801100" y="220980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5C3981-492C-4543-A358-6781E9D10E02}"/>
              </a:ext>
            </a:extLst>
          </p:cNvPr>
          <p:cNvSpPr>
            <a:spLocks noGrp="1"/>
          </p:cNvSpPr>
          <p:nvPr/>
        </p:nvSpPr>
        <p:spPr>
          <a:xfrm>
            <a:off x="8801100" y="231457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Gaussian noise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71E6641-8A90-4DDA-922F-B352CC16AF00}"/>
              </a:ext>
            </a:extLst>
          </p:cNvPr>
          <p:cNvSpPr>
            <a:spLocks noGrp="1"/>
          </p:cNvSpPr>
          <p:nvPr/>
        </p:nvSpPr>
        <p:spPr>
          <a:xfrm>
            <a:off x="8801100" y="287655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46C852-D7F5-49AC-9946-E6309B8F4BBE}"/>
              </a:ext>
            </a:extLst>
          </p:cNvPr>
          <p:cNvSpPr>
            <a:spLocks noGrp="1"/>
          </p:cNvSpPr>
          <p:nvPr/>
        </p:nvSpPr>
        <p:spPr>
          <a:xfrm>
            <a:off x="8801100" y="29813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Motion blur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D7EE56D-F413-48C8-86FE-5DD462A41A31}"/>
              </a:ext>
            </a:extLst>
          </p:cNvPr>
          <p:cNvSpPr>
            <a:spLocks noGrp="1"/>
          </p:cNvSpPr>
          <p:nvPr/>
        </p:nvSpPr>
        <p:spPr>
          <a:xfrm>
            <a:off x="8801100" y="354330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A7AAC9-2F03-4276-B0DF-67A34CCB7049}"/>
              </a:ext>
            </a:extLst>
          </p:cNvPr>
          <p:cNvSpPr>
            <a:spLocks noGrp="1"/>
          </p:cNvSpPr>
          <p:nvPr/>
        </p:nvSpPr>
        <p:spPr>
          <a:xfrm>
            <a:off x="8801100" y="364807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Brightness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C2A567A-9D3D-4354-9F02-981B99F2E101}"/>
              </a:ext>
            </a:extLst>
          </p:cNvPr>
          <p:cNvSpPr>
            <a:spLocks noGrp="1"/>
          </p:cNvSpPr>
          <p:nvPr/>
        </p:nvSpPr>
        <p:spPr>
          <a:xfrm>
            <a:off x="8801100" y="4210050"/>
            <a:ext cx="2305050" cy="476250"/>
          </a:xfrm>
          <a:prstGeom prst="roundRect">
            <a:avLst>
              <a:gd name="adj" fmla="val 16000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65AE97-BA01-4017-919D-8CFA210F80ED}"/>
              </a:ext>
            </a:extLst>
          </p:cNvPr>
          <p:cNvSpPr>
            <a:spLocks noGrp="1"/>
          </p:cNvSpPr>
          <p:nvPr/>
        </p:nvSpPr>
        <p:spPr>
          <a:xfrm>
            <a:off x="8801100" y="43148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JPEG compression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18F5CC0-A82E-4F25-B287-20E66D185457}"/>
              </a:ext>
            </a:extLst>
          </p:cNvPr>
          <p:cNvSpPr>
            <a:spLocks noGrp="1"/>
          </p:cNvSpPr>
          <p:nvPr/>
        </p:nvSpPr>
        <p:spPr>
          <a:xfrm>
            <a:off x="8591550" y="5095875"/>
            <a:ext cx="2762250" cy="876300"/>
          </a:xfrm>
          <a:prstGeom prst="roundRect">
            <a:avLst>
              <a:gd name="adj" fmla="val 869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FD1296-FAB0-4274-88B4-4A4190FA81EE}"/>
              </a:ext>
            </a:extLst>
          </p:cNvPr>
          <p:cNvSpPr>
            <a:spLocks noGrp="1"/>
          </p:cNvSpPr>
          <p:nvPr/>
        </p:nvSpPr>
        <p:spPr>
          <a:xfrm>
            <a:off x="8591550" y="5095875"/>
            <a:ext cx="66675" cy="8763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C27790-334E-4041-95AE-21DA94C6F17D}"/>
              </a:ext>
            </a:extLst>
          </p:cNvPr>
          <p:cNvSpPr>
            <a:spLocks noGrp="1"/>
          </p:cNvSpPr>
          <p:nvPr/>
        </p:nvSpPr>
        <p:spPr>
          <a:xfrm>
            <a:off x="8782050" y="5229225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375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觀察：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不同骨幹的弱點不一致；單一固定增強或單一路徑難以涵蓋所有污染。</a:t>
            </a:r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319F588B-0E7C-4B58-96CF-8F8B983C68CD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F5E5F5-4B60-4821-B5D1-9F2FEFB36C8E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6.1 節，4 種 corruption × 5 強度 × 4 骨幹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210AB-F211-46C6-9574-D9685C6FE20B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928311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FA4C2F8D-06D0-47B4-91F7-EE6CDC059CE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章｜既有 TTA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B3B424-E9C2-4B86-A446-D5CD4331A3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6109"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本協定下，</a:t>
            </a:r>
            <a:r>
              <a:rPr lang="en-US" altLang="zh-TW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TENT</a:t>
            </a:r>
            <a:r>
              <a:rPr lang="zh-TW" altLang="en-US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／</a:t>
            </a:r>
            <a:r>
              <a:rPr lang="en-US" altLang="zh-TW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SAR </a:t>
            </a:r>
            <a:r>
              <a:rPr lang="zh-TW" altLang="en-US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幾乎不改變 </a:t>
            </a:r>
            <a:r>
              <a:rPr lang="en-US" altLang="zh-TW"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AUC</a:t>
            </a:r>
            <a:endParaRPr sz="2850" b="1">
              <a:solidFill>
                <a:srgbClr val="0B254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45BBBE8-ACE9-45AB-A1E1-2E9A2B5414BA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AD9EB3-3A41-4461-A492-322F71F0F2B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CD7A1F-26FB-44B5-B222-69A0B104A3EC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2895600" cy="514350"/>
          </a:xfrm>
          <a:prstGeom prst="rect">
            <a:avLst/>
          </a:prstGeom>
          <a:solidFill>
            <a:srgbClr val="0B2545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E9DAAA-23D5-45AD-AEE2-0866DE75303A}"/>
              </a:ext>
            </a:extLst>
          </p:cNvPr>
          <p:cNvSpPr>
            <a:spLocks noGrp="1"/>
          </p:cNvSpPr>
          <p:nvPr/>
        </p:nvSpPr>
        <p:spPr>
          <a:xfrm>
            <a:off x="1085850" y="1914525"/>
            <a:ext cx="2705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骨幹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D4FD1E-8881-4509-8702-987BA7804D66}"/>
              </a:ext>
            </a:extLst>
          </p:cNvPr>
          <p:cNvSpPr>
            <a:spLocks noGrp="1"/>
          </p:cNvSpPr>
          <p:nvPr/>
        </p:nvSpPr>
        <p:spPr>
          <a:xfrm>
            <a:off x="3886200" y="1809750"/>
            <a:ext cx="264795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0AC325-7A8D-4003-B306-8373ACA993D6}"/>
              </a:ext>
            </a:extLst>
          </p:cNvPr>
          <p:cNvSpPr>
            <a:spLocks noGrp="1"/>
          </p:cNvSpPr>
          <p:nvPr/>
        </p:nvSpPr>
        <p:spPr>
          <a:xfrm>
            <a:off x="3981450" y="1914525"/>
            <a:ext cx="2457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TENT </a:t>
            </a:r>
            <a:r>
              <a:rPr lang="el-GR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Δ</a:t>
            </a: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AUC（</a:t>
            </a:r>
            <a:r>
              <a:rPr lang="zh-TW" alt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百分點）</a:t>
            </a:r>
            <a:endParaRPr sz="1275" b="1">
              <a:solidFill>
                <a:srgbClr val="1F4E7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22ADC2-66B1-4DFD-9C43-B8ADB3061D80}"/>
              </a:ext>
            </a:extLst>
          </p:cNvPr>
          <p:cNvSpPr>
            <a:spLocks noGrp="1"/>
          </p:cNvSpPr>
          <p:nvPr/>
        </p:nvSpPr>
        <p:spPr>
          <a:xfrm>
            <a:off x="6534150" y="1809750"/>
            <a:ext cx="264795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9E243D-972E-4037-83C3-9DB419B41E8F}"/>
              </a:ext>
            </a:extLst>
          </p:cNvPr>
          <p:cNvSpPr>
            <a:spLocks noGrp="1"/>
          </p:cNvSpPr>
          <p:nvPr/>
        </p:nvSpPr>
        <p:spPr>
          <a:xfrm>
            <a:off x="6629400" y="1914525"/>
            <a:ext cx="2457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SAR </a:t>
            </a:r>
            <a:r>
              <a:rPr lang="el-GR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Δ</a:t>
            </a:r>
            <a:r>
              <a:rPr 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AUC（</a:t>
            </a:r>
            <a:r>
              <a:rPr lang="zh-TW" altLang="en-US"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百分點）</a:t>
            </a:r>
            <a:endParaRPr sz="1275" b="1">
              <a:solidFill>
                <a:srgbClr val="1F4E7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0980CA-75B1-41F2-B058-A4E3AC23E392}"/>
              </a:ext>
            </a:extLst>
          </p:cNvPr>
          <p:cNvSpPr>
            <a:spLocks noGrp="1"/>
          </p:cNvSpPr>
          <p:nvPr/>
        </p:nvSpPr>
        <p:spPr>
          <a:xfrm>
            <a:off x="9182100" y="1809750"/>
            <a:ext cx="201930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EB45E3-E752-4E35-9BEC-E93350887542}"/>
              </a:ext>
            </a:extLst>
          </p:cNvPr>
          <p:cNvSpPr>
            <a:spLocks noGrp="1"/>
          </p:cNvSpPr>
          <p:nvPr/>
        </p:nvSpPr>
        <p:spPr>
          <a:xfrm>
            <a:off x="9277350" y="1914525"/>
            <a:ext cx="18288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判讀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0829F5-06FC-4590-9911-24F9F5A608C9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E35D3E-817B-4822-B763-1178181A5A33}"/>
              </a:ext>
            </a:extLst>
          </p:cNvPr>
          <p:cNvSpPr>
            <a:spLocks noGrp="1"/>
          </p:cNvSpPr>
          <p:nvPr/>
        </p:nvSpPr>
        <p:spPr>
          <a:xfrm>
            <a:off x="1085850" y="24479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CLIP ViT-B/16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BD8800-6C99-4C35-AA6A-DFAE7D900A5E}"/>
              </a:ext>
            </a:extLst>
          </p:cNvPr>
          <p:cNvSpPr>
            <a:spLocks noGrp="1"/>
          </p:cNvSpPr>
          <p:nvPr/>
        </p:nvSpPr>
        <p:spPr>
          <a:xfrm>
            <a:off x="3886200" y="232410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AADCE2-B0D2-4E2B-9E41-47B82F9072A8}"/>
              </a:ext>
            </a:extLst>
          </p:cNvPr>
          <p:cNvSpPr>
            <a:spLocks noGrp="1"/>
          </p:cNvSpPr>
          <p:nvPr/>
        </p:nvSpPr>
        <p:spPr>
          <a:xfrm>
            <a:off x="3981450" y="244792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D7EA10-3E0B-46DF-A8BD-6D8D6764A974}"/>
              </a:ext>
            </a:extLst>
          </p:cNvPr>
          <p:cNvSpPr>
            <a:spLocks noGrp="1"/>
          </p:cNvSpPr>
          <p:nvPr/>
        </p:nvSpPr>
        <p:spPr>
          <a:xfrm>
            <a:off x="6534150" y="232410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CB3F03-AC85-4001-A80D-8564C13F9FBA}"/>
              </a:ext>
            </a:extLst>
          </p:cNvPr>
          <p:cNvSpPr>
            <a:spLocks noGrp="1"/>
          </p:cNvSpPr>
          <p:nvPr/>
        </p:nvSpPr>
        <p:spPr>
          <a:xfrm>
            <a:off x="6629400" y="244792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9BD016-EC8B-49FB-8C01-5863ED558341}"/>
              </a:ext>
            </a:extLst>
          </p:cNvPr>
          <p:cNvSpPr>
            <a:spLocks noGrp="1"/>
          </p:cNvSpPr>
          <p:nvPr/>
        </p:nvSpPr>
        <p:spPr>
          <a:xfrm>
            <a:off x="9182100" y="2324100"/>
            <a:ext cx="20193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51BC17-0C04-4AA9-9412-8075BF8D55A2}"/>
              </a:ext>
            </a:extLst>
          </p:cNvPr>
          <p:cNvSpPr>
            <a:spLocks noGrp="1"/>
          </p:cNvSpPr>
          <p:nvPr/>
        </p:nvSpPr>
        <p:spPr>
          <a:xfrm>
            <a:off x="9277350" y="2447925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近零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153E26-D7EE-47FA-8CA6-54302D110793}"/>
              </a:ext>
            </a:extLst>
          </p:cNvPr>
          <p:cNvSpPr>
            <a:spLocks noGrp="1"/>
          </p:cNvSpPr>
          <p:nvPr/>
        </p:nvSpPr>
        <p:spPr>
          <a:xfrm>
            <a:off x="990600" y="2943225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52D8FF-7C7D-46A0-A3ED-EE50049B8D1D}"/>
              </a:ext>
            </a:extLst>
          </p:cNvPr>
          <p:cNvSpPr>
            <a:spLocks noGrp="1"/>
          </p:cNvSpPr>
          <p:nvPr/>
        </p:nvSpPr>
        <p:spPr>
          <a:xfrm>
            <a:off x="1085850" y="3067050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SigLIP2 Base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3CA67-26DF-4655-AA90-8857FE451A1C}"/>
              </a:ext>
            </a:extLst>
          </p:cNvPr>
          <p:cNvSpPr>
            <a:spLocks noGrp="1"/>
          </p:cNvSpPr>
          <p:nvPr/>
        </p:nvSpPr>
        <p:spPr>
          <a:xfrm>
            <a:off x="3886200" y="294322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9C14A9-BC85-4951-8C7C-A0BB09100D6E}"/>
              </a:ext>
            </a:extLst>
          </p:cNvPr>
          <p:cNvSpPr>
            <a:spLocks noGrp="1"/>
          </p:cNvSpPr>
          <p:nvPr/>
        </p:nvSpPr>
        <p:spPr>
          <a:xfrm>
            <a:off x="3981450" y="306705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−0.082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166DFB-B70F-4485-ABCF-75483B32F375}"/>
              </a:ext>
            </a:extLst>
          </p:cNvPr>
          <p:cNvSpPr>
            <a:spLocks noGrp="1"/>
          </p:cNvSpPr>
          <p:nvPr/>
        </p:nvSpPr>
        <p:spPr>
          <a:xfrm>
            <a:off x="6534150" y="294322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E83A7B-9FDD-49B7-998F-80B781A9C31B}"/>
              </a:ext>
            </a:extLst>
          </p:cNvPr>
          <p:cNvSpPr>
            <a:spLocks noGrp="1"/>
          </p:cNvSpPr>
          <p:nvPr/>
        </p:nvSpPr>
        <p:spPr>
          <a:xfrm>
            <a:off x="6629400" y="306705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−0.077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F17238-A7B1-44ED-AB9A-9586F00C6D28}"/>
              </a:ext>
            </a:extLst>
          </p:cNvPr>
          <p:cNvSpPr>
            <a:spLocks noGrp="1"/>
          </p:cNvSpPr>
          <p:nvPr/>
        </p:nvSpPr>
        <p:spPr>
          <a:xfrm>
            <a:off x="9182100" y="2943225"/>
            <a:ext cx="2019300" cy="619125"/>
          </a:xfrm>
          <a:prstGeom prst="rect">
            <a:avLst/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C13130-85A6-43C1-8690-FBB83254D561}"/>
              </a:ext>
            </a:extLst>
          </p:cNvPr>
          <p:cNvSpPr>
            <a:spLocks noGrp="1"/>
          </p:cNvSpPr>
          <p:nvPr/>
        </p:nvSpPr>
        <p:spPr>
          <a:xfrm>
            <a:off x="9277350" y="3067050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微降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1014EA-906E-4B40-9F16-DCE1164930C0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A01C09-C4B7-4EB5-9954-080CF9CA7166}"/>
              </a:ext>
            </a:extLst>
          </p:cNvPr>
          <p:cNvSpPr>
            <a:spLocks noGrp="1"/>
          </p:cNvSpPr>
          <p:nvPr/>
        </p:nvSpPr>
        <p:spPr>
          <a:xfrm>
            <a:off x="1085850" y="36861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SigLIP2 SO400M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691D09-E23E-43D9-ADC8-8AEF18AF57C5}"/>
              </a:ext>
            </a:extLst>
          </p:cNvPr>
          <p:cNvSpPr>
            <a:spLocks noGrp="1"/>
          </p:cNvSpPr>
          <p:nvPr/>
        </p:nvSpPr>
        <p:spPr>
          <a:xfrm>
            <a:off x="3886200" y="356235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41E870A-3535-4306-A63D-B049ACA8E4F4}"/>
              </a:ext>
            </a:extLst>
          </p:cNvPr>
          <p:cNvSpPr>
            <a:spLocks noGrp="1"/>
          </p:cNvSpPr>
          <p:nvPr/>
        </p:nvSpPr>
        <p:spPr>
          <a:xfrm>
            <a:off x="3981450" y="368617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−0.050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B1953A-6FC2-4E0E-86E4-C14E773561AA}"/>
              </a:ext>
            </a:extLst>
          </p:cNvPr>
          <p:cNvSpPr>
            <a:spLocks noGrp="1"/>
          </p:cNvSpPr>
          <p:nvPr/>
        </p:nvSpPr>
        <p:spPr>
          <a:xfrm>
            <a:off x="6534150" y="3562350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A0A48E-7A7D-4A42-BA13-9F1886E618E6}"/>
              </a:ext>
            </a:extLst>
          </p:cNvPr>
          <p:cNvSpPr>
            <a:spLocks noGrp="1"/>
          </p:cNvSpPr>
          <p:nvPr/>
        </p:nvSpPr>
        <p:spPr>
          <a:xfrm>
            <a:off x="6629400" y="3686175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−0.051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A4D96D-305C-4730-A2B3-0E94008DE06D}"/>
              </a:ext>
            </a:extLst>
          </p:cNvPr>
          <p:cNvSpPr>
            <a:spLocks noGrp="1"/>
          </p:cNvSpPr>
          <p:nvPr/>
        </p:nvSpPr>
        <p:spPr>
          <a:xfrm>
            <a:off x="9182100" y="3562350"/>
            <a:ext cx="2019300" cy="619125"/>
          </a:xfrm>
          <a:prstGeom prst="rect">
            <a:avLst/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D7E86D-5F39-4347-8F58-51D814632FFF}"/>
              </a:ext>
            </a:extLst>
          </p:cNvPr>
          <p:cNvSpPr>
            <a:spLocks noGrp="1"/>
          </p:cNvSpPr>
          <p:nvPr/>
        </p:nvSpPr>
        <p:spPr>
          <a:xfrm>
            <a:off x="9277350" y="3686175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微降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E64B7EA-7FD9-41AF-AC8C-F5A14F240AA5}"/>
              </a:ext>
            </a:extLst>
          </p:cNvPr>
          <p:cNvSpPr>
            <a:spLocks noGrp="1"/>
          </p:cNvSpPr>
          <p:nvPr/>
        </p:nvSpPr>
        <p:spPr>
          <a:xfrm>
            <a:off x="990600" y="4181475"/>
            <a:ext cx="2895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69E6C6-FCED-4C5F-A018-9EE060B25289}"/>
              </a:ext>
            </a:extLst>
          </p:cNvPr>
          <p:cNvSpPr>
            <a:spLocks noGrp="1"/>
          </p:cNvSpPr>
          <p:nvPr/>
        </p:nvSpPr>
        <p:spPr>
          <a:xfrm>
            <a:off x="1085850" y="4305300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SigLIP2 Giant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220B618-2157-4D90-8570-4462D67D7EFF}"/>
              </a:ext>
            </a:extLst>
          </p:cNvPr>
          <p:cNvSpPr>
            <a:spLocks noGrp="1"/>
          </p:cNvSpPr>
          <p:nvPr/>
        </p:nvSpPr>
        <p:spPr>
          <a:xfrm>
            <a:off x="3886200" y="418147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83C9D6B-8F91-4FC3-B9F6-878ADDD76270}"/>
              </a:ext>
            </a:extLst>
          </p:cNvPr>
          <p:cNvSpPr>
            <a:spLocks noGrp="1"/>
          </p:cNvSpPr>
          <p:nvPr/>
        </p:nvSpPr>
        <p:spPr>
          <a:xfrm>
            <a:off x="3981450" y="430530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+0.011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AB7A2E6-4BBF-42CF-B1DC-4D8C7EB9439B}"/>
              </a:ext>
            </a:extLst>
          </p:cNvPr>
          <p:cNvSpPr>
            <a:spLocks noGrp="1"/>
          </p:cNvSpPr>
          <p:nvPr/>
        </p:nvSpPr>
        <p:spPr>
          <a:xfrm>
            <a:off x="6534150" y="4181475"/>
            <a:ext cx="264795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894A148-4F38-4943-8046-A46A4867CD25}"/>
              </a:ext>
            </a:extLst>
          </p:cNvPr>
          <p:cNvSpPr>
            <a:spLocks noGrp="1"/>
          </p:cNvSpPr>
          <p:nvPr/>
        </p:nvSpPr>
        <p:spPr>
          <a:xfrm>
            <a:off x="6629400" y="4305300"/>
            <a:ext cx="24574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+0.012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EFE491-EDFC-4AF5-A65E-4D87D5209600}"/>
              </a:ext>
            </a:extLst>
          </p:cNvPr>
          <p:cNvSpPr>
            <a:spLocks noGrp="1"/>
          </p:cNvSpPr>
          <p:nvPr/>
        </p:nvSpPr>
        <p:spPr>
          <a:xfrm>
            <a:off x="9182100" y="4181475"/>
            <a:ext cx="20193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46BAC51-2C9B-4258-833D-02109E188DE3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1828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近零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DDC50898-1191-4693-9160-8BE33AE2E96E}"/>
              </a:ext>
            </a:extLst>
          </p:cNvPr>
          <p:cNvSpPr>
            <a:spLocks noGrp="1"/>
          </p:cNvSpPr>
          <p:nvPr/>
        </p:nvSpPr>
        <p:spPr>
          <a:xfrm>
            <a:off x="1485900" y="5219700"/>
            <a:ext cx="9220200" cy="781050"/>
          </a:xfrm>
          <a:prstGeom prst="roundRect">
            <a:avLst>
              <a:gd name="adj" fmla="val 9756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4427B83-4F72-4B52-B568-33330787C0F0}"/>
              </a:ext>
            </a:extLst>
          </p:cNvPr>
          <p:cNvSpPr>
            <a:spLocks noGrp="1"/>
          </p:cNvSpPr>
          <p:nvPr/>
        </p:nvSpPr>
        <p:spPr>
          <a:xfrm>
            <a:off x="1485900" y="5219700"/>
            <a:ext cx="66675" cy="781050"/>
          </a:xfrm>
          <a:prstGeom prst="rect">
            <a:avLst/>
          </a:prstGeom>
          <a:solidFill>
            <a:srgbClr val="C44536"/>
          </a:solidFill>
          <a:ln w="0">
            <a:solidFill>
              <a:srgbClr val="C44536"/>
            </a:solidFill>
            <a:prstDash val="solid"/>
          </a:ln>
        </p:spPr>
        <p:txBody>
          <a:bodyPr/>
          <a:p/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10FD822-8D23-4389-B60F-A1C06B661C76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889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原因：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僅能更新 3 個 LayerNorm 的 1,536 個 affine scalars；位移發生在凍結骨幹上游，難以改變分數排序。</a:t>
            </a:r>
          </a:p>
        </p:txBody>
      </p:sp>
      <p:sp>
        <p:nvSpPr>
          <p:cNvPr id="48" name="直線接點 47">
            <a:extLst>
              <a:ext uri="{FF2B5EF4-FFF2-40B4-BE49-F238E27FC236}">
                <a16:creationId xmlns:a16="http://schemas.microsoft.com/office/drawing/2014/main" id="{63B00D32-EE84-4CF9-910A-8A1DDC1B19B8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964479F-AA59-4006-A029-7AC0932394D4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6.2 節 TENT／SAR 實驗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108AC2D-F25F-4E60-AACF-3BE72FD3C6FE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  <p:sp>
        <p:nvSpPr>
          <p:cNvPr id="52" name="Round3_S20_Subtitle">
            <a:extLst>
              <a:ext uri="{FF2B5EF4-FFF2-40B4-BE49-F238E27FC236}">
                <a16:creationId xmlns:a16="http://schemas.microsoft.com/office/drawing/2014/main" id="{251D749E-247F-008D-55F1-EF16A7817004}"/>
              </a:ext>
            </a:extLst>
          </p:cNvPr>
          <p:cNvSpPr txBox="1"/>
          <p:nvPr/>
        </p:nvSpPr>
        <p:spPr>
          <a:xfrm>
            <a:off x="590550" y="116205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僅更新融合頭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LayerNorm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1,536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 </a:t>
            </a:r>
            <a:r>
              <a:rPr lang="en-US" altLang="zh-TW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affine </a:t>
            </a:r>
            <a:r>
              <a:rPr lang="zh-TW" altLang="en-US" sz="127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</a:p>
        </p:txBody>
      </p:sp>
    </p:spTree>
    <p:extLst>
      <p:ext uri="{BB962C8B-B14F-4D97-AF65-F5344CB8AC3E}">
        <p14:creationId xmlns:p14="http://schemas.microsoft.com/office/powerpoint/2010/main" val="1283393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BC133DE9-E887-41B1-8BD7-93E67371D37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章｜本研究方法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EF0A8C-3311-4AD4-9A0F-D1404DCC74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可靠度重加權：不更新模型，改為重分配模態信任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A5A90D8-768E-45F6-82A5-5A6A6920752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6E83D-4C9A-463F-9059-B5163CFFA756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7D7953F-B030-416F-ABF8-69FE9324D82C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D9DFCC0-070B-47C2-B4F1-427C6B81AAEB}"/>
              </a:ext>
            </a:extLst>
          </p:cNvPr>
          <p:cNvSpPr>
            <a:spLocks noGrp="1"/>
          </p:cNvSpPr>
          <p:nvPr/>
        </p:nvSpPr>
        <p:spPr>
          <a:xfrm>
            <a:off x="1533525" y="22002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253CE0-5372-4025-941C-6D554D83C14F}"/>
              </a:ext>
            </a:extLst>
          </p:cNvPr>
          <p:cNvSpPr>
            <a:spLocks noGrp="1"/>
          </p:cNvSpPr>
          <p:nvPr/>
        </p:nvSpPr>
        <p:spPr>
          <a:xfrm>
            <a:off x="15335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9EA1DA-1B86-4BD9-B7C1-7C9B79D23F5D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Visual-only 前向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A8AE82-68C7-4AA0-A504-721DED02A489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72"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骨架設為 0，取得 solo scores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267E0C-C775-472C-A422-00AEFC7F0FD2}"/>
              </a:ext>
            </a:extLst>
          </p:cNvPr>
          <p:cNvSpPr>
            <a:spLocks noGrp="1"/>
          </p:cNvSpPr>
          <p:nvPr/>
        </p:nvSpPr>
        <p:spPr>
          <a:xfrm>
            <a:off x="2838450" y="2590800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0FED6B6-6F62-487A-B493-A1C26C82592D}"/>
              </a:ext>
            </a:extLst>
          </p:cNvPr>
          <p:cNvSpPr>
            <a:spLocks noGrp="1"/>
          </p:cNvSpPr>
          <p:nvPr/>
        </p:nvSpPr>
        <p:spPr>
          <a:xfrm>
            <a:off x="34671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98C5A22-7925-4710-8064-1BBF0FE73B1C}"/>
              </a:ext>
            </a:extLst>
          </p:cNvPr>
          <p:cNvSpPr>
            <a:spLocks noGrp="1"/>
          </p:cNvSpPr>
          <p:nvPr/>
        </p:nvSpPr>
        <p:spPr>
          <a:xfrm>
            <a:off x="4352925" y="2200275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013C46-63C8-46E1-A4D6-0D7AE9EAF3B8}"/>
              </a:ext>
            </a:extLst>
          </p:cNvPr>
          <p:cNvSpPr>
            <a:spLocks noGrp="1"/>
          </p:cNvSpPr>
          <p:nvPr/>
        </p:nvSpPr>
        <p:spPr>
          <a:xfrm>
            <a:off x="43529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943A26-3D94-44E0-A7E0-01DE3BC11697}"/>
              </a:ext>
            </a:extLst>
          </p:cNvPr>
          <p:cNvSpPr>
            <a:spLocks noGrp="1"/>
          </p:cNvSpPr>
          <p:nvPr/>
        </p:nvSpPr>
        <p:spPr>
          <a:xfrm>
            <a:off x="36385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視覺可靠度 wᵥₗ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70F49-09B7-4752-A0AC-15FAD73248A2}"/>
              </a:ext>
            </a:extLst>
          </p:cNvPr>
          <p:cNvSpPr>
            <a:spLocks noGrp="1"/>
          </p:cNvSpPr>
          <p:nvPr/>
        </p:nvSpPr>
        <p:spPr>
          <a:xfrm>
            <a:off x="36385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比較測試／乾淨分數離散度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DC5A54-F294-42A3-9819-69163C807B5E}"/>
              </a:ext>
            </a:extLst>
          </p:cNvPr>
          <p:cNvSpPr>
            <a:spLocks noGrp="1"/>
          </p:cNvSpPr>
          <p:nvPr/>
        </p:nvSpPr>
        <p:spPr>
          <a:xfrm>
            <a:off x="5657850" y="2590800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B382ED5-4E0C-42F8-8FDA-A83AE703DCF6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DFE9598-8FE5-4901-B6D1-55E8252A17A1}"/>
              </a:ext>
            </a:extLst>
          </p:cNvPr>
          <p:cNvSpPr>
            <a:spLocks noGrp="1"/>
          </p:cNvSpPr>
          <p:nvPr/>
        </p:nvSpPr>
        <p:spPr>
          <a:xfrm>
            <a:off x="7172325" y="2200275"/>
            <a:ext cx="419100" cy="419100"/>
          </a:xfrm>
          <a:prstGeom prst="ellipse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02ABE6-1F4C-461C-8CA2-A2BB819A8019}"/>
              </a:ext>
            </a:extLst>
          </p:cNvPr>
          <p:cNvSpPr>
            <a:spLocks noGrp="1"/>
          </p:cNvSpPr>
          <p:nvPr/>
        </p:nvSpPr>
        <p:spPr>
          <a:xfrm>
            <a:off x="71723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3E78E0-701C-4D2F-9BBF-6D5CF8C678F1}"/>
              </a:ext>
            </a:extLst>
          </p:cNvPr>
          <p:cNvSpPr>
            <a:spLocks noGrp="1"/>
          </p:cNvSpPr>
          <p:nvPr/>
        </p:nvSpPr>
        <p:spPr>
          <a:xfrm>
            <a:off x="64579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骨架安全閘 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E84009-1543-4147-8EC8-274DBD16B553}"/>
              </a:ext>
            </a:extLst>
          </p:cNvPr>
          <p:cNvSpPr>
            <a:spLocks noGrp="1"/>
          </p:cNvSpPr>
          <p:nvPr/>
        </p:nvSpPr>
        <p:spPr>
          <a:xfrm>
            <a:off x="64579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骨架位移過大則禁止改道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6FAC70-C070-45E0-AC23-A8C7D6E81761}"/>
              </a:ext>
            </a:extLst>
          </p:cNvPr>
          <p:cNvSpPr>
            <a:spLocks noGrp="1"/>
          </p:cNvSpPr>
          <p:nvPr/>
        </p:nvSpPr>
        <p:spPr>
          <a:xfrm>
            <a:off x="8477250" y="2590800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CC18A01-7754-4B9D-8E75-33E9E878A2CE}"/>
              </a:ext>
            </a:extLst>
          </p:cNvPr>
          <p:cNvSpPr>
            <a:spLocks noGrp="1"/>
          </p:cNvSpPr>
          <p:nvPr/>
        </p:nvSpPr>
        <p:spPr>
          <a:xfrm>
            <a:off x="9105900" y="2000250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65B2921-A4AA-44DB-A6FE-19974A553A07}"/>
              </a:ext>
            </a:extLst>
          </p:cNvPr>
          <p:cNvSpPr>
            <a:spLocks noGrp="1"/>
          </p:cNvSpPr>
          <p:nvPr/>
        </p:nvSpPr>
        <p:spPr>
          <a:xfrm>
            <a:off x="9991725" y="2200275"/>
            <a:ext cx="419100" cy="419100"/>
          </a:xfrm>
          <a:prstGeom prst="ellipse">
            <a:avLst/>
          </a:prstGeom>
          <a:solidFill>
            <a:srgbClr val="237A57"/>
          </a:solidFill>
          <a:ln w="0">
            <a:solidFill>
              <a:srgbClr val="237A57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1EA02F-0305-4E2E-9425-F26F31F1346B}"/>
              </a:ext>
            </a:extLst>
          </p:cNvPr>
          <p:cNvSpPr>
            <a:spLocks noGrp="1"/>
          </p:cNvSpPr>
          <p:nvPr/>
        </p:nvSpPr>
        <p:spPr>
          <a:xfrm>
            <a:off x="9991725" y="22098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7750A3C-7520-4B6D-8D25-8AE305628F83}"/>
              </a:ext>
            </a:extLst>
          </p:cNvPr>
          <p:cNvSpPr>
            <a:spLocks noGrp="1"/>
          </p:cNvSpPr>
          <p:nvPr/>
        </p:nvSpPr>
        <p:spPr>
          <a:xfrm>
            <a:off x="9277350" y="2781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37A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37A57"/>
                </a:solidFill>
                <a:latin typeface="Microsoft JhengHei"/>
                <a:ea typeface="Microsoft JhengHei"/>
                <a:cs typeface="Microsoft JhengHei"/>
              </a:rPr>
              <a:t>縮放視覺串流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D2B27D-FE70-4E63-B6DA-D3D496C969E2}"/>
              </a:ext>
            </a:extLst>
          </p:cNvPr>
          <p:cNvSpPr>
            <a:spLocks noGrp="1"/>
          </p:cNvSpPr>
          <p:nvPr/>
        </p:nvSpPr>
        <p:spPr>
          <a:xfrm>
            <a:off x="9277350" y="3190875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LN 後以 w 調整視覺貢獻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2E6B7E7-B88E-4B53-B23B-89926EA53DA3}"/>
              </a:ext>
            </a:extLst>
          </p:cNvPr>
          <p:cNvSpPr>
            <a:spLocks noGrp="1"/>
          </p:cNvSpPr>
          <p:nvPr/>
        </p:nvSpPr>
        <p:spPr>
          <a:xfrm>
            <a:off x="1304925" y="4095750"/>
            <a:ext cx="95821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5A1EBA-0EEE-4A1C-857D-CEC0178507DE}"/>
              </a:ext>
            </a:extLst>
          </p:cNvPr>
          <p:cNvSpPr>
            <a:spLocks noGrp="1"/>
          </p:cNvSpPr>
          <p:nvPr/>
        </p:nvSpPr>
        <p:spPr>
          <a:xfrm>
            <a:off x="1409700" y="4276725"/>
            <a:ext cx="937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wᵥₗ = min(1, σ(sₜₑₛₜ)/σ(s꜀ₗₑₐₙ))　；　w = 1 − (1 − wᵥₗ)s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E8397E46-978C-44A4-9527-F592362F9506}"/>
              </a:ext>
            </a:extLst>
          </p:cNvPr>
          <p:cNvSpPr>
            <a:spLocks noGrp="1"/>
          </p:cNvSpPr>
          <p:nvPr/>
        </p:nvSpPr>
        <p:spPr>
          <a:xfrm>
            <a:off x="1657350" y="5438775"/>
            <a:ext cx="8877300" cy="647700"/>
          </a:xfrm>
          <a:prstGeom prst="roundRect">
            <a:avLst>
              <a:gd name="adj" fmla="val 11765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E09353-844F-428F-81D5-C06C04DA238C}"/>
              </a:ext>
            </a:extLst>
          </p:cNvPr>
          <p:cNvSpPr>
            <a:spLocks noGrp="1"/>
          </p:cNvSpPr>
          <p:nvPr/>
        </p:nvSpPr>
        <p:spPr>
          <a:xfrm>
            <a:off x="1657350" y="5438775"/>
            <a:ext cx="66675" cy="6477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DF41D-DDF6-452E-BAFC-A9BBF65E8134}"/>
              </a:ext>
            </a:extLst>
          </p:cNvPr>
          <p:cNvSpPr>
            <a:spLocks noGrp="1"/>
          </p:cNvSpPr>
          <p:nvPr/>
        </p:nvSpPr>
        <p:spPr>
          <a:xfrm>
            <a:off x="1847850" y="5572125"/>
            <a:ext cx="8553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安全性：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無梯度、無參數更新；只有「視覺崩潰且骨架串流仍完好（乾淨骨架快取）」時才改道，否則 w = 1。</a:t>
            </a:r>
          </a:p>
        </p:txBody>
      </p:sp>
      <p:sp>
        <p:nvSpPr>
          <p:cNvPr id="33" name="直線接點 32">
            <a:extLst>
              <a:ext uri="{FF2B5EF4-FFF2-40B4-BE49-F238E27FC236}">
                <a16:creationId xmlns:a16="http://schemas.microsoft.com/office/drawing/2014/main" id="{198D75F4-2EC1-4D16-BE9F-3FE7334ABA94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E2DFDF-198E-4980-9E04-B0F25BD54536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3.7.3 節與第 6.4 節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4A3E78-5568-460F-BE81-910BCC6D2C9D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  <p:sp>
        <p:nvSpPr>
          <p:cNvPr id="37" name="Round3_S21_SigmaNote">
            <a:extLst>
              <a:ext uri="{FF2B5EF4-FFF2-40B4-BE49-F238E27FC236}">
                <a16:creationId xmlns:a16="http://schemas.microsoft.com/office/drawing/2014/main" id="{ED620D05-8852-7027-C174-5B8D6BC8E379}"/>
              </a:ext>
            </a:extLst>
          </p:cNvPr>
          <p:cNvSpPr txBox="1"/>
          <p:nvPr/>
        </p:nvSpPr>
        <p:spPr>
          <a:xfrm>
            <a:off x="1409700" y="4838700"/>
            <a:ext cx="937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12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σ</a:t>
            </a:r>
            <a:r>
              <a:rPr lang="zh-TW" altLang="en-US" sz="1125">
                <a:solidFill>
                  <a:srgbClr val="51606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＝標準差（分數離散度）</a:t>
            </a:r>
          </a:p>
        </p:txBody>
      </p:sp>
    </p:spTree>
    <p:extLst>
      <p:ext uri="{BB962C8B-B14F-4D97-AF65-F5344CB8AC3E}">
        <p14:creationId xmlns:p14="http://schemas.microsoft.com/office/powerpoint/2010/main" val="182435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D9C265E-F22F-457A-B9B9-C29A69A43ED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6 章｜穩健性結果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91F1B9-7A68-4AD2-AC9D-3A1573F732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整體平均提升 +1.21；改善幅度隨骨幹與污染而異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C459550-084A-458F-A0D1-A0ADCCA4817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1C60C1-64B0-4737-A8A4-4B8F546B9CC0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7144" y="1714500"/>
            <a:ext cx="5082913" cy="3038475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19547" y="1714500"/>
            <a:ext cx="2572857" cy="3038475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F2D398CB-60BC-46F1-BB75-5FF5322D8392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2CDF52-8854-45D0-8A46-4E49AD6A6FDC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CLIP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E1B2CE-101E-497D-8669-60F24B30CBDD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+0.67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535D4DD-FE3F-4F7D-B213-1B5A21931307}"/>
              </a:ext>
            </a:extLst>
          </p:cNvPr>
          <p:cNvSpPr>
            <a:spLocks noGrp="1"/>
          </p:cNvSpPr>
          <p:nvPr/>
        </p:nvSpPr>
        <p:spPr>
          <a:xfrm>
            <a:off x="241935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E5BC1A-A55E-4753-BC2A-391DA36D392F}"/>
              </a:ext>
            </a:extLst>
          </p:cNvPr>
          <p:cNvSpPr>
            <a:spLocks noGrp="1"/>
          </p:cNvSpPr>
          <p:nvPr/>
        </p:nvSpPr>
        <p:spPr>
          <a:xfrm>
            <a:off x="251460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Base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5FEA5-4E0F-47A8-BA07-9D455289889D}"/>
              </a:ext>
            </a:extLst>
          </p:cNvPr>
          <p:cNvSpPr>
            <a:spLocks noGrp="1"/>
          </p:cNvSpPr>
          <p:nvPr/>
        </p:nvSpPr>
        <p:spPr>
          <a:xfrm>
            <a:off x="251460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+1.50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46D3CD8-BF71-45E6-AE17-E2F16E0AA11C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E5F2EC"/>
          </a:solidFill>
          <a:ln w="9525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5A3899-F7DC-45A5-967B-08CD8882B399}"/>
              </a:ext>
            </a:extLst>
          </p:cNvPr>
          <p:cNvSpPr>
            <a:spLocks noGrp="1"/>
          </p:cNvSpPr>
          <p:nvPr/>
        </p:nvSpPr>
        <p:spPr>
          <a:xfrm>
            <a:off x="428625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SO400M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482D73-51FC-468D-98EF-94646F0DD066}"/>
              </a:ext>
            </a:extLst>
          </p:cNvPr>
          <p:cNvSpPr>
            <a:spLocks noGrp="1"/>
          </p:cNvSpPr>
          <p:nvPr/>
        </p:nvSpPr>
        <p:spPr>
          <a:xfrm>
            <a:off x="428625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+2.24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3853065-D2A5-4308-B4C1-96936301F9CE}"/>
              </a:ext>
            </a:extLst>
          </p:cNvPr>
          <p:cNvSpPr>
            <a:spLocks noGrp="1"/>
          </p:cNvSpPr>
          <p:nvPr/>
        </p:nvSpPr>
        <p:spPr>
          <a:xfrm>
            <a:off x="5962650" y="5010150"/>
            <a:ext cx="15811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B40CF0-3112-40E4-9260-AAE005DCA3E0}"/>
              </a:ext>
            </a:extLst>
          </p:cNvPr>
          <p:cNvSpPr>
            <a:spLocks noGrp="1"/>
          </p:cNvSpPr>
          <p:nvPr/>
        </p:nvSpPr>
        <p:spPr>
          <a:xfrm>
            <a:off x="6057900" y="5124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Giant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24B074-0F7F-43C7-AB5A-0C46110D1733}"/>
              </a:ext>
            </a:extLst>
          </p:cNvPr>
          <p:cNvSpPr>
            <a:spLocks noGrp="1"/>
          </p:cNvSpPr>
          <p:nvPr/>
        </p:nvSpPr>
        <p:spPr>
          <a:xfrm>
            <a:off x="6057900" y="5381625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3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+0.42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9CE1197-D161-4C2E-8FBF-BE11B9D34FB2}"/>
              </a:ext>
            </a:extLst>
          </p:cNvPr>
          <p:cNvSpPr>
            <a:spLocks noGrp="1"/>
          </p:cNvSpPr>
          <p:nvPr/>
        </p:nvSpPr>
        <p:spPr>
          <a:xfrm>
            <a:off x="7848600" y="5010150"/>
            <a:ext cx="3714750" cy="723900"/>
          </a:xfrm>
          <a:prstGeom prst="roundRect">
            <a:avLst>
              <a:gd name="adj" fmla="val 1052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F2B5D0-2F32-4D7E-B47A-60F0CE88DF39}"/>
              </a:ext>
            </a:extLst>
          </p:cNvPr>
          <p:cNvSpPr>
            <a:spLocks noGrp="1"/>
          </p:cNvSpPr>
          <p:nvPr/>
        </p:nvSpPr>
        <p:spPr>
          <a:xfrm>
            <a:off x="7848600" y="5010150"/>
            <a:ext cx="66675" cy="72390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EB2F4A-40B3-4C4F-8E03-773AADEFB22D}"/>
              </a:ext>
            </a:extLst>
          </p:cNvPr>
          <p:cNvSpPr>
            <a:spLocks noGrp="1"/>
          </p:cNvSpPr>
          <p:nvPr/>
        </p:nvSpPr>
        <p:spPr>
          <a:xfrm>
            <a:off x="8039100" y="5143500"/>
            <a:ext cx="3390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47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整體：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60.6 → 61.8 mean AUC（+1.21）；最佳單一條件增益達 +13.2。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E63D44-A8DA-4564-899C-23515F12B73B}"/>
              </a:ext>
            </a:extLst>
          </p:cNvPr>
          <p:cNvSpPr>
            <a:spLocks noGrp="1"/>
          </p:cNvSpPr>
          <p:nvPr/>
        </p:nvSpPr>
        <p:spPr>
          <a:xfrm>
            <a:off x="1466850" y="5991225"/>
            <a:ext cx="925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增益集中於 Gaussian noise（乾淨骨架快取、transductive 上限實驗）→「選擇性救援」，而非全面免疫</a:t>
            </a:r>
          </a:p>
        </p:txBody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8F7FAE8C-03A3-4F36-A96C-69045F1EC4FB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065400-C7BB-4608-AA71-39169CF3FEDC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來源：本論文表 6.2、圖 6.2、圖 6.3 與第 6.4 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9D4331E-A597-4607-A57C-792BFD8D76F6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658126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F36E1A2-C854-4078-B4D8-75EC5A7565B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7 章｜研究邊界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8A644-24B6-4820-ABA1-FC56765ED98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限制需要誠實界定，但不等於主要結論失效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CC691C0-2CAD-444D-B8AA-259A5C9EC6A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232AA6-1BFD-4024-9A59-B019D23A6138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0E038-E3D6-43F5-863D-114064EBAD14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620B5C7-DFFE-474A-83EE-61FA0D28D597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0AC98F-8D5A-4AE3-B42D-E1ACC86758FC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資料協定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DC0056-FCB7-4E36-B48D-30F4451975AD}"/>
              </a:ext>
            </a:extLst>
          </p:cNvPr>
          <p:cNvSpPr>
            <a:spLocks noGrp="1"/>
          </p:cNvSpPr>
          <p:nvPr/>
        </p:nvSpPr>
        <p:spPr>
          <a:xfrm>
            <a:off x="2305050" y="1733550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UCF 使用第三方重新散布的預抽影格版本（64×64、約 3 FPS）；254/290 測試片納入。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31CD87-3C17-4DA7-88AC-25E4048AF399}"/>
              </a:ext>
            </a:extLst>
          </p:cNvPr>
          <p:cNvSpPr>
            <a:spLocks noGrp="1"/>
          </p:cNvSpPr>
          <p:nvPr/>
        </p:nvSpPr>
        <p:spPr>
          <a:xfrm>
            <a:off x="8048625" y="1733550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資料集內比較有效；跨論文絕對值需保守。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7E22189-4042-4070-9B40-2FDF35FF01A7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687C854-3937-46E2-8E01-38B6EE65CDBB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3E3509-E526-4A80-8D5D-07B2235C5724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預設目標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923907-497A-4A55-9368-1216939ED6E1}"/>
              </a:ext>
            </a:extLst>
          </p:cNvPr>
          <p:cNvSpPr>
            <a:spLocks noGrp="1"/>
          </p:cNvSpPr>
          <p:nvPr/>
        </p:nvSpPr>
        <p:spPr>
          <a:xfrm>
            <a:off x="2305050" y="2790825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UCF 82.5 未達 83；XD 78.7 未達 80；RTFM 重現亦未達原報告。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5F8F86-7D04-4E74-8E94-B12B94C9A4FA}"/>
              </a:ext>
            </a:extLst>
          </p:cNvPr>
          <p:cNvSpPr>
            <a:spLocks noGrp="1"/>
          </p:cNvSpPr>
          <p:nvPr/>
        </p:nvSpPr>
        <p:spPr>
          <a:xfrm>
            <a:off x="8048625" y="2790825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如實報告，不以目標值替代實測值。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D3084C7-60F5-4065-ACCB-23DBA6282829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CD2656C-CBC3-4CAF-9045-7642148A7572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D7812D-03DE-4A00-800A-ACB3CFE84797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TTA 驗證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C90C6E-E3B1-46E4-88F2-E6ECB6B055AE}"/>
              </a:ext>
            </a:extLst>
          </p:cNvPr>
          <p:cNvSpPr>
            <a:spLocks noGrp="1"/>
          </p:cNvSpPr>
          <p:nvPr/>
        </p:nvSpPr>
        <p:spPr>
          <a:xfrm>
            <a:off x="2305050" y="3848100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 個污染條件同時用於策略選擇與最終報告，仍有 transductive 成分。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4975FF-4A42-4A4F-BEF6-93C1493BAA8E}"/>
              </a:ext>
            </a:extLst>
          </p:cNvPr>
          <p:cNvSpPr>
            <a:spLocks noGrp="1"/>
          </p:cNvSpPr>
          <p:nvPr/>
        </p:nvSpPr>
        <p:spPr>
          <a:xfrm>
            <a:off x="8048625" y="3848100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需另設獨立開發／測試污染集合。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4E01F51-E7D2-40EC-B66C-7D195C363F53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EFA7A09B-FB88-4BEB-BC8D-CC4D2563ECB9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129FE1-9D12-443D-89BA-F97F174DB408}"/>
              </a:ext>
            </a:extLst>
          </p:cNvPr>
          <p:cNvSpPr>
            <a:spLocks noGrp="1"/>
          </p:cNvSpPr>
          <p:nvPr/>
        </p:nvSpPr>
        <p:spPr>
          <a:xfrm>
            <a:off x="704850" y="5019675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平滑損失修正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1F5F86-D03C-492B-A73A-947E51D1C46C}"/>
              </a:ext>
            </a:extLst>
          </p:cNvPr>
          <p:cNvSpPr>
            <a:spLocks noGrp="1"/>
          </p:cNvSpPr>
          <p:nvPr/>
        </p:nvSpPr>
        <p:spPr>
          <a:xfrm>
            <a:off x="2305050" y="4905375"/>
            <a:ext cx="54292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早期實作誤沿 batch 軸計算；修正後完整 29 組設定重跑。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1140702-4AFD-466E-ACFB-6EA1C0EDBCF0}"/>
              </a:ext>
            </a:extLst>
          </p:cNvPr>
          <p:cNvSpPr>
            <a:spLocks noGrp="1"/>
          </p:cNvSpPr>
          <p:nvPr/>
        </p:nvSpPr>
        <p:spPr>
          <a:xfrm>
            <a:off x="8048625" y="4905375"/>
            <a:ext cx="3219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主要結果（Gated＋Giant，3 種子）82.5 保留（−0.06）；結論不變。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7AB72A7-8EA3-41B0-9D39-7F14AA2CF80B}"/>
              </a:ext>
            </a:extLst>
          </p:cNvPr>
          <p:cNvSpPr>
            <a:spLocks noGrp="1"/>
          </p:cNvSpPr>
          <p:nvPr/>
        </p:nvSpPr>
        <p:spPr>
          <a:xfrm>
            <a:off x="1257300" y="5924550"/>
            <a:ext cx="9677400" cy="457200"/>
          </a:xfrm>
          <a:prstGeom prst="roundRect">
            <a:avLst>
              <a:gd name="adj" fmla="val 16667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54D260-C106-4094-A274-2C1E81F9967B}"/>
              </a:ext>
            </a:extLst>
          </p:cNvPr>
          <p:cNvSpPr>
            <a:spLocks noGrp="1"/>
          </p:cNvSpPr>
          <p:nvPr/>
        </p:nvSpPr>
        <p:spPr>
          <a:xfrm>
            <a:off x="1257300" y="5924550"/>
            <a:ext cx="66675" cy="457200"/>
          </a:xfrm>
          <a:prstGeom prst="rect">
            <a:avLst/>
          </a:prstGeom>
          <a:solidFill>
            <a:srgbClr val="237A57"/>
          </a:solidFill>
          <a:ln w="0">
            <a:solidFill>
              <a:srgbClr val="237A57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1194D8-AEF5-4848-9495-EA64473977BE}"/>
              </a:ext>
            </a:extLst>
          </p:cNvPr>
          <p:cNvSpPr>
            <a:spLocks noGrp="1"/>
          </p:cNvSpPr>
          <p:nvPr/>
        </p:nvSpPr>
        <p:spPr>
          <a:xfrm>
            <a:off x="1447800" y="6057900"/>
            <a:ext cx="935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仍然成立的核心證據：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一致協定下，門控跨 8 組設定不劣於視覺單模態；LayerNorm TTA 負結果與重加權增益皆可重現。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A34FA83C-BEFE-4D2F-8678-014DE5C15C90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AAD1FF-D0C0-4DBD-837C-2E78F994A37B}"/>
              </a:ext>
            </a:extLst>
          </p:cNvPr>
          <p:cNvSpPr>
            <a:spLocks noGrp="1"/>
          </p:cNvSpPr>
          <p:nvPr/>
        </p:nvSpPr>
        <p:spPr>
          <a:xfrm>
            <a:off x="590550" y="6524625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來源：本論文第 7 章限制與修正驗證紀錄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95DFF6-4B0D-4609-BD3A-34100DA1FB2B}"/>
              </a:ext>
            </a:extLst>
          </p:cNvPr>
          <p:cNvSpPr>
            <a:spLocks noGrp="1"/>
          </p:cNvSpPr>
          <p:nvPr/>
        </p:nvSpPr>
        <p:spPr>
          <a:xfrm>
            <a:off x="8858250" y="65246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碩士論文口試｜鄭暐瀚｜2026.07.21</a:t>
            </a:r>
          </a:p>
        </p:txBody>
      </p:sp>
    </p:spTree>
    <p:extLst>
      <p:ext uri="{BB962C8B-B14F-4D97-AF65-F5344CB8AC3E}">
        <p14:creationId xmlns:p14="http://schemas.microsoft.com/office/powerpoint/2010/main" val="2147199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D5EEAC8-2B47-431A-BA79-D3DE8D8C223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第 8 章｜結論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51D498-A0B7-4D83-BDF7-779D817DE13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三個研究問題的答案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43F5C5BA-6C07-4155-9B72-7D183DC154AE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C3478F-F5F6-4553-9F40-9D8134906A30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5C8AE66-1826-46FE-B2A6-0CFA4B82168A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3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234DC27-09CE-465E-8B4A-10A869D51139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162050" cy="99060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01428F-8DA6-4A1A-A622-BD76B49F251C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RQ1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034582-40A2-4433-90E3-654D00DB2524}"/>
              </a:ext>
            </a:extLst>
          </p:cNvPr>
          <p:cNvSpPr>
            <a:spLocks noGrp="1"/>
          </p:cNvSpPr>
          <p:nvPr/>
        </p:nvSpPr>
        <p:spPr>
          <a:xfrm>
            <a:off x="2114550" y="18002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門控融合有效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5CF3B3-44F4-487E-9E92-A1196520AB73}"/>
              </a:ext>
            </a:extLst>
          </p:cNvPr>
          <p:cNvSpPr>
            <a:spLocks noGrp="1"/>
          </p:cNvSpPr>
          <p:nvPr/>
        </p:nvSpPr>
        <p:spPr>
          <a:xfrm>
            <a:off x="2114550" y="22288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三種子平均下，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4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骨幹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× 2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資料集皆不劣於視覺單模態（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6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升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2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平），平均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+0.6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個百分點；</a:t>
            </a:r>
            <a:b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單一設定增益多在種子變異內</a:t>
            </a:r>
            <a:endParaRPr sz="1275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9CB1988-4EBE-4B7D-9B68-C35B0B440A00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1093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4DE618A-8CEE-462D-AB7D-B2C2151EAF39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1162050" cy="990600"/>
          </a:xfrm>
          <a:prstGeom prst="roundRect">
            <a:avLst>
              <a:gd name="adj" fmla="val 7692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5C5826-9B1A-4401-8078-3E608789147E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644881-6598-46EA-9132-4333023DB8C4}"/>
              </a:ext>
            </a:extLst>
          </p:cNvPr>
          <p:cNvSpPr>
            <a:spLocks noGrp="1"/>
          </p:cNvSpPr>
          <p:nvPr/>
        </p:nvSpPr>
        <p:spPr>
          <a:xfrm>
            <a:off x="2114550" y="30194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結論跨骨幹成立，但最佳骨幹依資料而變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5B674D-4495-4475-B332-72C5CEC49C7A}"/>
              </a:ext>
            </a:extLst>
          </p:cNvPr>
          <p:cNvSpPr>
            <a:spLocks noGrp="1"/>
          </p:cNvSpPr>
          <p:nvPr/>
        </p:nvSpPr>
        <p:spPr>
          <a:xfrm>
            <a:off x="2114550" y="344805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UCF：Giant 82.5｜XD：SO400M 78.7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9108740-46CC-4656-BC45-063BA2AD0B04}"/>
              </a:ext>
            </a:extLst>
          </p:cNvPr>
          <p:cNvSpPr>
            <a:spLocks noGrp="1"/>
          </p:cNvSpPr>
          <p:nvPr/>
        </p:nvSpPr>
        <p:spPr>
          <a:xfrm>
            <a:off x="628650" y="4086225"/>
            <a:ext cx="1093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A1E6133-A33D-4D36-9576-776D6CA2AC52}"/>
              </a:ext>
            </a:extLst>
          </p:cNvPr>
          <p:cNvSpPr>
            <a:spLocks noGrp="1"/>
          </p:cNvSpPr>
          <p:nvPr/>
        </p:nvSpPr>
        <p:spPr>
          <a:xfrm>
            <a:off x="628650" y="4086225"/>
            <a:ext cx="1162050" cy="990600"/>
          </a:xfrm>
          <a:prstGeom prst="roundRect">
            <a:avLst>
              <a:gd name="adj" fmla="val 7692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08199F-197F-4DEA-B8BB-433A6E41813A}"/>
              </a:ext>
            </a:extLst>
          </p:cNvPr>
          <p:cNvSpPr>
            <a:spLocks noGrp="1"/>
          </p:cNvSpPr>
          <p:nvPr/>
        </p:nvSpPr>
        <p:spPr>
          <a:xfrm>
            <a:off x="628650" y="43815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RQ3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177902-8CCE-4846-85D5-AAA3D9074A56}"/>
              </a:ext>
            </a:extLst>
          </p:cNvPr>
          <p:cNvSpPr>
            <a:spLocks noGrp="1"/>
          </p:cNvSpPr>
          <p:nvPr/>
        </p:nvSpPr>
        <p:spPr>
          <a:xfrm>
            <a:off x="2114550" y="42386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傳統 TTA 不轉移；可靠度重加權更合適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27A1CA-CDE9-44B4-9B48-364F90D68831}"/>
              </a:ext>
            </a:extLst>
          </p:cNvPr>
          <p:cNvSpPr>
            <a:spLocks noGrp="1"/>
          </p:cNvSpPr>
          <p:nvPr/>
        </p:nvSpPr>
        <p:spPr>
          <a:xfrm>
            <a:off x="2114550" y="46672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本協定下，僅更新融合頭 </a:t>
            </a:r>
            <a:r>
              <a:rPr 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LayerNorm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的 </a:t>
            </a:r>
            <a:r>
              <a:rPr 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TENT／SAR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變化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&lt;0.1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個百分點；</a:t>
            </a:r>
            <a:b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可靠度重加權於 </a:t>
            </a:r>
            <a:r>
              <a:rPr 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UCF-Crime-C（transductive）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平均 </a:t>
            </a:r>
            <a:r>
              <a:rPr lang="en-US" altLang="zh-TW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+1.21 </a:t>
            </a:r>
            <a:r>
              <a:rPr lang="zh-TW" altLang="en-US" sz="127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個百分點</a:t>
            </a:r>
            <a:endParaRPr sz="1275" b="0">
              <a:solidFill>
                <a:srgbClr val="51606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11CF1A4-7C8D-440A-93CE-57E164F62C72}"/>
              </a:ext>
            </a:extLst>
          </p:cNvPr>
          <p:cNvSpPr>
            <a:spLocks noGrp="1"/>
          </p:cNvSpPr>
          <p:nvPr/>
        </p:nvSpPr>
        <p:spPr>
          <a:xfrm>
            <a:off x="628650" y="5553075"/>
            <a:ext cx="10934700" cy="600075"/>
          </a:xfrm>
          <a:prstGeom prst="roundRect">
            <a:avLst>
              <a:gd name="adj" fmla="val 12698"/>
            </a:avLst>
          </a:prstGeom>
          <a:solidFill>
            <a:srgbClr val="0B2545"/>
          </a:solidFill>
          <a:ln w="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ED08D4-08A7-4D31-9771-E737EA7E0B21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核心結論：多模態的價值不在「相加」，而在依情境管理證據可靠度。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A99A82-03D2-49AB-A0FB-83AD7E21EC4D}"/>
              </a:ext>
            </a:extLst>
          </p:cNvPr>
          <p:cNvSpPr>
            <a:spLocks noGrp="1"/>
          </p:cNvSpPr>
          <p:nvPr/>
        </p:nvSpPr>
        <p:spPr>
          <a:xfrm>
            <a:off x="3695700" y="628650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敬請指教｜Questions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346524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圓角 7">
            <a:extLst>
              <a:ext uri="{FF2B5EF4-FFF2-40B4-BE49-F238E27FC236}">
                <a16:creationId xmlns:a16="http://schemas.microsoft.com/office/drawing/2014/main" id="{59822A0C-2011-4B93-9FB3-02E00DD678D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485900" cy="285750"/>
          </a:xfrm>
          <a:prstGeom prst="roundRect">
            <a:avLst>
              <a:gd name="adj" fmla="val 26667"/>
            </a:avLst>
          </a:prstGeom>
          <a:solidFill>
            <a:srgbClr val="183C61"/>
          </a:solidFill>
          <a:ln w="0">
            <a:solidFill>
              <a:srgbClr val="183C61"/>
            </a:solidFill>
            <a:prstDash val="solid"/>
          </a:ln>
        </p:spPr>
        <p:txBody>
          <a:bodyPr/>
          <a:p/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39F5A8-951F-4614-B3DD-F84BF11E70D2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口試追問備援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8CB2F3-B787-49E3-82C9-78C9A978FB66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666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備用投影片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52D2D9-2840-4576-A7A3-D6521A356050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666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Backup Slides</a:t>
            </a:r>
          </a:p>
        </p:txBody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95BE6A13-130B-45EE-9997-1A1AA39FA114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7410450" cy="9525"/>
          </a:xfrm>
          <a:prstGeom prst="line">
            <a:avLst/>
          </a:prstGeom>
          <a:noFill/>
          <a:ln w="19050">
            <a:solidFill>
              <a:srgbClr val="4F6F8E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C5B6C9-D417-49B5-BED2-5BBB5193FEC2}"/>
              </a:ext>
            </a:extLst>
          </p:cNvPr>
          <p:cNvSpPr>
            <a:spLocks noGrp="1"/>
          </p:cNvSpPr>
          <p:nvPr/>
        </p:nvSpPr>
        <p:spPr>
          <a:xfrm>
            <a:off x="723900" y="4067175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8E5EF"/>
                </a:solidFill>
                <a:latin typeface="Microsoft JhengHei"/>
                <a:ea typeface="Microsoft JhengHei"/>
                <a:cs typeface="Microsoft JhengHei"/>
              </a:rPr>
              <a:t>一致性重跑｜可學習純量融合｜資料排除｜門控行為｜分數校準｜TTA 選擇流程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496A76-A0C3-4A13-B787-39C39A3BCDCE}"/>
              </a:ext>
            </a:extLst>
          </p:cNvPr>
          <p:cNvSpPr>
            <a:spLocks noGrp="1"/>
          </p:cNvSpPr>
          <p:nvPr/>
        </p:nvSpPr>
        <p:spPr>
          <a:xfrm>
            <a:off x="11001375" y="620077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ECBC6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25278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330A71B-BA6D-4DD2-995C-FE8EA2CFCD6A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A9B5A2-1F51-4EA0-999B-B4E4308F0A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一致性重跑：修正平滑實作後，主要排序不變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D402D85-6810-461C-A54C-F6D4A4BCF93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01246B-83D3-49D0-BC7E-A30936C92A35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3F4F94D-5BCB-4CD8-80FB-11A480D479FF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BC7F97-B92B-4515-9938-6FCA40694682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−0.06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6073F-89EF-40C5-B53A-82175B7C1AF1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Gated＋Giant 頭條結果差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6220EE0-C9FD-4711-A970-03EB71F642FF}"/>
              </a:ext>
            </a:extLst>
          </p:cNvPr>
          <p:cNvSpPr>
            <a:spLocks noGrp="1"/>
          </p:cNvSpPr>
          <p:nvPr/>
        </p:nvSpPr>
        <p:spPr>
          <a:xfrm>
            <a:off x="3352800" y="1762125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B8EBA1-3B5A-4E75-BD3A-8D948349F612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−0.16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66BFA4-6C42-4202-AEB0-ECD08A982461}"/>
              </a:ext>
            </a:extLst>
          </p:cNvPr>
          <p:cNvSpPr>
            <a:spLocks noGrp="1"/>
          </p:cNvSpPr>
          <p:nvPr/>
        </p:nvSpPr>
        <p:spPr>
          <a:xfrm>
            <a:off x="3486150" y="2400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29 格整體平均差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772334-70A0-47FD-A3CC-D5E459EB3511}"/>
              </a:ext>
            </a:extLst>
          </p:cNvPr>
          <p:cNvSpPr>
            <a:spLocks noGrp="1"/>
          </p:cNvSpPr>
          <p:nvPr/>
        </p:nvSpPr>
        <p:spPr>
          <a:xfrm>
            <a:off x="5981700" y="1762125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1349D6-C440-478F-B56C-B2A1800CD58E}"/>
              </a:ext>
            </a:extLst>
          </p:cNvPr>
          <p:cNvSpPr>
            <a:spLocks noGrp="1"/>
          </p:cNvSpPr>
          <p:nvPr/>
        </p:nvSpPr>
        <p:spPr>
          <a:xfrm>
            <a:off x="6134100" y="1885950"/>
            <a:ext cx="2552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−4.13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96AFC5-99C3-483D-B3B3-B98F71809639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259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最大單格差｜Skeleton-Only s42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2C62F54-29D2-458C-AFFF-3C5640D00A30}"/>
              </a:ext>
            </a:extLst>
          </p:cNvPr>
          <p:cNvSpPr>
            <a:spLocks noGrp="1"/>
          </p:cNvSpPr>
          <p:nvPr/>
        </p:nvSpPr>
        <p:spPr>
          <a:xfrm>
            <a:off x="9067800" y="1762125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C77C02-8E31-41AF-93D7-1F9F66D00C14}"/>
              </a:ext>
            </a:extLst>
          </p:cNvPr>
          <p:cNvSpPr>
            <a:spLocks noGrp="1"/>
          </p:cNvSpPr>
          <p:nvPr/>
        </p:nvSpPr>
        <p:spPr>
          <a:xfrm>
            <a:off x="9220200" y="18859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±2.8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1E735-404B-4EB4-BAE5-805F1E9C3F67}"/>
              </a:ext>
            </a:extLst>
          </p:cNvPr>
          <p:cNvSpPr>
            <a:spLocks noGrp="1"/>
          </p:cNvSpPr>
          <p:nvPr/>
        </p:nvSpPr>
        <p:spPr>
          <a:xfrm>
            <a:off x="9201150" y="24003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Skeleton-Only 列種子帶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AD7437-0739-4158-9033-1B729753A4FB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100203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29 格 legacy 設定以修正後程式碼、乾淨版本鎖定環境全部重跑。</a:t>
            </a:r>
          </a:p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頭條 Gated＋Giant：82.54 → 82.48（−0.06）；三個種子皆在原種子帶內。</a:t>
            </a:r>
          </a:p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最大單格位移發生於 Skeleton-Only s42；門控 ≥ 視覺在 UCF 四骨幹全部成立。</a:t>
            </a:r>
          </a:p>
          <a:p>
            <a:pPr marL="24" indent="-14" algn="l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方法排序不變；主要結論與所有質性判讀維持。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C822E73-383E-461F-9C03-646CDE80BD81}"/>
              </a:ext>
            </a:extLst>
          </p:cNvPr>
          <p:cNvSpPr>
            <a:spLocks noGrp="1"/>
          </p:cNvSpPr>
          <p:nvPr/>
        </p:nvSpPr>
        <p:spPr>
          <a:xfrm>
            <a:off x="2247900" y="5562600"/>
            <a:ext cx="7696200" cy="590550"/>
          </a:xfrm>
          <a:prstGeom prst="roundRect">
            <a:avLst>
              <a:gd name="adj" fmla="val 12903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343BC3-35B5-4AA1-A073-EDB80AFF8DC0}"/>
              </a:ext>
            </a:extLst>
          </p:cNvPr>
          <p:cNvSpPr>
            <a:spLocks noGrp="1"/>
          </p:cNvSpPr>
          <p:nvPr/>
        </p:nvSpPr>
        <p:spPr>
          <a:xfrm>
            <a:off x="2247900" y="5562600"/>
            <a:ext cx="66675" cy="59055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344BD3-0263-4B87-AFB4-FE2887205AF1}"/>
              </a:ext>
            </a:extLst>
          </p:cNvPr>
          <p:cNvSpPr>
            <a:spLocks noGrp="1"/>
          </p:cNvSpPr>
          <p:nvPr/>
        </p:nvSpPr>
        <p:spPr>
          <a:xfrm>
            <a:off x="2438400" y="5695950"/>
            <a:ext cx="7372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回答重點：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−0.06 只指頭條三種子結果；29 格整體平均是 −0.16。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A86375E5-904A-480F-BDC4-0C55E5AADA47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D3FCBB-C28A-42F5-82F5-1A3EC75858F5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來源：results/_consistency_rerun/</a:t>
            </a:r>
          </a:p>
        </p:txBody>
      </p:sp>
    </p:spTree>
    <p:extLst>
      <p:ext uri="{BB962C8B-B14F-4D97-AF65-F5344CB8AC3E}">
        <p14:creationId xmlns:p14="http://schemas.microsoft.com/office/powerpoint/2010/main" val="25399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569906B-B799-4414-AA47-F128B9B13C1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8A146E-FECE-4720-82F6-C86CD52433F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可學習純量晚期融合：學到的仍接近等權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B0757A5-8BB0-4C70-AF3F-D80B19BF358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A6E006-6D82-43F2-89B4-837D9E39BB75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B42F8C8-DB4B-426A-AB70-1CCB995B179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93395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BF3B3C-7F29-4D44-BE4C-B85AE9DF6E77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8 設定 × 3 種子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E7B71D-63DD-49E1-9F03-A2CF2A348D2E}"/>
              </a:ext>
            </a:extLst>
          </p:cNvPr>
          <p:cNvSpPr>
            <a:spLocks noGrp="1"/>
          </p:cNvSpPr>
          <p:nvPr/>
        </p:nvSpPr>
        <p:spPr>
          <a:xfrm>
            <a:off x="971550" y="2609850"/>
            <a:ext cx="4324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α → 0.44–0.49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8450AB-490C-4C00-9A5B-39902CFDD95B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≈ 等權初始化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CC35BE3-5866-47CE-B4FE-06B6AA37D9CA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3943350" cy="609600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66A0C1-334E-4931-9FC0-32DB7BB319F6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66675" cy="6096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E3FDAA-7456-4722-8FA0-9CFED8B135E3}"/>
              </a:ext>
            </a:extLst>
          </p:cNvPr>
          <p:cNvSpPr>
            <a:spLocks noGrp="1"/>
          </p:cNvSpPr>
          <p:nvPr/>
        </p:nvSpPr>
        <p:spPr>
          <a:xfrm>
            <a:off x="1352550" y="4114800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控制結果：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與固定等權差 ≤ 0.9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E52AE89-DD53-43DB-A2FA-877577CC8AD6}"/>
              </a:ext>
            </a:extLst>
          </p:cNvPr>
          <p:cNvSpPr>
            <a:spLocks noGrp="1"/>
          </p:cNvSpPr>
          <p:nvPr/>
        </p:nvSpPr>
        <p:spPr>
          <a:xfrm>
            <a:off x="5981700" y="1752600"/>
            <a:ext cx="554355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45C179-056A-4A97-811E-7EB18613E865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489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仍低於門控融合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13420C0-3AB9-4425-AB43-47F99F602878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07645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6CA6B6-649F-4EE2-BE6E-C29558433527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1.9–2.5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F96157-4985-446D-B299-B9A1C986C5F8}"/>
              </a:ext>
            </a:extLst>
          </p:cNvPr>
          <p:cNvSpPr>
            <a:spLocks noGrp="1"/>
          </p:cNvSpPr>
          <p:nvPr/>
        </p:nvSpPr>
        <p:spPr>
          <a:xfrm>
            <a:off x="6515100" y="3286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UCF AUC 落後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91A2F26-3E9D-4E09-A7A0-911F7E9B8FD9}"/>
              </a:ext>
            </a:extLst>
          </p:cNvPr>
          <p:cNvSpPr>
            <a:spLocks noGrp="1"/>
          </p:cNvSpPr>
          <p:nvPr/>
        </p:nvSpPr>
        <p:spPr>
          <a:xfrm>
            <a:off x="8820150" y="2647950"/>
            <a:ext cx="207645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90D87C-0A48-435B-9696-DEE4013CA3CC}"/>
              </a:ext>
            </a:extLst>
          </p:cNvPr>
          <p:cNvSpPr>
            <a:spLocks noGrp="1"/>
          </p:cNvSpPr>
          <p:nvPr/>
        </p:nvSpPr>
        <p:spPr>
          <a:xfrm>
            <a:off x="8972550" y="2771775"/>
            <a:ext cx="1771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10–13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F0C924-46C4-4BAF-B52A-CDEF741FA712}"/>
              </a:ext>
            </a:extLst>
          </p:cNvPr>
          <p:cNvSpPr>
            <a:spLocks noGrp="1"/>
          </p:cNvSpPr>
          <p:nvPr/>
        </p:nvSpPr>
        <p:spPr>
          <a:xfrm>
            <a:off x="8953500" y="3286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XD AP 落後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2CE4EB-588D-4C3D-B4CC-EAFF404616AB}"/>
              </a:ext>
            </a:extLst>
          </p:cNvPr>
          <p:cNvSpPr>
            <a:spLocks noGrp="1"/>
          </p:cNvSpPr>
          <p:nvPr/>
        </p:nvSpPr>
        <p:spPr>
          <a:xfrm>
            <a:off x="6419850" y="4019550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固定或可學習的靜態權重，都無法處理逐輸入變化的模態可靠度。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11660C-A36B-4E61-89D6-5DE813D47B0B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7429500" cy="685800"/>
          </a:xfrm>
          <a:prstGeom prst="roundRect">
            <a:avLst>
              <a:gd name="adj" fmla="val 111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A804BA-FC59-4B5E-BE0D-66C1FB2F5154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66675" cy="6858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FD0BDB-19F8-421C-B335-B93811352A25}"/>
              </a:ext>
            </a:extLst>
          </p:cNvPr>
          <p:cNvSpPr>
            <a:spLocks noGrp="1"/>
          </p:cNvSpPr>
          <p:nvPr/>
        </p:nvSpPr>
        <p:spPr>
          <a:xfrm>
            <a:off x="2571750" y="5524500"/>
            <a:ext cx="7105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結論：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重加權必須依輸入而變，而不是只學一個全域 α。</a:t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154C79A6-BCCF-4792-8B16-AF9C2A876B0E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216C84-8C7F-4C67-89B8-CCB512715D9A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來源：results/results-index.csv、論文第 5 章</a:t>
            </a:r>
          </a:p>
        </p:txBody>
      </p:sp>
    </p:spTree>
    <p:extLst>
      <p:ext uri="{BB962C8B-B14F-4D97-AF65-F5344CB8AC3E}">
        <p14:creationId xmlns:p14="http://schemas.microsoft.com/office/powerpoint/2010/main" val="566490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C543D5F-7C82-413D-8B3E-2CB33D95ECC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A214B2-9578-492E-ADE5-C5220B900D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254 / 290：為何排除 36 部 UCF 測試影片？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96DD9C8-F044-4F8D-A376-706DD61FE87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9E6A88-8A75-4FB0-92CC-942A78A5A61C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A36E78-1697-4424-8E35-0B3F6104BEF9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78130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97597E-78C9-4A2F-B8B7-47BB80976EB9}"/>
              </a:ext>
            </a:extLst>
          </p:cNvPr>
          <p:cNvSpPr>
            <a:spLocks noGrp="1"/>
          </p:cNvSpPr>
          <p:nvPr/>
        </p:nvSpPr>
        <p:spPr>
          <a:xfrm>
            <a:off x="990600" y="19716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36 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36CC42-6B4A-4339-B425-EC46E223D7E7}"/>
              </a:ext>
            </a:extLst>
          </p:cNvPr>
          <p:cNvSpPr>
            <a:spLocks noGrp="1"/>
          </p:cNvSpPr>
          <p:nvPr/>
        </p:nvSpPr>
        <p:spPr>
          <a:xfrm>
            <a:off x="971550" y="2486025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短於一個 64 影格片段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DCEB0A7-2F56-44FC-9E0E-EFAFFB7DAFA6}"/>
              </a:ext>
            </a:extLst>
          </p:cNvPr>
          <p:cNvSpPr>
            <a:spLocks noGrp="1"/>
          </p:cNvSpPr>
          <p:nvPr/>
        </p:nvSpPr>
        <p:spPr>
          <a:xfrm>
            <a:off x="3867150" y="1847850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E313D4-E3CC-4F4B-8454-AD858491BB81}"/>
              </a:ext>
            </a:extLst>
          </p:cNvPr>
          <p:cNvSpPr>
            <a:spLocks noGrp="1"/>
          </p:cNvSpPr>
          <p:nvPr/>
        </p:nvSpPr>
        <p:spPr>
          <a:xfrm>
            <a:off x="4019550" y="19716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12.4%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28E558-9098-42AE-8472-E1C1D0EA6E1E}"/>
              </a:ext>
            </a:extLst>
          </p:cNvPr>
          <p:cNvSpPr>
            <a:spLocks noGrp="1"/>
          </p:cNvSpPr>
          <p:nvPr/>
        </p:nvSpPr>
        <p:spPr>
          <a:xfrm>
            <a:off x="4000500" y="248602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占原測試影片比例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FC78242-E89B-4F1C-9E65-2B6598077E17}"/>
              </a:ext>
            </a:extLst>
          </p:cNvPr>
          <p:cNvSpPr>
            <a:spLocks noGrp="1"/>
          </p:cNvSpPr>
          <p:nvPr/>
        </p:nvSpPr>
        <p:spPr>
          <a:xfrm>
            <a:off x="6515100" y="1847850"/>
            <a:ext cx="24003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676E02-F915-438F-8013-BA444D76A228}"/>
              </a:ext>
            </a:extLst>
          </p:cNvPr>
          <p:cNvSpPr>
            <a:spLocks noGrp="1"/>
          </p:cNvSpPr>
          <p:nvPr/>
        </p:nvSpPr>
        <p:spPr>
          <a:xfrm>
            <a:off x="6667500" y="19716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254 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50F5E4-80BF-42D4-866C-C789083352CE}"/>
              </a:ext>
            </a:extLst>
          </p:cNvPr>
          <p:cNvSpPr>
            <a:spLocks noGrp="1"/>
          </p:cNvSpPr>
          <p:nvPr/>
        </p:nvSpPr>
        <p:spPr>
          <a:xfrm>
            <a:off x="6648450" y="248602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實際納入評估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2DED804-3279-48BA-836F-FF37E73FF7E0}"/>
              </a:ext>
            </a:extLst>
          </p:cNvPr>
          <p:cNvSpPr>
            <a:spLocks noGrp="1"/>
          </p:cNvSpPr>
          <p:nvPr/>
        </p:nvSpPr>
        <p:spPr>
          <a:xfrm>
            <a:off x="9163050" y="18478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35562E-9B34-473C-B1F0-4427C514F4B1}"/>
              </a:ext>
            </a:extLst>
          </p:cNvPr>
          <p:cNvSpPr>
            <a:spLocks noGrp="1"/>
          </p:cNvSpPr>
          <p:nvPr/>
        </p:nvSpPr>
        <p:spPr>
          <a:xfrm>
            <a:off x="9315450" y="1971675"/>
            <a:ext cx="188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64 影格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333D32-F771-4E1B-8B09-F650FDF32968}"/>
              </a:ext>
            </a:extLst>
          </p:cNvPr>
          <p:cNvSpPr>
            <a:spLocks noGrp="1"/>
          </p:cNvSpPr>
          <p:nvPr/>
        </p:nvSpPr>
        <p:spPr>
          <a:xfrm>
            <a:off x="9296400" y="2486025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架構最小處理單位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79E8279-05D5-4630-9198-8FFE363F4B97}"/>
              </a:ext>
            </a:extLst>
          </p:cNvPr>
          <p:cNvSpPr>
            <a:spLocks noGrp="1"/>
          </p:cNvSpPr>
          <p:nvPr/>
        </p:nvSpPr>
        <p:spPr>
          <a:xfrm>
            <a:off x="1181100" y="3429000"/>
            <a:ext cx="9829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A135E87-4541-4599-8295-B38279EB814A}"/>
              </a:ext>
            </a:extLst>
          </p:cNvPr>
          <p:cNvSpPr>
            <a:spLocks noGrp="1"/>
          </p:cNvSpPr>
          <p:nvPr/>
        </p:nvSpPr>
        <p:spPr>
          <a:xfrm>
            <a:off x="1371600" y="358140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F6E5E2"/>
          </a:solidFill>
          <a:ln w="0">
            <a:solidFill>
              <a:srgbClr val="F6E5E2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F2E04B-2B93-401D-8CA7-19D132473183}"/>
              </a:ext>
            </a:extLst>
          </p:cNvPr>
          <p:cNvSpPr>
            <a:spLocks noGrp="1"/>
          </p:cNvSpPr>
          <p:nvPr/>
        </p:nvSpPr>
        <p:spPr>
          <a:xfrm>
            <a:off x="1371600" y="3590925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原因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86D808-F75D-467C-AB4E-DD135AE52721}"/>
              </a:ext>
            </a:extLst>
          </p:cNvPr>
          <p:cNvSpPr>
            <a:spLocks noGrp="1"/>
          </p:cNvSpPr>
          <p:nvPr/>
        </p:nvSpPr>
        <p:spPr>
          <a:xfrm>
            <a:off x="2457450" y="356235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36 部影片短於一個 64 影格片段，低於架構最小單位。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FFD3E38A-39EF-4644-8229-392FCAEC873A}"/>
              </a:ext>
            </a:extLst>
          </p:cNvPr>
          <p:cNvSpPr>
            <a:spLocks noGrp="1"/>
          </p:cNvSpPr>
          <p:nvPr/>
        </p:nvSpPr>
        <p:spPr>
          <a:xfrm>
            <a:off x="1181100" y="4171950"/>
            <a:ext cx="9829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5BF7F324-25CA-4D04-B6E7-EE7BFC2EB035}"/>
              </a:ext>
            </a:extLst>
          </p:cNvPr>
          <p:cNvSpPr>
            <a:spLocks noGrp="1"/>
          </p:cNvSpPr>
          <p:nvPr/>
        </p:nvSpPr>
        <p:spPr>
          <a:xfrm>
            <a:off x="1371600" y="432435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A8B9D7-F98A-4D50-980B-6110A89685C4}"/>
              </a:ext>
            </a:extLst>
          </p:cNvPr>
          <p:cNvSpPr>
            <a:spLocks noGrp="1"/>
          </p:cNvSpPr>
          <p:nvPr/>
        </p:nvSpPr>
        <p:spPr>
          <a:xfrm>
            <a:off x="1371600" y="4333875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揭露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6E6688-783E-4879-81D2-EB1BA79E3EE9}"/>
              </a:ext>
            </a:extLst>
          </p:cNvPr>
          <p:cNvSpPr>
            <a:spLocks noGrp="1"/>
          </p:cNvSpPr>
          <p:nvPr/>
        </p:nvSpPr>
        <p:spPr>
          <a:xfrm>
            <a:off x="2457450" y="430530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訓練＋測試共排除 172 部短片（含測試 36 部）；規則與 254/290 已在論文第 4 章揭露。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1C522F4-22AE-4785-8533-F517DF1E979C}"/>
              </a:ext>
            </a:extLst>
          </p:cNvPr>
          <p:cNvSpPr>
            <a:spLocks noGrp="1"/>
          </p:cNvSpPr>
          <p:nvPr/>
        </p:nvSpPr>
        <p:spPr>
          <a:xfrm>
            <a:off x="1181100" y="4914900"/>
            <a:ext cx="9829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0437191-1995-45F0-AA79-1251FAB18DD5}"/>
              </a:ext>
            </a:extLst>
          </p:cNvPr>
          <p:cNvSpPr>
            <a:spLocks noGrp="1"/>
          </p:cNvSpPr>
          <p:nvPr/>
        </p:nvSpPr>
        <p:spPr>
          <a:xfrm>
            <a:off x="1371600" y="5067300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3F3E56-FD8F-4506-8AD7-069623860726}"/>
              </a:ext>
            </a:extLst>
          </p:cNvPr>
          <p:cNvSpPr>
            <a:spLocks noGrp="1"/>
          </p:cNvSpPr>
          <p:nvPr/>
        </p:nvSpPr>
        <p:spPr>
          <a:xfrm>
            <a:off x="1371600" y="5076825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重現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6D24B9-CDC2-42E9-B5F2-7E933117FB06}"/>
              </a:ext>
            </a:extLst>
          </p:cNvPr>
          <p:cNvSpPr>
            <a:spLocks noGrp="1"/>
          </p:cNvSpPr>
          <p:nvPr/>
        </p:nvSpPr>
        <p:spPr>
          <a:xfrm>
            <a:off x="2457450" y="504825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可由 git 內 data/ucf_total_frames.json 驗算每部影片影格數。</a:t>
            </a:r>
          </a:p>
        </p:txBody>
      </p:sp>
      <p:sp>
        <p:nvSpPr>
          <p:cNvPr id="29" name="直線接點 28">
            <a:extLst>
              <a:ext uri="{FF2B5EF4-FFF2-40B4-BE49-F238E27FC236}">
                <a16:creationId xmlns:a16="http://schemas.microsoft.com/office/drawing/2014/main" id="{D2F0FD3C-04D8-42A9-8E58-2F155B6C36AC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8BE065-B5E4-4029-B9DD-2CEC46C8B00E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4 章；data/ucf_total_frames.json</a:t>
            </a:r>
          </a:p>
        </p:txBody>
      </p:sp>
    </p:spTree>
    <p:extLst>
      <p:ext uri="{BB962C8B-B14F-4D97-AF65-F5344CB8AC3E}">
        <p14:creationId xmlns:p14="http://schemas.microsoft.com/office/powerpoint/2010/main" val="1097501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95FA709-4D85-4E83-A2F2-65AAF72BF55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E51CDD-867A-4326-9715-2F27FC1210D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門控行為證據：gate 值依類別系統性變化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76E9902-989E-478A-9DA8-04130F7D1AE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D65256-B67F-4819-BC70-E666313D93BA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E7E109A-6C9A-41B3-8817-C145AB0A16BD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A6DC75-40A1-467A-8889-9C286AA47C0E}"/>
              </a:ext>
            </a:extLst>
          </p:cNvPr>
          <p:cNvSpPr>
            <a:spLocks noGrp="1"/>
          </p:cNvSpPr>
          <p:nvPr/>
        </p:nvSpPr>
        <p:spPr>
          <a:xfrm>
            <a:off x="723900" y="17049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UCF-Crime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99D8F0F-D10D-4DE7-8C63-32758214A47C}"/>
              </a:ext>
            </a:extLst>
          </p:cNvPr>
          <p:cNvSpPr>
            <a:spLocks noGrp="1"/>
          </p:cNvSpPr>
          <p:nvPr/>
        </p:nvSpPr>
        <p:spPr>
          <a:xfrm>
            <a:off x="6343650" y="169545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9EEE8"/>
          </a:solidFill>
          <a:ln w="0">
            <a:solidFill>
              <a:srgbClr val="D9EEE8"/>
            </a:solidFill>
            <a:prstDash val="solid"/>
          </a:ln>
        </p:spPr>
        <p:txBody>
          <a:bodyPr/>
          <a:p/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3FCF89-32BF-470C-A609-7338747A7860}"/>
              </a:ext>
            </a:extLst>
          </p:cNvPr>
          <p:cNvSpPr>
            <a:spLocks noGrp="1"/>
          </p:cNvSpPr>
          <p:nvPr/>
        </p:nvSpPr>
        <p:spPr>
          <a:xfrm>
            <a:off x="6343650" y="17049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XD-Violence</a:t>
            </a:r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6204" y="2114550"/>
            <a:ext cx="3577941" cy="318135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24681" y="2114550"/>
            <a:ext cx="3724288" cy="31813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5509C7D-0228-4D7F-9697-B181B1A12DA1}"/>
              </a:ext>
            </a:extLst>
          </p:cNvPr>
          <p:cNvSpPr>
            <a:spLocks noGrp="1"/>
          </p:cNvSpPr>
          <p:nvPr/>
        </p:nvSpPr>
        <p:spPr>
          <a:xfrm>
            <a:off x="1619250" y="5543550"/>
            <a:ext cx="895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CLIP、s42、探索性；gate 值依類別系統性變化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9429B56-C627-47F6-8622-CF0895FAF006}"/>
              </a:ext>
            </a:extLst>
          </p:cNvPr>
          <p:cNvSpPr>
            <a:spLocks noGrp="1"/>
          </p:cNvSpPr>
          <p:nvPr/>
        </p:nvSpPr>
        <p:spPr>
          <a:xfrm>
            <a:off x="2800350" y="5905500"/>
            <a:ext cx="6591300" cy="438150"/>
          </a:xfrm>
          <a:prstGeom prst="roundRect">
            <a:avLst>
              <a:gd name="adj" fmla="val 17391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855B02-FBB4-48D8-85D3-D6C3484B6739}"/>
              </a:ext>
            </a:extLst>
          </p:cNvPr>
          <p:cNvSpPr>
            <a:spLocks noGrp="1"/>
          </p:cNvSpPr>
          <p:nvPr/>
        </p:nvSpPr>
        <p:spPr>
          <a:xfrm>
            <a:off x="2800350" y="5905500"/>
            <a:ext cx="66675" cy="4381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91A2EB-84B3-4EE4-9FCA-DA4143AAF64A}"/>
              </a:ext>
            </a:extLst>
          </p:cNvPr>
          <p:cNvSpPr>
            <a:spLocks noGrp="1"/>
          </p:cNvSpPr>
          <p:nvPr/>
        </p:nvSpPr>
        <p:spPr>
          <a:xfrm>
            <a:off x="2990850" y="6038850"/>
            <a:ext cx="6267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307"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解讀邊界：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用於機制一致性檢查，不作為逐類效能主張。</a:t>
            </a: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354FAD00-5808-4771-8B9D-4F654D21FCCA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C78E99-243F-4EE7-B4AA-5563B671466B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來源：thesis/figures/fig_gate_by_category_ucf.png、fig_gate_by_category_xd.png</a:t>
            </a:r>
          </a:p>
        </p:txBody>
      </p:sp>
    </p:spTree>
    <p:extLst>
      <p:ext uri="{BB962C8B-B14F-4D97-AF65-F5344CB8AC3E}">
        <p14:creationId xmlns:p14="http://schemas.microsoft.com/office/powerpoint/2010/main" val="815330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421241B-26C4-42B1-972C-4EABFC13008B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05F247-F31D-4162-B73F-49FF1145B5E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分數校準與部署：排序可用，不等於固定閾值可直接上線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3029111-D533-4B56-A49A-01DD46318E45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AFBE25-E928-4563-ADB0-93EB6292EC2F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66888"/>
            <a:ext cx="4953000" cy="3095625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261CBAA-6703-492F-B278-9666684692A5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F6E5E2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0C2C4F-96B4-4A10-B296-7C1DEBCC5998}"/>
              </a:ext>
            </a:extLst>
          </p:cNvPr>
          <p:cNvSpPr>
            <a:spLocks noGrp="1"/>
          </p:cNvSpPr>
          <p:nvPr/>
        </p:nvSpPr>
        <p:spPr>
          <a:xfrm>
            <a:off x="6305550" y="19335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0.986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FD7392-0921-4122-A6B1-BE0442308B6C}"/>
              </a:ext>
            </a:extLst>
          </p:cNvPr>
          <p:cNvSpPr>
            <a:spLocks noGrp="1"/>
          </p:cNvSpPr>
          <p:nvPr/>
        </p:nvSpPr>
        <p:spPr>
          <a:xfrm>
            <a:off x="6286500" y="24479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正常影格分數 p75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A0D778B-1430-4C44-932A-0055A289FAA5}"/>
              </a:ext>
            </a:extLst>
          </p:cNvPr>
          <p:cNvSpPr>
            <a:spLocks noGrp="1"/>
          </p:cNvSpPr>
          <p:nvPr/>
        </p:nvSpPr>
        <p:spPr>
          <a:xfrm>
            <a:off x="8705850" y="18097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F8E9D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2D15F-30A8-4490-8FD8-EE489B92088F}"/>
              </a:ext>
            </a:extLst>
          </p:cNvPr>
          <p:cNvSpPr>
            <a:spLocks noGrp="1"/>
          </p:cNvSpPr>
          <p:nvPr/>
        </p:nvSpPr>
        <p:spPr>
          <a:xfrm>
            <a:off x="8858250" y="19335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0.874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37EFC4-C18E-48D3-A60E-AD8559A3E477}"/>
              </a:ext>
            </a:extLst>
          </p:cNvPr>
          <p:cNvSpPr>
            <a:spLocks noGrp="1"/>
          </p:cNvSpPr>
          <p:nvPr/>
        </p:nvSpPr>
        <p:spPr>
          <a:xfrm>
            <a:off x="8839200" y="24479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異常影格平均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031AB97-16A0-413E-9F32-42AB1465E193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176798-2826-40B0-88B4-D88DD314510A}"/>
              </a:ext>
            </a:extLst>
          </p:cNvPr>
          <p:cNvSpPr>
            <a:spLocks noGrp="1"/>
          </p:cNvSpPr>
          <p:nvPr/>
        </p:nvSpPr>
        <p:spPr>
          <a:xfrm>
            <a:off x="6305550" y="32289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0.382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EC05B4-E943-499C-86CF-DF255D2D539A}"/>
              </a:ext>
            </a:extLst>
          </p:cNvPr>
          <p:cNvSpPr>
            <a:spLocks noGrp="1"/>
          </p:cNvSpPr>
          <p:nvPr/>
        </p:nvSpPr>
        <p:spPr>
          <a:xfrm>
            <a:off x="6286500" y="37433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正常影格平均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BD30386-4675-4293-81AB-39FB0452D08E}"/>
              </a:ext>
            </a:extLst>
          </p:cNvPr>
          <p:cNvSpPr>
            <a:spLocks noGrp="1"/>
          </p:cNvSpPr>
          <p:nvPr/>
        </p:nvSpPr>
        <p:spPr>
          <a:xfrm>
            <a:off x="8705850" y="3105150"/>
            <a:ext cx="2286000" cy="1066800"/>
          </a:xfrm>
          <a:prstGeom prst="roundRect">
            <a:avLst>
              <a:gd name="adj" fmla="val 7143"/>
            </a:avLst>
          </a:prstGeom>
          <a:solidFill>
            <a:srgbClr val="D9EEE8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96752C-6F5C-4024-A908-5EFD54058C9C}"/>
              </a:ext>
            </a:extLst>
          </p:cNvPr>
          <p:cNvSpPr>
            <a:spLocks noGrp="1"/>
          </p:cNvSpPr>
          <p:nvPr/>
        </p:nvSpPr>
        <p:spPr>
          <a:xfrm>
            <a:off x="8858250" y="3228975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AUC / AP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3A1882-F962-451D-951F-9398FCBA7483}"/>
              </a:ext>
            </a:extLst>
          </p:cNvPr>
          <p:cNvSpPr>
            <a:spLocks noGrp="1"/>
          </p:cNvSpPr>
          <p:nvPr/>
        </p:nvSpPr>
        <p:spPr>
          <a:xfrm>
            <a:off x="8839200" y="374332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只評估排序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6C38EAD-3443-4015-BACD-2714AB1DFA53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83D477-10F1-4256-808A-D414919BC3ED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66675" cy="6858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9DB508-1957-4025-9432-2282013B9CF6}"/>
              </a:ext>
            </a:extLst>
          </p:cNvPr>
          <p:cNvSpPr>
            <a:spLocks noGrp="1"/>
          </p:cNvSpPr>
          <p:nvPr/>
        </p:nvSpPr>
        <p:spPr>
          <a:xfrm>
            <a:off x="1066800" y="5353050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有正負標籤時：temperature scaling／isotonic 事後校準。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286FBF3-2594-41AA-B334-9EF3AA9D2502}"/>
              </a:ext>
            </a:extLst>
          </p:cNvPr>
          <p:cNvSpPr>
            <a:spLocks noGrp="1"/>
          </p:cNvSpPr>
          <p:nvPr/>
        </p:nvSpPr>
        <p:spPr>
          <a:xfrm>
            <a:off x="6362700" y="52197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DB4AF0-2EF2-47C6-825C-C0EF96C02D89}"/>
              </a:ext>
            </a:extLst>
          </p:cNvPr>
          <p:cNvSpPr>
            <a:spLocks noGrp="1"/>
          </p:cNvSpPr>
          <p:nvPr/>
        </p:nvSpPr>
        <p:spPr>
          <a:xfrm>
            <a:off x="6362700" y="5219700"/>
            <a:ext cx="66675" cy="6858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3574E6-A39F-4D28-BE75-6D3B7BF11BED}"/>
              </a:ext>
            </a:extLst>
          </p:cNvPr>
          <p:cNvSpPr>
            <a:spLocks noGrp="1"/>
          </p:cNvSpPr>
          <p:nvPr/>
        </p:nvSpPr>
        <p:spPr>
          <a:xfrm>
            <a:off x="6553200" y="5353050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僅正常資料時：以正常分數分位數設定目標誤報率，或 conformal／EVT 門檻；滑動視窗排序可降低對固定閾值的依賴，但仍需決策規則。皆不需重訓骨幹。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DE730EE5-098D-4245-ACD0-3B14993AE6C6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76081C-474D-4352-87AA-DBC7DC545430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7.7.2 節</a:t>
            </a:r>
          </a:p>
        </p:txBody>
      </p:sp>
    </p:spTree>
    <p:extLst>
      <p:ext uri="{BB962C8B-B14F-4D97-AF65-F5344CB8AC3E}">
        <p14:creationId xmlns:p14="http://schemas.microsoft.com/office/powerpoint/2010/main" val="829841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4A3015-6BBC-4BD8-B3C0-CFF2D588284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備用投影片｜B6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6629E4-EDE5-4589-ADDD-A5CCA66E7FFF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B2545"/>
                </a:solidFill>
                <a:latin typeface="Microsoft JhengHei"/>
                <a:ea typeface="Microsoft JhengHei"/>
                <a:cs typeface="Microsoft JhengHei"/>
              </a:rPr>
              <a:t>TTA 方法選擇流程：原則先定，再做跨條件重現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4DB3A4D0-702F-4329-86BB-2A100FEBDA9F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C5E7DE-CBA2-41F3-9D5C-1F98F13A8132}"/>
              </a:ext>
            </a:extLst>
          </p:cNvPr>
          <p:cNvSpPr>
            <a:spLocks noGrp="1"/>
          </p:cNvSpPr>
          <p:nvPr/>
        </p:nvSpPr>
        <p:spPr>
          <a:xfrm>
            <a:off x="11268075" y="3143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4FB4814-71FA-4F2B-A286-F15A6F66A655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A958B3B-A99D-4E4D-9FE2-FC65A10A2404}"/>
              </a:ext>
            </a:extLst>
          </p:cNvPr>
          <p:cNvSpPr>
            <a:spLocks noGrp="1"/>
          </p:cNvSpPr>
          <p:nvPr/>
        </p:nvSpPr>
        <p:spPr>
          <a:xfrm>
            <a:off x="1171575" y="2085975"/>
            <a:ext cx="419100" cy="419100"/>
          </a:xfrm>
          <a:prstGeom prst="ellipse">
            <a:avLst/>
          </a:prstGeom>
          <a:solidFill>
            <a:srgbClr val="8A98A5"/>
          </a:solidFill>
          <a:ln w="0">
            <a:solidFill>
              <a:srgbClr val="8A98A5"/>
            </a:solidFill>
            <a:prstDash val="solid"/>
          </a:ln>
        </p:spPr>
        <p:txBody>
          <a:bodyPr/>
          <a:p/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DF21AC-FB4D-4E7A-806C-BC5860C0CFC7}"/>
              </a:ext>
            </a:extLst>
          </p:cNvPr>
          <p:cNvSpPr>
            <a:spLocks noGrp="1"/>
          </p:cNvSpPr>
          <p:nvPr/>
        </p:nvSpPr>
        <p:spPr>
          <a:xfrm>
            <a:off x="117157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A476C-88BF-44C8-9A26-19F4F252C60A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基準線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ED900B-8AB2-474C-8DA7-7C5E257D27E8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Source-Only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4E9BA-B7D1-4086-8C5B-6EFCDD9926D7}"/>
              </a:ext>
            </a:extLst>
          </p:cNvPr>
          <p:cNvSpPr>
            <a:spLocks noGrp="1"/>
          </p:cNvSpPr>
          <p:nvPr/>
        </p:nvSpPr>
        <p:spPr>
          <a:xfrm>
            <a:off x="217170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E30B297-327C-41A9-8964-6C98ECB10508}"/>
              </a:ext>
            </a:extLst>
          </p:cNvPr>
          <p:cNvSpPr>
            <a:spLocks noGrp="1"/>
          </p:cNvSpPr>
          <p:nvPr/>
        </p:nvSpPr>
        <p:spPr>
          <a:xfrm>
            <a:off x="251460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06BF331-6087-4C62-A6E8-7B9DCDF6C54A}"/>
              </a:ext>
            </a:extLst>
          </p:cNvPr>
          <p:cNvSpPr>
            <a:spLocks noGrp="1"/>
          </p:cNvSpPr>
          <p:nvPr/>
        </p:nvSpPr>
        <p:spPr>
          <a:xfrm>
            <a:off x="3095625" y="20859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687FDC-8BFD-4C51-94B7-3593FFC693DB}"/>
              </a:ext>
            </a:extLst>
          </p:cNvPr>
          <p:cNvSpPr>
            <a:spLocks noGrp="1"/>
          </p:cNvSpPr>
          <p:nvPr/>
        </p:nvSpPr>
        <p:spPr>
          <a:xfrm>
            <a:off x="309562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675DD3-A2A8-46B9-AE38-25D7C6EE6585}"/>
              </a:ext>
            </a:extLst>
          </p:cNvPr>
          <p:cNvSpPr>
            <a:spLocks noGrp="1"/>
          </p:cNvSpPr>
          <p:nvPr/>
        </p:nvSpPr>
        <p:spPr>
          <a:xfrm>
            <a:off x="260985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熵最小化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74DD96-E200-4694-9031-74F76455F9B5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TENT／SAR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53D909-5526-4BB5-AC13-92C36D8CAA0C}"/>
              </a:ext>
            </a:extLst>
          </p:cNvPr>
          <p:cNvSpPr>
            <a:spLocks noGrp="1"/>
          </p:cNvSpPr>
          <p:nvPr/>
        </p:nvSpPr>
        <p:spPr>
          <a:xfrm>
            <a:off x="409575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EB3B47D-7D43-43AC-BA23-A3082080887C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47CF5CA-55B7-49F3-86FE-3B9FA766A8C5}"/>
              </a:ext>
            </a:extLst>
          </p:cNvPr>
          <p:cNvSpPr>
            <a:spLocks noGrp="1"/>
          </p:cNvSpPr>
          <p:nvPr/>
        </p:nvSpPr>
        <p:spPr>
          <a:xfrm>
            <a:off x="5019675" y="2085975"/>
            <a:ext cx="419100" cy="419100"/>
          </a:xfrm>
          <a:prstGeom prst="ellipse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C384F5-C2EC-4070-B957-A2DE76A967A6}"/>
              </a:ext>
            </a:extLst>
          </p:cNvPr>
          <p:cNvSpPr>
            <a:spLocks noGrp="1"/>
          </p:cNvSpPr>
          <p:nvPr/>
        </p:nvSpPr>
        <p:spPr>
          <a:xfrm>
            <a:off x="501967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401031-CA21-47C4-ABB8-2D2DD04C4807}"/>
              </a:ext>
            </a:extLst>
          </p:cNvPr>
          <p:cNvSpPr>
            <a:spLocks noGrp="1"/>
          </p:cNvSpPr>
          <p:nvPr/>
        </p:nvSpPr>
        <p:spPr>
          <a:xfrm>
            <a:off x="453390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</a:rPr>
              <a:t>特徵統計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5E59E3-CAAD-4092-9907-8A078B137039}"/>
              </a:ext>
            </a:extLst>
          </p:cNvPr>
          <p:cNvSpPr>
            <a:spLocks noGrp="1"/>
          </p:cNvSpPr>
          <p:nvPr/>
        </p:nvSpPr>
        <p:spPr>
          <a:xfrm>
            <a:off x="451485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NORM／CORAL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CA1037-1AC3-47FE-BF00-DD69F11F5582}"/>
              </a:ext>
            </a:extLst>
          </p:cNvPr>
          <p:cNvSpPr>
            <a:spLocks noGrp="1"/>
          </p:cNvSpPr>
          <p:nvPr/>
        </p:nvSpPr>
        <p:spPr>
          <a:xfrm>
            <a:off x="601980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722B520-4935-4658-A705-63C63699EE54}"/>
              </a:ext>
            </a:extLst>
          </p:cNvPr>
          <p:cNvSpPr>
            <a:spLocks noGrp="1"/>
          </p:cNvSpPr>
          <p:nvPr/>
        </p:nvSpPr>
        <p:spPr>
          <a:xfrm>
            <a:off x="636270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18986F6-196C-4499-AE1E-10025EBD9AA8}"/>
              </a:ext>
            </a:extLst>
          </p:cNvPr>
          <p:cNvSpPr>
            <a:spLocks noGrp="1"/>
          </p:cNvSpPr>
          <p:nvPr/>
        </p:nvSpPr>
        <p:spPr>
          <a:xfrm>
            <a:off x="6943725" y="2085975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4E2CFD6-3C6B-4E55-B0F7-8BD689D685F8}"/>
              </a:ext>
            </a:extLst>
          </p:cNvPr>
          <p:cNvSpPr>
            <a:spLocks noGrp="1"/>
          </p:cNvSpPr>
          <p:nvPr/>
        </p:nvSpPr>
        <p:spPr>
          <a:xfrm>
            <a:off x="694372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99CE4D-4CB9-4E8A-B00A-C8470FBEEF50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六策略搜尋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DEBFA4-439C-4ADC-AD2A-555FAF6C9EF8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六條候選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62DE3E-175C-4C84-88DE-8A0BC71C8B30}"/>
              </a:ext>
            </a:extLst>
          </p:cNvPr>
          <p:cNvSpPr>
            <a:spLocks noGrp="1"/>
          </p:cNvSpPr>
          <p:nvPr/>
        </p:nvSpPr>
        <p:spPr>
          <a:xfrm>
            <a:off x="794385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58981EB5-040F-40D5-BB4C-A1438A8E67C0}"/>
              </a:ext>
            </a:extLst>
          </p:cNvPr>
          <p:cNvSpPr>
            <a:spLocks noGrp="1"/>
          </p:cNvSpPr>
          <p:nvPr/>
        </p:nvSpPr>
        <p:spPr>
          <a:xfrm>
            <a:off x="828675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A0E1E92D-7A77-46A2-8D87-E749B0A13AF9}"/>
              </a:ext>
            </a:extLst>
          </p:cNvPr>
          <p:cNvSpPr>
            <a:spLocks noGrp="1"/>
          </p:cNvSpPr>
          <p:nvPr/>
        </p:nvSpPr>
        <p:spPr>
          <a:xfrm>
            <a:off x="8867775" y="2085975"/>
            <a:ext cx="419100" cy="419100"/>
          </a:xfrm>
          <a:prstGeom prst="ellipse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D7F881-3C00-4C36-9D70-219BF7A59A74}"/>
              </a:ext>
            </a:extLst>
          </p:cNvPr>
          <p:cNvSpPr>
            <a:spLocks noGrp="1"/>
          </p:cNvSpPr>
          <p:nvPr/>
        </p:nvSpPr>
        <p:spPr>
          <a:xfrm>
            <a:off x="886777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438950-0939-4C5B-AA6F-CEF29DD60302}"/>
              </a:ext>
            </a:extLst>
          </p:cNvPr>
          <p:cNvSpPr>
            <a:spLocks noGrp="1"/>
          </p:cNvSpPr>
          <p:nvPr/>
        </p:nvSpPr>
        <p:spPr>
          <a:xfrm>
            <a:off x="838200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B7A78"/>
                </a:solidFill>
                <a:latin typeface="Microsoft JhengHei"/>
                <a:ea typeface="Microsoft JhengHei"/>
                <a:cs typeface="Microsoft JhengHei"/>
              </a:rPr>
              <a:t>勝出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6EC172-0D9E-44D0-B76A-F6A15DBEBDE8}"/>
              </a:ext>
            </a:extLst>
          </p:cNvPr>
          <p:cNvSpPr>
            <a:spLocks noGrp="1"/>
          </p:cNvSpPr>
          <p:nvPr/>
        </p:nvSpPr>
        <p:spPr>
          <a:xfrm>
            <a:off x="836295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可靠度重加權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07363C-2640-465A-B5C5-0498629E83BB}"/>
              </a:ext>
            </a:extLst>
          </p:cNvPr>
          <p:cNvSpPr>
            <a:spLocks noGrp="1"/>
          </p:cNvSpPr>
          <p:nvPr/>
        </p:nvSpPr>
        <p:spPr>
          <a:xfrm>
            <a:off x="9867900" y="2390775"/>
            <a:ext cx="342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AFF709B2-9498-4786-A4C6-C202AF6F6BD0}"/>
              </a:ext>
            </a:extLst>
          </p:cNvPr>
          <p:cNvSpPr>
            <a:spLocks noGrp="1"/>
          </p:cNvSpPr>
          <p:nvPr/>
        </p:nvSpPr>
        <p:spPr>
          <a:xfrm>
            <a:off x="10210800" y="1952625"/>
            <a:ext cx="15811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1AEBDA1C-3093-4160-BEAA-D75362498B34}"/>
              </a:ext>
            </a:extLst>
          </p:cNvPr>
          <p:cNvSpPr>
            <a:spLocks noGrp="1"/>
          </p:cNvSpPr>
          <p:nvPr/>
        </p:nvSpPr>
        <p:spPr>
          <a:xfrm>
            <a:off x="10791825" y="2085975"/>
            <a:ext cx="419100" cy="419100"/>
          </a:xfrm>
          <a:prstGeom prst="ellipse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92CC36-773B-460A-82CA-FEA52DDD81FA}"/>
              </a:ext>
            </a:extLst>
          </p:cNvPr>
          <p:cNvSpPr>
            <a:spLocks noGrp="1"/>
          </p:cNvSpPr>
          <p:nvPr/>
        </p:nvSpPr>
        <p:spPr>
          <a:xfrm>
            <a:off x="10791825" y="20955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3AFA8C-AF17-4FDE-A7EC-66E3BC7A29A6}"/>
              </a:ext>
            </a:extLst>
          </p:cNvPr>
          <p:cNvSpPr>
            <a:spLocks noGrp="1"/>
          </p:cNvSpPr>
          <p:nvPr/>
        </p:nvSpPr>
        <p:spPr>
          <a:xfrm>
            <a:off x="10306050" y="26098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97841"/>
                </a:solidFill>
                <a:latin typeface="Microsoft JhengHei"/>
                <a:ea typeface="Microsoft JhengHei"/>
                <a:cs typeface="Microsoft JhengHei"/>
              </a:rPr>
              <a:t>跨條件重現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08CD62-04C5-4446-9988-CAAAF30A3949}"/>
              </a:ext>
            </a:extLst>
          </p:cNvPr>
          <p:cNvSpPr>
            <a:spLocks noGrp="1"/>
          </p:cNvSpPr>
          <p:nvPr/>
        </p:nvSpPr>
        <p:spPr>
          <a:xfrm>
            <a:off x="10287000" y="29241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1606A"/>
                </a:solidFill>
                <a:latin typeface="Microsoft JhengHei"/>
                <a:ea typeface="Microsoft JhengHei"/>
                <a:cs typeface="Microsoft JhengHei"/>
              </a:rPr>
              <a:t>骨幹／強度／種子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654F8E4-8180-4EB5-BE50-96C4B617D380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9944100" cy="66675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059347-7148-48DA-BB28-60B488F1CA20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66675" cy="66675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CA79768-7B81-45A7-A539-397BD3DD4177}"/>
              </a:ext>
            </a:extLst>
          </p:cNvPr>
          <p:cNvSpPr>
            <a:spLocks noGrp="1"/>
          </p:cNvSpPr>
          <p:nvPr/>
        </p:nvSpPr>
        <p:spPr>
          <a:xfrm>
            <a:off x="1314450" y="3771900"/>
            <a:ext cx="962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方法搜尋原則：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無標籤、無調參、原則先定；CORAL 於留一污染條件驗證中淘汰。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D2F3634E-5472-4E63-A3F7-0953F675E09F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9944100" cy="800100"/>
          </a:xfrm>
          <a:prstGeom prst="roundRect">
            <a:avLst>
              <a:gd name="adj" fmla="val 9524"/>
            </a:avLst>
          </a:prstGeom>
          <a:solidFill>
            <a:srgbClr val="E5F2EC"/>
          </a:solidFill>
          <a:ln w="0">
            <a:solidFill>
              <a:srgbClr val="E5F2EC"/>
            </a:solidFill>
            <a:prstDash val="solid"/>
          </a:ln>
        </p:spPr>
        <p:txBody>
          <a:bodyPr/>
          <a:p/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EE0FE55-1068-4912-ACE7-46980EF425C2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6675" cy="800100"/>
          </a:xfrm>
          <a:prstGeom prst="rect">
            <a:avLst/>
          </a:prstGeom>
          <a:solidFill>
            <a:srgbClr val="2B7A78"/>
          </a:solidFill>
          <a:ln w="0">
            <a:solidFill>
              <a:srgbClr val="2B7A78"/>
            </a:solidFill>
            <a:prstDash val="solid"/>
          </a:ln>
        </p:spPr>
        <p:txBody>
          <a:bodyPr/>
          <a:p/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CC29F26-4987-422D-B69D-CEEA10E86B07}"/>
              </a:ext>
            </a:extLst>
          </p:cNvPr>
          <p:cNvSpPr>
            <a:spLocks noGrp="1"/>
          </p:cNvSpPr>
          <p:nvPr/>
        </p:nvSpPr>
        <p:spPr>
          <a:xfrm>
            <a:off x="1314450" y="4648200"/>
            <a:ext cx="962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跨條件重現：</a:t>
            </a: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勝出方法在篩選未用的骨幹（Base、Giant）、強度（1/2/4）、種子（123/2024）上重現。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ADDADE9-ECDF-459D-9CB9-0C1F490ACAED}"/>
              </a:ext>
            </a:extLst>
          </p:cNvPr>
          <p:cNvSpPr>
            <a:spLocks noGrp="1"/>
          </p:cNvSpPr>
          <p:nvPr/>
        </p:nvSpPr>
        <p:spPr>
          <a:xfrm>
            <a:off x="2343150" y="5572125"/>
            <a:ext cx="7505700" cy="552450"/>
          </a:xfrm>
          <a:prstGeom prst="roundRect">
            <a:avLst>
              <a:gd name="adj" fmla="val 13793"/>
            </a:avLst>
          </a:prstGeom>
          <a:solidFill>
            <a:srgbClr val="F8E9DF"/>
          </a:solidFill>
          <a:ln w="0">
            <a:solidFill>
              <a:srgbClr val="F8E9DF"/>
            </a:solidFill>
            <a:prstDash val="solid"/>
          </a:ln>
        </p:spPr>
        <p:txBody>
          <a:bodyPr/>
          <a:p/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D9CC32F-8181-48D3-96AF-D4F34016A3F0}"/>
              </a:ext>
            </a:extLst>
          </p:cNvPr>
          <p:cNvSpPr>
            <a:spLocks noGrp="1"/>
          </p:cNvSpPr>
          <p:nvPr/>
        </p:nvSpPr>
        <p:spPr>
          <a:xfrm>
            <a:off x="2343150" y="5572125"/>
            <a:ext cx="66675" cy="552450"/>
          </a:xfrm>
          <a:prstGeom prst="rect">
            <a:avLst/>
          </a:prstGeom>
          <a:solidFill>
            <a:srgbClr val="D97841"/>
          </a:solidFill>
          <a:ln w="0">
            <a:solidFill>
              <a:srgbClr val="D97841"/>
            </a:solidFill>
            <a:prstDash val="solid"/>
          </a:ln>
        </p:spPr>
        <p:txBody>
          <a:bodyPr/>
          <a:p/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DDE73BE-3503-4304-84CC-42D0CCDAF0C5}"/>
              </a:ext>
            </a:extLst>
          </p:cNvPr>
          <p:cNvSpPr>
            <a:spLocks noGrp="1"/>
          </p:cNvSpPr>
          <p:nvPr/>
        </p:nvSpPr>
        <p:spPr>
          <a:xfrm>
            <a:off x="2533650" y="5705475"/>
            <a:ext cx="7181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殘餘選擇風險：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個污染條件亦參與策略形成（論文第 </a:t>
            </a:r>
            <a:r>
              <a:rPr lang="en-US" altLang="zh-TW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6 </a:t>
            </a:r>
            <a:r>
              <a:rPr lang="zh-TW" altLang="en-US"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章揭露）</a:t>
            </a:r>
            <a:endParaRPr sz="135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9" name="直線接點 48">
            <a:extLst>
              <a:ext uri="{FF2B5EF4-FFF2-40B4-BE49-F238E27FC236}">
                <a16:creationId xmlns:a16="http://schemas.microsoft.com/office/drawing/2014/main" id="{2B2830B2-E0D3-4164-9F99-7F5C947744F4}"/>
              </a:ext>
            </a:extLst>
          </p:cNvPr>
          <p:cNvSpPr>
            <a:spLocks noGrp="1"/>
          </p:cNvSpPr>
          <p:nvPr/>
        </p:nvSpPr>
        <p:spPr>
          <a:xfrm>
            <a:off x="590550" y="6457950"/>
            <a:ext cx="11010900" cy="9525"/>
          </a:xfrm>
          <a:prstGeom prst="line">
            <a:avLst/>
          </a:prstGeom>
          <a:noFill/>
          <a:ln w="9525">
            <a:solidFill>
              <a:srgbClr val="D7DEE5"/>
            </a:solidFill>
            <a:prstDash val="solid"/>
          </a:ln>
        </p:spPr>
        <p:txBody>
          <a:bodyPr/>
          <a:p/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3A51C8E-2525-41C3-B65A-00CCD0601501}"/>
              </a:ext>
            </a:extLst>
          </p:cNvPr>
          <p:cNvSpPr>
            <a:spLocks noGrp="1"/>
          </p:cNvSpPr>
          <p:nvPr/>
        </p:nvSpPr>
        <p:spPr>
          <a:xfrm>
            <a:off x="5429250" y="652462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來源：論文第 </a:t>
            </a:r>
            <a:r>
              <a:rPr lang="en-US" altLang="zh-TW"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6 </a:t>
            </a:r>
            <a:r>
              <a:rPr lang="zh-TW" altLang="en-US" sz="788" b="0">
                <a:solidFill>
                  <a:srgbClr val="8A98A5"/>
                </a:solidFill>
                <a:latin typeface="Microsoft JhengHei"/>
                <a:ea typeface="Microsoft JhengHei"/>
                <a:cs typeface="Microsoft JhengHei"/>
              </a:rPr>
              <a:t>章</a:t>
            </a:r>
            <a:endParaRPr sz="788" b="0">
              <a:solidFill>
                <a:srgbClr val="8A98A5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428937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3644</Words>
  <Application>Microsoft Office PowerPoint</Application>
  <DocSecurity>0</DocSecurity>
  <PresentationFormat>寬螢幕</PresentationFormat>
  <Paragraphs>621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4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Wei-Han Jeng</cp:lastModifiedBy>
  <cp:revision>2</cp:revision>
  <dcterms:created xsi:type="dcterms:W3CDTF">2026-07-19T21:51:36Z</dcterms:created>
  <dcterms:modified xsi:type="dcterms:W3CDTF">2026-07-20T04:17:59Z</dcterms:modified>
</cp:coreProperties>
</file>