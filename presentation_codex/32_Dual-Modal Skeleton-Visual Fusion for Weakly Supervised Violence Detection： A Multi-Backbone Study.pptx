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05ddf6d09c454e" /><Relationship Type="http://schemas.openxmlformats.org/officeDocument/2006/relationships/extended-properties" Target="/docProps/app.xml" Id="Re7d658c052274b9f" /><Relationship Type="http://schemas.openxmlformats.org/officeDocument/2006/relationships/officeDocument" Target="/ppt/presentation.xml" Id="Rf31d61e9d4c34d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af36ccf9be4827"/>
  </p:sldMasterIdLst>
  <p:notesMasterIdLst>
    <p:notesMasterId xmlns:r="http://schemas.openxmlformats.org/officeDocument/2006/relationships" r:id="R6c69c574969d4551"/>
  </p:notesMasterIdLst>
  <p:sldIdLst>
    <p:sldId xmlns:r="http://schemas.openxmlformats.org/officeDocument/2006/relationships" id="256" r:id="Rafdf576ddea84359"/>
    <p:sldId xmlns:r="http://schemas.openxmlformats.org/officeDocument/2006/relationships" id="257" r:id="R71cc3779f8b9439d"/>
    <p:sldId xmlns:r="http://schemas.openxmlformats.org/officeDocument/2006/relationships" id="258" r:id="R71c3f9829946430b"/>
    <p:sldId xmlns:r="http://schemas.openxmlformats.org/officeDocument/2006/relationships" id="259" r:id="R085827f009344480"/>
    <p:sldId xmlns:r="http://schemas.openxmlformats.org/officeDocument/2006/relationships" id="260" r:id="Raa98a37c3d51408f"/>
    <p:sldId xmlns:r="http://schemas.openxmlformats.org/officeDocument/2006/relationships" id="261" r:id="Rfd9c762a89764c1f"/>
    <p:sldId xmlns:r="http://schemas.openxmlformats.org/officeDocument/2006/relationships" id="262" r:id="Rb1ac54ba71a748bd"/>
    <p:sldId xmlns:r="http://schemas.openxmlformats.org/officeDocument/2006/relationships" id="263" r:id="R75ebe8f2d90746ac"/>
    <p:sldId xmlns:r="http://schemas.openxmlformats.org/officeDocument/2006/relationships" id="264" r:id="R5b58764afe71453a"/>
    <p:sldId xmlns:r="http://schemas.openxmlformats.org/officeDocument/2006/relationships" id="265" r:id="R412927d6e5914122"/>
    <p:sldId xmlns:r="http://schemas.openxmlformats.org/officeDocument/2006/relationships" id="266" r:id="R978335a7ef4e48bc"/>
    <p:sldId xmlns:r="http://schemas.openxmlformats.org/officeDocument/2006/relationships" id="267" r:id="Rbe85b2cbccce47d9"/>
    <p:sldId xmlns:r="http://schemas.openxmlformats.org/officeDocument/2006/relationships" id="268" r:id="R0f2d30e917d54765"/>
    <p:sldId xmlns:r="http://schemas.openxmlformats.org/officeDocument/2006/relationships" id="269" r:id="R1b74515b10e04c22"/>
    <p:sldId xmlns:r="http://schemas.openxmlformats.org/officeDocument/2006/relationships" id="270" r:id="R9cf00fe0ca9a4ef5"/>
    <p:sldId xmlns:r="http://schemas.openxmlformats.org/officeDocument/2006/relationships" id="271" r:id="R8dccd429ff2b49c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88d0ab4dba4dbb" /><Relationship Type="http://schemas.openxmlformats.org/officeDocument/2006/relationships/slideMaster" Target="/ppt/slideMasters/slideMaster1.xml" Id="Rfbaf36ccf9be4827" /><Relationship Type="http://schemas.openxmlformats.org/officeDocument/2006/relationships/notesMaster" Target="/ppt/notesMasters/notesMaster1.xml" Id="R6c69c574969d4551" /><Relationship Type="http://schemas.openxmlformats.org/officeDocument/2006/relationships/presProps" Target="/ppt/presProps.xml" Id="R2028088feb894217" /><Relationship Type="http://schemas.openxmlformats.org/officeDocument/2006/relationships/tableStyles" Target="/ppt/tableStyles.xml" Id="Rce8f216caed242b8" /><Relationship Type="http://schemas.openxmlformats.org/officeDocument/2006/relationships/slide" Target="/ppt/slides/slide1.xml" Id="Rafdf576ddea84359" /><Relationship Type="http://schemas.openxmlformats.org/officeDocument/2006/relationships/slide" Target="/ppt/slides/slide2.xml" Id="R71cc3779f8b9439d" /><Relationship Type="http://schemas.openxmlformats.org/officeDocument/2006/relationships/slide" Target="/ppt/slides/slide3.xml" Id="R71c3f9829946430b" /><Relationship Type="http://schemas.openxmlformats.org/officeDocument/2006/relationships/slide" Target="/ppt/slides/slide4.xml" Id="R085827f009344480" /><Relationship Type="http://schemas.openxmlformats.org/officeDocument/2006/relationships/slide" Target="/ppt/slides/slide5.xml" Id="Raa98a37c3d51408f" /><Relationship Type="http://schemas.openxmlformats.org/officeDocument/2006/relationships/slide" Target="/ppt/slides/slide6.xml" Id="Rfd9c762a89764c1f" /><Relationship Type="http://schemas.openxmlformats.org/officeDocument/2006/relationships/slide" Target="/ppt/slides/slide7.xml" Id="Rb1ac54ba71a748bd" /><Relationship Type="http://schemas.openxmlformats.org/officeDocument/2006/relationships/slide" Target="/ppt/slides/slide8.xml" Id="R75ebe8f2d90746ac" /><Relationship Type="http://schemas.openxmlformats.org/officeDocument/2006/relationships/slide" Target="/ppt/slides/slide9.xml" Id="R5b58764afe71453a" /><Relationship Type="http://schemas.openxmlformats.org/officeDocument/2006/relationships/slide" Target="/ppt/slides/slide10.xml" Id="R412927d6e5914122" /><Relationship Type="http://schemas.openxmlformats.org/officeDocument/2006/relationships/slide" Target="/ppt/slides/slide11.xml" Id="R978335a7ef4e48bc" /><Relationship Type="http://schemas.openxmlformats.org/officeDocument/2006/relationships/slide" Target="/ppt/slides/slide12.xml" Id="Rbe85b2cbccce47d9" /><Relationship Type="http://schemas.openxmlformats.org/officeDocument/2006/relationships/slide" Target="/ppt/slides/slide13.xml" Id="R0f2d30e917d54765" /><Relationship Type="http://schemas.openxmlformats.org/officeDocument/2006/relationships/slide" Target="/ppt/slides/slide14.xml" Id="R1b74515b10e04c22" /><Relationship Type="http://schemas.openxmlformats.org/officeDocument/2006/relationships/slide" Target="/ppt/slides/slide15.xml" Id="R9cf00fe0ca9a4ef5" /><Relationship Type="http://schemas.openxmlformats.org/officeDocument/2006/relationships/slide" Target="/ppt/slides/slide16.xml" Id="R8dccd429ff2b49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420af5bae147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8e41b101744d78" /><Relationship Type="http://schemas.openxmlformats.org/officeDocument/2006/relationships/notesMaster" Target="/ppt/notesMasters/notesMaster1.xml" Id="Rf3b8019590ff47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e35f4f273649ac" /><Relationship Type="http://schemas.openxmlformats.org/officeDocument/2006/relationships/notesMaster" Target="/ppt/notesMasters/notesMaster1.xml" Id="Rfa1cfecc553244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bf2bdc84724131" /><Relationship Type="http://schemas.openxmlformats.org/officeDocument/2006/relationships/notesMaster" Target="/ppt/notesMasters/notesMaster1.xml" Id="R600377d420f44a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0f797d68644886" /><Relationship Type="http://schemas.openxmlformats.org/officeDocument/2006/relationships/notesMaster" Target="/ppt/notesMasters/notesMaster1.xml" Id="Rf652b4ac10f049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c5fb12921141d7" /><Relationship Type="http://schemas.openxmlformats.org/officeDocument/2006/relationships/notesMaster" Target="/ppt/notesMasters/notesMaster1.xml" Id="Rc8c996862eb94e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ad2916353e434e" /><Relationship Type="http://schemas.openxmlformats.org/officeDocument/2006/relationships/notesMaster" Target="/ppt/notesMasters/notesMaster1.xml" Id="R498a7441a4a044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d740d2147c4529" /><Relationship Type="http://schemas.openxmlformats.org/officeDocument/2006/relationships/notesMaster" Target="/ppt/notesMasters/notesMaster1.xml" Id="Rafc0ceac1e2d45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ca4eeb013f419f" /><Relationship Type="http://schemas.openxmlformats.org/officeDocument/2006/relationships/notesMaster" Target="/ppt/notesMasters/notesMaster1.xml" Id="R24794dd0abb34c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d0e1f17f9d4f4c" /><Relationship Type="http://schemas.openxmlformats.org/officeDocument/2006/relationships/notesMaster" Target="/ppt/notesMasters/notesMaster1.xml" Id="R8aad304cc2704c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e15dc768de4442" /><Relationship Type="http://schemas.openxmlformats.org/officeDocument/2006/relationships/notesMaster" Target="/ppt/notesMasters/notesMaster1.xml" Id="R61fb37da51074d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fea71c8ffc4e09" /><Relationship Type="http://schemas.openxmlformats.org/officeDocument/2006/relationships/notesMaster" Target="/ppt/notesMasters/notesMaster1.xml" Id="R52981ff20d314a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d7a99a74c0420a" /><Relationship Type="http://schemas.openxmlformats.org/officeDocument/2006/relationships/notesMaster" Target="/ppt/notesMasters/notesMaster1.xml" Id="R3cb7aebbf76547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31c49a58584e7d" /><Relationship Type="http://schemas.openxmlformats.org/officeDocument/2006/relationships/notesMaster" Target="/ppt/notesMasters/notesMaster1.xml" Id="R3aded09f9dfc49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1ddda7b96d424d" /><Relationship Type="http://schemas.openxmlformats.org/officeDocument/2006/relationships/notesMaster" Target="/ppt/notesMasters/notesMaster1.xml" Id="R776788101f1646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bdb6be1f05c4a93" /><Relationship Type="http://schemas.openxmlformats.org/officeDocument/2006/relationships/notesMaster" Target="/ppt/notesMasters/notesMaster1.xml" Id="Radfab1faf74f45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d342a179906464a" /><Relationship Type="http://schemas.openxmlformats.org/officeDocument/2006/relationships/notesMaster" Target="/ppt/notesMasters/notesMaster1.xml" Id="Rb40c67e3647840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各位老師、各位先進大家好，我是鄭維翰。今天要報告的題目是「Dual-Modal Skeleton-Visual Fusion for Weakly Supervised Violence Detection: A Multi-Backbone Study」。這是 CGW 2026 的第 32 號論文。這個研究的核心問題很直接：在弱監督暴力偵測裡，如果我們不微調大型 backbone，也不使用文字分支，只訓練一個很小的 fusion head，骨架動態到底能不能補足視覺語意特徵的不足？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先說問題背景。弱監督 video anomaly detection 只使用影片層級標籤，也就是一段影片是不是包含異常，而不是逐幀標註。這讓訓練成本降低很多，但模型必須自己從影片片段中找出可疑時間點。近年的 frozen CLIP 或 vision-language feature 很有效率，可是它們主要看的是外觀與語意；暴力事件像打鬥、攻擊、車禍，常常真正重要的是人體動作與時間動態。另外，實際部署時還會遇到雜訊、模糊、壓縮和亮度變化，所以我們也想知道這種 frozen fusion 系統在測試時間能不能調整可靠性。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因此這篇論文有三個貢獻。第一，我們提出一個 gated dual-modal fusion 架構，把 frozen CTR-GCN 的骨架特徵和 frozen CLIP 或 SigLIP2 的視覺語言特徵結合起來，只有 fusion head 和 MIL classifier 會被訓練。第二，我們不是只測一個 backbone，而是系統性比較四個 visual backbone，在 UCF-Crime 和 XD-Violence 上用三個 random seeds 做評估。第三，我們分析測試時間調適：TENT 和 SAR 在這個 LayerNorm-based frozen detector 上幾乎沒有作用，接著提出一個不需要標籤、也不需要調參的 reliability reweighting 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這張圖是整體架構。上方是骨架 stream：先用 RTMPose 抽出 COCO 十七個 keypoints，保留前兩個人，再用在 NTU RGB+D 120 預訓練的 CTR-GCN 取出 256 維 snippet 特徵。下方是視覺 stream：我們約每秒取一張影格，經過 CLIP 或 SigLIP2 backbone，再用 mean 和 max pooling 合併成 snippet 特徵。兩個 stream 都是 frozen。訓練的只有中間的 gated fusion 和 MIL head，參數量大約是 0.50 到 1.02 百萬，在一張 RTX 4090 上每個設定少於五分鐘可以訓練完成。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Fusion 的做法是先把兩個 modality 都投影到同一個 256 維空間，並各自做 LayerNorm。接著 gate 會根據兩個投影後的特徵，產生每一個維度的權重。重點是我們不是把其中一個 modality 關掉，而是透過 residual 讓兩個訊號都保留，再由 gate 調整相對貢獻。訓練目標使用 MIL ranking loss，讓 abnormal video 裡 top-k snippet 分數高於 normal video。為了比較，我們也測了 late fusion，也就是兩個 modality 固定五五平均；結果會看到，固定權重在 XD-Violence 上會明顯傷害效能。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實驗設計上，我們使用兩個常見 benchmark。UCF-Crime 有一千九百支影片、十三類異常，指標是 frame-level ROC-AUC。XD-Violence 有四千七百五十四支影片、六類暴力事件，指標是 frame-level Average Precision。四個 backbone 分別是 CLIP ViT-B/16、SigLIP2 ViT-B/16、SigLIP2 SO400M 和 SigLIP2 Giant。所有 encoder 都 frozen，使用相同 split 和 protocol，並報告三個 seeds 的平均和標準差。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主要結果有三個數字。第一，UCF-Crime 的最佳結果是 SigLIP2 Giant 的 gated fusion，達到 82.5% AUC。第二，XD-Violence 的最佳結果是 SigLIP2 SO400M 的 gated fusion，達到 78.7% AP。第三，在 corrupted UCF-Crime-C 上，我們的 reliability reweighting 平均提升 1.21 個百分點。雖然骨架單獨表現不強，UCF 只有 68.8 AUC，XD 只有 40.8 AP，但放進 gated fusion 後，八個 backbone-by-dataset 設定都至少不低於 visual-only，其中六個是嚴格提升。這說明骨架不是取代視覺，而是提供小但穩定的互補資訊。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這張圖整理四個 backbone 和三種 fusion variant。左邊是 UCF-Crime，右邊是 XD-Violence。可以看到 UCF 上 SigLIP2 Giant 最好；但 XD 上，visual-only 的四個 backbone 其實都在 seed variance 附近，真正透過 gated fusion 拉開的是 SO400M。另一個重點是 late fusion 幾乎不是好選擇，特別是在 XD 上，每個 backbone 都比 gated fusion 低超過十個 AP。這表示 skeleton signal 雖然有用，但必須用 input-dependent weighting，而不是固定平均。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這裡用骨架 overlay 直觀說明 skeleton stream 捕捉的是人體關節與動作，而不是影像外觀。這個表示法有兩個優點：一方面，它能補到視覺語意模型可能忽略的動態資訊；另一方面，在 keypoints 已經被抽出並快取的情況下，它對某些 pixel-level corruption 比較不敏感。不過我們也很誠實地看到，骨架單獨不夠強，會受到姿態估計品質、人物遮擋、影片 frame rate 和 snippet 長度影響。因此我們把它定位為 complementary modality，而不是主模型。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接著是和相關方法的定位。這篇工作不宣稱 state of the art。可比的 regime 是 frozen features、沒有文字分支、單張 GPU 等級的小型 head。在這個範圍內，我們的 XD 78.7 AP 接近 RTFM 和 MGFN-I3D；UCF 82.5 AUC 則低於現代 frozen-feature 方法，例如 CLIP-TSA、UR-DMU 和 MGFN。這個差距是合理的，因為我們刻意排除了 text alignment、audio、MLLM 或 backbone fine-tuning。換句話說，這篇工作的重點是可重現、低成本、多 backbone 的 dual-modal study，以及 robustness 分析，而不是追求最高排行榜分數。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測試時間調適的結果很有意思。我們建立 UCF-Crime-C，包含四種 corruption、五個 severity，一共二十個條件。TENT 和 SAR 在這個架構裡只能更新 fusion head 的 LayerNorm affine 參數，總共 1,536 個 scalar。結果三個 seeds、四個 backbone 都一樣，AUC 的改變小於 0.1 個百分點。這不是沒有調好，而是結構限制：corruption 造成的偏移在 frozen upstream features 裡，LayerNorm affine 的小更新不足以改變 snippet 排名，而 AUC 又是一個純排名指標。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因此我們改用 reliability reweighting，不更新任何參數。想法是觀察 visual-only anomaly scores 的分散度；如果 corruption 讓 visual stream 失去區分能力，score spread 會塌縮，這時就降低 visual contribution，讓 fusion 多相信骨架 stream。如果 visual stream 仍然可靠，或 skeleton 也受到 corruption 影響，gate 就不動作。這個方法不需要標籤、不需要調參，平均提升 corrupted-AUC 1.21 個百分點，在四個 backbone、三個 seeds 上都是正向；最大提升出現在 Gaussian noise severity 5，達到 13.2 個百分點。這不是全面 robustness，而是針對一個 modality 還健康時的 rescue mechanism。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最後總結三點。第一，骨架特徵單獨不強，但在 gated fusion 裡提供小而穩定的互補增益。第二，backbone 選擇和資料集有互動，不能只看 general benchmark；UCF 偏向 Giant，XD 則在 gated fusion 下偏向 SO400M。第三，對 frozen、LayerNorm-based、rank-based detector 來說，entropy TTA 很難有效；比較可行的是 reliability-aware routing。限制也很清楚：frozen no-text 設計犧牲 peak AUC，reweighting 是 transductive，目前只在兩個資料集和 synthetic corruptions 上驗證。以上是我的報告，謝謝大家，歡迎提問。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這是備用投影片，只在 Q&amp;A 需要時使用。可以用來補充方法比較、protocol 細節或 corruption breakdown。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這是備用投影片，只在 Q&amp;A 需要時使用。可以用來補充方法比較、protocol 細節或 corruption breakdown。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這是備用投影片，只在 Q&amp;A 需要時使用。可以用來補充方法比較、protocol 細節或 corruption breakdown。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b81aaad9754c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34d4727bc04236" /><Relationship Type="http://schemas.openxmlformats.org/officeDocument/2006/relationships/slideLayout" Target="/ppt/slideLayouts/slideLayout1.xml" Id="R73d243dbc4c24c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d243dbc4c24c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19efe54bc4841" /><Relationship Type="http://schemas.openxmlformats.org/officeDocument/2006/relationships/image" Target="/ppt/media/image.png" Id="Rc7c0d2c1ec80479a" /><Relationship Type="http://schemas.openxmlformats.org/officeDocument/2006/relationships/notesSlide" Target="/ppt/notesSlides/notesSlide1.xml" Id="Rf6dc84cc2ee545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1719663b24e42" /><Relationship Type="http://schemas.openxmlformats.org/officeDocument/2006/relationships/notesSlide" Target="/ppt/notesSlides/notesSlide2.xml" Id="Rdca0462bd3fb4e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a489ef100443f" /><Relationship Type="http://schemas.openxmlformats.org/officeDocument/2006/relationships/notesSlide" Target="/ppt/notesSlides/notesSlide3.xml" Id="R7208a3a3e73548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ff4f533a44598" /><Relationship Type="http://schemas.openxmlformats.org/officeDocument/2006/relationships/notesSlide" Target="/ppt/notesSlides/notesSlide4.xml" Id="R47e5a8b0cb6c4f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6a76fb3cd406e" /><Relationship Type="http://schemas.openxmlformats.org/officeDocument/2006/relationships/notesSlide" Target="/ppt/notesSlides/notesSlide5.xml" Id="R3488550ffa6247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1be895f9340c5" /><Relationship Type="http://schemas.openxmlformats.org/officeDocument/2006/relationships/notesSlide" Target="/ppt/notesSlides/notesSlide6.xml" Id="Rd48f74a37b7347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e5a1588434811" /><Relationship Type="http://schemas.openxmlformats.org/officeDocument/2006/relationships/notesSlide" Target="/ppt/notesSlides/notesSlide7.xml" Id="Rb8fc7bca34ae4d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aee5cef964d10" /><Relationship Type="http://schemas.openxmlformats.org/officeDocument/2006/relationships/image" Target="/ppt/media/image2.png" Id="R3b726d8f721046c8" /><Relationship Type="http://schemas.openxmlformats.org/officeDocument/2006/relationships/notesSlide" Target="/ppt/notesSlides/notesSlide8.xml" Id="R509983de9a4f48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7a005b6914b1e" /><Relationship Type="http://schemas.openxmlformats.org/officeDocument/2006/relationships/image" Target="/ppt/media/image3.png" Id="Rf52aaf67326e4d6e" /><Relationship Type="http://schemas.openxmlformats.org/officeDocument/2006/relationships/image" Target="/ppt/media/image4.png" Id="Rb8e002005d304e60" /><Relationship Type="http://schemas.openxmlformats.org/officeDocument/2006/relationships/image" Target="/ppt/media/image5.png" Id="R5d54979467ea4f26" /><Relationship Type="http://schemas.openxmlformats.org/officeDocument/2006/relationships/notesSlide" Target="/ppt/notesSlides/notesSlide9.xml" Id="Re93bcf8d847840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46f4357bf48c4" /><Relationship Type="http://schemas.openxmlformats.org/officeDocument/2006/relationships/notesSlide" Target="/ppt/notesSlides/notesSlide10.xml" Id="Re856e6f74c0d44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dc00eff344468" /><Relationship Type="http://schemas.openxmlformats.org/officeDocument/2006/relationships/image" Target="/ppt/media/image6.png" Id="R54b5d1f2e6af4e16" /><Relationship Type="http://schemas.openxmlformats.org/officeDocument/2006/relationships/notesSlide" Target="/ppt/notesSlides/notesSlide11.xml" Id="R6acf87c2b97c49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9f23c4c4f4da9" /><Relationship Type="http://schemas.openxmlformats.org/officeDocument/2006/relationships/notesSlide" Target="/ppt/notesSlides/notesSlide12.xml" Id="R7d0933703d654b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091fe090b44e7" /><Relationship Type="http://schemas.openxmlformats.org/officeDocument/2006/relationships/notesSlide" Target="/ppt/notesSlides/notesSlide13.xml" Id="Rc808dc6afcee4b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ca1acd34548dd" /><Relationship Type="http://schemas.openxmlformats.org/officeDocument/2006/relationships/notesSlide" Target="/ppt/notesSlides/notesSlide14.xml" Id="R8ce72d38d40c4a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2d549892f46c1" /><Relationship Type="http://schemas.openxmlformats.org/officeDocument/2006/relationships/notesSlide" Target="/ppt/notesSlides/notesSlide15.xml" Id="Ra2612a43d95942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1cdb112a442f2" /><Relationship Type="http://schemas.openxmlformats.org/officeDocument/2006/relationships/notesSlide" Target="/ppt/notesSlides/notesSlide16.xml" Id="R8d779b4bde994f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9CF081-0B6D-4603-9034-5E7C73D4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0d2c1ec80479a"/>
          <a:srcRect xmlns:a="http://schemas.openxmlformats.org/drawingml/2006/main" l="10475" t="0" r="104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2300" y="666750"/>
            <a:ext cx="4572000" cy="28384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DD297-835D-4BDA-99F1-B328B594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3855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36F69-C097-4EE6-B03A-3614F431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CGW '26 Oral Presentation | Paper #32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0918A-98D6-4F30-9C50-5BCD3D7F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5850"/>
            <a:ext cx="619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Dual-Modal Skeleton-Visual Fusion for Weakly Supervised Violence 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A858F-9F5D-4F21-8342-1F2C8DCA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09925"/>
            <a:ext cx="552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Multi-Backbone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032F5-363C-4C58-925E-36438872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29125"/>
            <a:ext cx="600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Wei-Han Jeng | Chuan-Kai Yang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National Taiwan University of Science and Technology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July 9-10, 2026 | Hsinchu City, Taiwan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F94E5-B0FB-4707-8A8D-D36A9D05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4810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10-minute talk + 2-minute Q&amp;A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40A52-E881-45E5-8FB3-2D1E35F2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Wei-Han Jeng | NTUST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DF80F-D6AE-41C7-A7EA-20F0C871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1/16</a:t>
            </a:r>
          </a:p>
        </p:txBody>
      </p:sp>
    </p:spTree>
    <p:extLst>
      <p:ext uri="{BB962C8B-B14F-4D97-AF65-F5344CB8AC3E}">
        <p14:creationId xmlns:p14="http://schemas.microsoft.com/office/powerpoint/2010/main" val="6861530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FEE438-1555-44B5-AAA4-DE54DF35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CGW '26 | Paper #32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234EE-0FAF-4B77-B73F-D5207172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Violence detection needs motion, not appearance alone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45148-A5F2-4F8B-9B8F-59DD3262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220F1-ED79-4197-B60B-83B4C654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A4CD5-F2AA-4C40-9138-559BF3A3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5581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Weak supervision uses one video-level label, not frame labels.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C05E9-424B-4F51-A853-9B72F63D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2F8F4-A90F-4529-A3EC-B2C729F9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5581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Frozen VLM features are efficient, but they are appearance-heavy.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44425-A663-4F8C-8F7D-BA05A6C9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2225E-2D24-4E27-BB3A-DCE4541E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5581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Violence often depends on motion: fighting, assault, collision, crowd action.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D176B-A259-40FF-A0F0-0F2CF9EB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D60D3-0293-493E-A449-EA32710C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5581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Deployment adds camera noise, blur, compression, and lighting shifts.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8781B-5C7D-4878-86CB-B5B4D4C3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81200"/>
            <a:ext cx="39052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15280-DFC7-4BA2-9F11-B907401F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Weakly supervised VAD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F3B1A-961D-4424-B928-8BDE52C5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05125"/>
            <a:ext cx="1714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Video label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Snippet scores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Frame ranking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980F96-6F47-403A-856D-E931AF51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14650"/>
            <a:ext cx="1381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Only the video-level label is given during training. The model must learn which snippets carry anomaly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4E9D7-4709-4835-9DD3-4B4B2BD9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86100"/>
            <a:ext cx="19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19015-D228-4953-9ED6-7DDCC281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Wei-Han Jeng | NTUST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38C744-63EF-48B0-9931-2F5120D8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2/16</a:t>
            </a:r>
          </a:p>
        </p:txBody>
      </p:sp>
    </p:spTree>
    <p:extLst>
      <p:ext uri="{BB962C8B-B14F-4D97-AF65-F5344CB8AC3E}">
        <p14:creationId xmlns:p14="http://schemas.microsoft.com/office/powerpoint/2010/main" val="14084878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42734E-C279-4093-9322-D56AE773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CGW '26 | Paper #32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9D0E0-55C9-4A29-AC0B-A7F4391F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study asks what skeletons add to frozen VLM detectors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779F6-8B07-4CD6-9D59-D46EF294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BC516-FF7F-4239-92B7-67F82587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33718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28FBF-F0EB-4343-8F00-5621C8BE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D568D-3C63-4833-A412-291B627C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Gated dual-modal fusion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C611B-BFBD-4C0E-AE08-9523FED0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2905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Frozen CTR-GCN skeleton features plus frozen CLIP/SigLIP2 visual-language features. Only the fusion head and MIL classifier are trained.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4B6C8-6DE9-4B90-A8FA-FF93DA3B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38350"/>
            <a:ext cx="33718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37021-212A-4C11-9FBD-CE824F8D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29DCC-7323-4682-9319-6F1776D9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Four-backbone study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A2BA7-8EF5-45F7-90AF-91FB8B55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24250"/>
            <a:ext cx="2905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CLIP ViT-B/16, SigLIP2 ViT-B/16, SigLIP2 SO400M, and SigLIP2 Giant across UCF-Crime and XD-Violence.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3E0FB-AAB7-479D-8C93-0B573F43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38350"/>
            <a:ext cx="33718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A9F48-F30C-41B2-867D-317EFB7E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479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73BA75-6D28-4983-BAF2-7DFB22C4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TTA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5A5B1-D1E6-4EAB-9F12-62D6CAF3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2905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TENT/SAR become a structural null result. Reliability reweighting routes toward the robust stream without labels or parameter updates.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A81C2-42B3-4E12-9F65-D1989F0A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578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88DAA-888B-425B-AB83-C2DE21A3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448300"/>
            <a:ext cx="133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98668C-6377-48FF-91F0-CBA952F2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6153150"/>
            <a:ext cx="1295400" cy="-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visual backbones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430ED3-4539-4B4E-8411-14611310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578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8A130A-F92C-4378-B045-5E88F13A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48300"/>
            <a:ext cx="133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CA999C-4CE9-45BF-8E3E-30A3B14C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153150"/>
            <a:ext cx="1295400" cy="-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benchmarks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9EE0BD-C52A-4945-9A30-A2263554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578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7F2C6B-C894-49DA-84E5-92B37F68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48300"/>
            <a:ext cx="161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BA0B4A-FBB6-4723-BED9-3B1B9445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153150"/>
            <a:ext cx="1581150" cy="-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seeds per headline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700EDB-83D1-47F0-AC8B-94B27AE6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578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89AF9B-7679-458B-BD7B-E1C231CA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48300"/>
            <a:ext cx="161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ABD952-1B26-47DF-98EF-417E5896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153150"/>
            <a:ext cx="1581150" cy="-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corruption conditions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D85E97-C3C8-4C1B-8A91-3611A189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Wei-Han Jeng | NTUST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A73BBB-9FBA-4DA1-90B7-77DF6676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3/16</a:t>
            </a:r>
          </a:p>
        </p:txBody>
      </p:sp>
    </p:spTree>
    <p:extLst>
      <p:ext uri="{BB962C8B-B14F-4D97-AF65-F5344CB8AC3E}">
        <p14:creationId xmlns:p14="http://schemas.microsoft.com/office/powerpoint/2010/main" val="1162193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285768-C495-40E4-BA21-5B248495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CGW '26 | Paper #32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7B9C8-B3B9-40A8-9E9D-90B70D1B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Two frozen streams feed one lightweight trained head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EF613-3E20-42B0-AA43-ABC761D7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51DA3-3335-4B69-A371-D033A737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1047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1BB64-B8A6-4CAA-8EE5-F4D8B05D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Video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frames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2D710-0E71-4837-89B2-1B0E9D2A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38375"/>
            <a:ext cx="1485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C"/>
          </a:solidFill>
          <a:ln xmlns:a="http://schemas.openxmlformats.org/drawingml/2006/main" w="9525">
            <a:solidFill>
              <a:srgbClr val="1E84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E38FC-CE4D-4633-831F-1963AED1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38375"/>
            <a:ext cx="1485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C"/>
          </a:solidFill>
          <a:ln xmlns:a="http://schemas.openxmlformats.org/drawingml/2006/main" w="9525">
            <a:solidFill>
              <a:srgbClr val="1E84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A1C7F-8B42-420A-85CE-DBDF6670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38375"/>
            <a:ext cx="1352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C"/>
          </a:solidFill>
          <a:ln xmlns:a="http://schemas.openxmlformats.org/drawingml/2006/main" w="9525">
            <a:solidFill>
              <a:srgbClr val="1E84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A9692-A73D-4B12-BD37-6CBC2A55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95750"/>
            <a:ext cx="1485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2471A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3B437-8F23-48A2-A872-501AD3AA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1485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2471A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BE071-1F82-43E3-B56E-39925044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95750"/>
            <a:ext cx="1352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2471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7DD55-5145-432A-A93F-14A9890F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1695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E2"/>
          </a:solidFill>
          <a:ln xmlns:a="http://schemas.openxmlformats.org/drawingml/2006/main" w="9525">
            <a:solidFill>
              <a:srgbClr val="D6891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A988A-CAA4-450E-9AEE-273B3338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62300"/>
            <a:ext cx="1028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F7"/>
          </a:solidFill>
          <a:ln xmlns:a="http://schemas.openxmlformats.org/drawingml/2006/main" w="9525">
            <a:solidFill>
              <a:srgbClr val="7D3C9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3411F5-69AD-423E-A1A9-6D176804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003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RTMPose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17 kpts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40AC5-6827-4E05-8B6A-76A84F42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CTR-GCN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frozen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E00CA-38C0-40C8-A2BF-E3E8E5B6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00300"/>
            <a:ext cx="102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256-d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skeleton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015933-E619-4CA6-9046-48DB2B54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57675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CLIP / SigLIP2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frozen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3933F7-8DDD-4FBF-837B-63227AC2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5767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mean+max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pooling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C0420-B223-489F-B1FA-7F1E0E27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57675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1024-3072-d</a:t>
            </a:r>
          </a:p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visual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61A24-59B3-4943-B61D-D5671031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86125"/>
            <a:ext cx="129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Gated fusion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 MIL head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67B771-D295-4364-9EB6-8E04D8CE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3337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Anomaly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score</a:t>
            </a:r>
          </a:p>
        </p:txBody>
      </p:sp>
      <p:cxnSp>
        <p:nvCxnSpPr>
          <p:cNvPr id="56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1600200" y="2552700"/>
            <a:ext cx="666750" cy="962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5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752850" y="25527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5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848350" y="25527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59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600200" y="3514725"/>
            <a:ext cx="66675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6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752850" y="44100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6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848350" y="44100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62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772400" y="2552700"/>
            <a:ext cx="72390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63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7772400" y="3486150"/>
            <a:ext cx="723900" cy="923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64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0191750" y="3486150"/>
            <a:ext cx="571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A6A760-2E5D-4CBA-A9B0-10DE1FD9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38650"/>
            <a:ext cx="3295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1A361E-65DD-4574-94DE-6E8035EC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19625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Only trained component: 0.50-1.02M params; under 5 min per configuration on one RTX 4090.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B090EB-C5D3-4D31-9D3F-FB533BAE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Wei-Han Jeng | NTUST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E8B35B-66E8-4863-A78F-498D0501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4/16</a:t>
            </a:r>
          </a:p>
        </p:txBody>
      </p:sp>
    </p:spTree>
    <p:extLst>
      <p:ext uri="{BB962C8B-B14F-4D97-AF65-F5344CB8AC3E}">
        <p14:creationId xmlns:p14="http://schemas.microsoft.com/office/powerpoint/2010/main" val="17568495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F187CD-A856-4068-B490-32C5BD01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CGW '26 | Paper #32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B09AC-EDA7-4A4E-B513-3435AD42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Gating learns when to trust each modality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91A38-B983-4C0C-A267-4E6427BC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FDE5E-41B4-439A-8FB5-F5247A4B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54483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F9734-7D3E-4FB7-AB8D-A3CBF2BD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857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s_hat = LN_s(W_s s + b_s)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v_hat = LN_v(W_v v + b_v)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g = sigmoid(W_g [s_hat, v_hat] + b_g)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f = LN_f(g * s_hat + (1 - g) * v_hat + s_hat + v_hat)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F71F4-02E0-4EFD-B881-5D92A4AA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D2772-C573-400E-9BE6-B4ADC25F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002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Residual keeps both modality signals in the fused representation.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2858B-F3BF-4F4B-995B-0170A035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3C8FE-B765-4CBD-9680-F88EEFA2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860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gate modulates relative contribution per input and per feature dimension.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81F15-0182-4E73-A690-9FE2D7CE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9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3DA77-A9F4-445C-930D-3DE94FFD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718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MIL ranking loss separates top-k anomalous snippets from normal bags.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5CAFB7-D43E-472D-BD29-81DB143A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8D3D9-0B26-4F27-A7BE-C616DFD8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576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 fusion baseline uses a fixed 50/50 average and can drag strong visual scores down.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8C482-DBC5-4881-A768-03D61044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Wei-Han Jeng | NTUST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DB23B-0815-44CE-B8C7-60DE3A6F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5/16</a:t>
            </a:r>
          </a:p>
        </p:txBody>
      </p:sp>
    </p:spTree>
    <p:extLst>
      <p:ext uri="{BB962C8B-B14F-4D97-AF65-F5344CB8AC3E}">
        <p14:creationId xmlns:p14="http://schemas.microsoft.com/office/powerpoint/2010/main" val="5281141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0D5BD0-55BC-40CC-8B01-3B15D401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CGW '26 | Paper #32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DD6AD-31BB-4ACF-A690-D1B295D3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protocol isolates fusion and backbone effects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28107-D3AB-482F-83DA-1ABA04D9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65F61-6004-4813-B3F7-15941BB7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981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A4794-FDBD-4076-B455-0B13D815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BA7D3-9A2A-4C49-928D-2DD89FCF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955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42F36-11D8-4619-89D6-BA944723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955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0AF01-EB8A-4493-9D68-F7D11DA7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9550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Protocol note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6572C-1811-4181-9A32-5BC1C3C1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956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7B80D-69EC-4F15-831F-116D9209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1543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UCF-Crime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9A8DB-B34F-4707-8406-07995E21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3365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1,900 videos, 13 anomaly types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11315-1C46-4E08-A456-78628308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336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Frame ROC-AUC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205D1-F7AB-4658-8DF3-670CB007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33650"/>
            <a:ext cx="3257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254 of 290 test videos evaluated after &lt;64-frame exclusion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B732C-6F51-4224-8E21-F8CDD173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A7CB1C-962C-4040-BB6C-B81797E9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5E35D-7069-4CCA-BDAE-BBBA2CE1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1543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XD-Violence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6FB96-F4BB-444D-8132-7863B7EF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004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4,754 videos, 6 violence types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6AD99-2169-41CA-8A53-B456A220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0040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Frame 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457288-3C70-4B67-A6BC-003A8A14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00400"/>
            <a:ext cx="3257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800-video test set; one &lt;64-frame video excluded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372E0D-1A64-4CE5-91CC-9BADC595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B3620E-355E-417C-94B6-2D9E4682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9810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A3B8CD-1E9B-4D66-836C-65701FD2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291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Visual backbones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10D739-0B4B-4C98-BE25-B6F5928B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1677D4-0027-497A-979C-28BE47A2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CLIP ViT-B/16: 512-d frame features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11E63A-48B1-4AD4-A501-E8907FAD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599CCC-452A-45FF-8FF0-7A0AD7D8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SigLIP2 ViT-B/16: 768-d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9148EF-4162-4C92-931D-57FF98E7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ED11C1-E9A7-4FEB-98CA-49CB2A2F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SigLIP2 SO400M: 1152-d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FE85D7-1343-4418-A0F6-C1C0AB49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48DD9B-8505-4C09-B57C-F80959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5310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SigLIP2 Giant: 1536-d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6CDCFE-28A0-472E-A644-1EB65017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29100"/>
            <a:ext cx="4762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AB98EF-FD2F-4FBA-83A8-DB1837CE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Fixed evaluation discipline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42919E-B570-415C-8146-356E8368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38700"/>
            <a:ext cx="4057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All encoders frozen. Seeds {42, 123, 2024}. Same splits and protocol for each backbone and fusion variant.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BA599A-2670-41C6-AF6C-2140418B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Wei-Han Jeng | NTUST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71EC18-4F0A-4DEB-82C7-601984D9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6/16</a:t>
            </a:r>
          </a:p>
        </p:txBody>
      </p:sp>
    </p:spTree>
    <p:extLst>
      <p:ext uri="{BB962C8B-B14F-4D97-AF65-F5344CB8AC3E}">
        <p14:creationId xmlns:p14="http://schemas.microsoft.com/office/powerpoint/2010/main" val="8659764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63C8E1-B415-4AAC-9CE2-C68DA1B1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CGW '26 | Paper #32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156D5-C825-408E-B6CD-FE47C375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Gated fusion sets the headlines without training the backbones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D2B36-7798-404A-B7D0-DC07F141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50080-4394-4E4E-886C-F4014704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300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F263B-7ADB-4785-B638-5BB5E947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rPr>
              <a:t>82.5%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F4BFA-EAD6-47F1-8B8C-9DF9B707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UCF-Crime AUC with SigLIP2 Giant gated fusion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7E70E-2DB0-432F-BD24-30593B59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943100"/>
            <a:ext cx="300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33E77-175B-40B3-96F7-6386F3AA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33600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rPr>
              <a:t>78.7%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7CEE9-DF47-4EC8-B790-D72DDC33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384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XD-Violence AP with SigLIP2 SO400M gated fusion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D11CB-5574-4687-987E-3C1A4558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43100"/>
            <a:ext cx="300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90836-D835-437D-82CF-CD047A72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33600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rPr>
              <a:t>+1.21 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85287-AAC7-45DB-92AB-00D6F370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384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Mean corrupted-AUC gain from reliability reweighting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3417E-CA92-4842-ACD1-542D409F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53237-4A4F-46BB-ABEB-FFB4ACC6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A0B76-51E6-4D96-9718-E6C41D03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62400"/>
            <a:ext cx="716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4EA62-456D-4392-8D2A-4D700B05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148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83AB9-9AE2-43D8-817C-E64142D4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Skeleton weak alone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A7D123-D137-4617-BC72-EA98220B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62450"/>
            <a:ext cx="716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68.8 AUC on UCF-Crime; 40.8 AP on XD-Violence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E4E9A-98AB-44C7-BF3D-3A3483E2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58A10-22AE-4A08-B225-ECA2157F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720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E5097F-5DCD-44A5-A722-46DB20C2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Complementary in fusion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873606-F6C9-498C-8E01-03A5D5AD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19650"/>
            <a:ext cx="716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Gated fusion meets or exceeds visual-only in 8/8 backbone-dataset settings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43D3A7-92C5-40CB-9D52-DBA8E861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292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6F3030-5332-4B01-B7D4-C728273C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Largest clean gain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C8BA20-1955-4833-B064-B55AD605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76850"/>
            <a:ext cx="716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+2.1 AP on XD-Violence with SigLIP2 SO400M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25A35A-4A9D-4405-A1F8-9640BAD6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672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16A771-6B42-4D87-A9D6-D07B76C1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9810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2BFA9D-142E-4620-8B6F-21FB171A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Wei-Han Jeng | NTUST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DDAB53-E71C-4895-AD5A-C38AE977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7/16</a:t>
            </a:r>
          </a:p>
        </p:txBody>
      </p:sp>
    </p:spTree>
    <p:extLst>
      <p:ext uri="{BB962C8B-B14F-4D97-AF65-F5344CB8AC3E}">
        <p14:creationId xmlns:p14="http://schemas.microsoft.com/office/powerpoint/2010/main" val="12020930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EFDB6D-ABE3-4C99-BB14-249C452D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CGW '26 | Paper #32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36E74-33BA-4E5F-9A7F-AC6675EA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Backbone choice is dataset-specific and visible after fusion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A1B6A-D8CA-4258-BF83-E2DBCFE5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26d8f721046c8"/>
          <a:stretch xmlns:a="http://schemas.openxmlformats.org/drawingml/2006/main"/>
        </p:blipFill>
        <p:spPr>
          <a:xfrm xmlns:a="http://schemas.openxmlformats.org/drawingml/2006/main">
            <a:off x="1101042" y="1771650"/>
            <a:ext cx="9570816" cy="3000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0C37E-21E1-4F12-A4C9-F260847B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C9720-EA01-4F1B-AE79-A2EF5E2F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24450"/>
            <a:ext cx="9677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SigLIP2 Giant leads UCF-Crime; SO400M leads XD-Violence only under gated fusion.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A9103-DDCB-432B-BEEE-AF0051CB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6A718-7BA3-441A-BD70-11FE5D46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76875"/>
            <a:ext cx="9677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 XD, the visual-only backbones are within seed variance; fusion reveals the preference.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B1BCC-B123-4E10-8DEA-8168112F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67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B0098-EBF5-4C5A-94D3-CA7FFE34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29300"/>
            <a:ext cx="9677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Input-dependent gating beats fixed late fusion by more than 10 AP on every XD backbone.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A50FD-0359-4B79-8726-5922E8C0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Wei-Han Jeng | NTUST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31EE7-8C47-4BA5-86EC-B891B24B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8/16</a:t>
            </a:r>
          </a:p>
        </p:txBody>
      </p:sp>
    </p:spTree>
    <p:extLst>
      <p:ext uri="{BB962C8B-B14F-4D97-AF65-F5344CB8AC3E}">
        <p14:creationId xmlns:p14="http://schemas.microsoft.com/office/powerpoint/2010/main" val="9549111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EB3822-4069-43EA-AF1F-0B78904E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CGW '26 | Paper #32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49C9A-4574-496C-AAB3-D31BFC35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Skeletons carry different evidence, not stronger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AB8E2-C632-4236-86CE-2CB3759D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aaf67326e4d6e"/>
          <a:srcRect xmlns:a="http://schemas.openxmlformats.org/drawingml/2006/main" l="14856" t="0" r="148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866900"/>
            <a:ext cx="3219450" cy="22479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002005d304e60"/>
          <a:srcRect xmlns:a="http://schemas.openxmlformats.org/drawingml/2006/main" l="4583" t="0" r="45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0" y="1866900"/>
            <a:ext cx="3219450" cy="22479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4979467ea4f26"/>
          <a:srcRect xmlns:a="http://schemas.openxmlformats.org/drawingml/2006/main" l="14856" t="0" r="148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48550" y="1866900"/>
            <a:ext cx="3219450" cy="22479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37215-1421-41E2-A13F-C17555D5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83087-CED8-44DB-A747-2D85DCA8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958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Skeletons abstract body dynamics away from scene appearance.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05821-DE8A-416C-84CB-EE8A6549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268FD-F999-41BA-A6F6-3B24347F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958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They can remain useful when pixel-space visual features degrade.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73D33-AD7A-4F68-BBC5-5208E555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E9E48-EB99-491F-8B8A-06253944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958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Standalone skeleton is limited by pose quality, occlusion, frame rate, and snippet duration.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14EB1C-B656-4B64-A774-33C3D89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55DC93-8307-44B7-B447-61CDB83D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34050"/>
            <a:ext cx="958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contribution is complementary evidence, not a replacement for visual semantics.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A50B3-5D39-4100-B1DC-CBC33469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Wei-Han Jeng | NTUST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C43AC-2FF4-4D23-8BF1-34DA9A7E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9/16</a:t>
            </a:r>
          </a:p>
        </p:txBody>
      </p:sp>
    </p:spTree>
    <p:extLst>
      <p:ext uri="{BB962C8B-B14F-4D97-AF65-F5344CB8AC3E}">
        <p14:creationId xmlns:p14="http://schemas.microsoft.com/office/powerpoint/2010/main" val="20580211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18C3D9-3EA2-4EDC-8C1C-562921F9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CGW '26 | Paper #32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F8D9A-7855-4F65-B16A-30FC3416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This is a constrained regime, not a SOTA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21473-3CF7-48A7-AA09-3C2E3926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69E48-BFC7-4129-862B-59766615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942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ACC21-F0D4-40DD-B773-808EBAEB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47EBF-364D-4D91-B959-FC042CB9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9812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Venue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827D8-72F8-453A-B39E-BF1C2A01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812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UCF AUC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FB204-FF9A-472C-BE03-60CDEBAD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9812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XD 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8F68C-65C0-4F90-81A2-BA76877D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8120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Setting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8CB8F-3BE3-4C97-A641-85797217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DC2BD-82CB-4E01-BBB8-7AA290BC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CLIP-TSA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34816-C5F9-496F-A828-092AC3CC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62200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ICIP'23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AF294-A160-4DF8-AE29-179811A4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62200"/>
            <a:ext cx="971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87.58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C5EE7-FDDF-4683-9128-74CF6564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62200"/>
            <a:ext cx="971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82.19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EF1B1-A8DB-4239-A0AB-DC0C0827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62200"/>
            <a:ext cx="3162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Frozen CLIP; no 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9156F-F4AA-42F9-BBE4-23FB4AEC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95575"/>
            <a:ext cx="9429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6C37B-7937-4C40-B049-180DC091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146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9B1FB0-F5D4-4F82-83F0-E0210F40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90825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MGFN (I3D)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A517C7-5F91-4153-B691-840760C8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90825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AAAI'23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0ABEE3-C5D6-41AA-9277-0C49134E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90825"/>
            <a:ext cx="971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86.98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9E15EC-5F31-417A-A380-7072980D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90825"/>
            <a:ext cx="971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79.19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3FBE46-CDAA-413E-9A58-B8E51FA1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90825"/>
            <a:ext cx="3162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Frozen I3D; no 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A2CDEE-8DA3-45D5-BFDF-64776CF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6E88CB-96A9-4556-B1CE-5186A3C0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UR-DMU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F027B-3AAC-4E69-AD24-B8FBF879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19450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AAAI'23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A3E08D-5176-4D27-B735-626FB22B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19450"/>
            <a:ext cx="971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86.97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2385CA-80B5-46A6-90E9-8D42D9BE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19450"/>
            <a:ext cx="971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81.66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B111EE-AC9C-4D28-A158-B670A43A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19450"/>
            <a:ext cx="3162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Frozen I3D; no 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B1BB4F-3879-4E72-B75D-3BB02FAD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52825"/>
            <a:ext cx="9429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F3B40-D39F-4D1B-B554-43CC28FC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34E50B-4374-4E61-8D0C-411BB655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48075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RTFM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92799D-7417-4821-B739-FF52E73E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48075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ICCV'21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BAA426-999E-4537-BF0B-9EAB46F8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48075"/>
            <a:ext cx="971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84.30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C1B414-F8CC-4416-A43B-FA7C5233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48075"/>
            <a:ext cx="971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77.81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CF07F8-D70B-46B1-8E4F-9C2DC642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48075"/>
            <a:ext cx="3162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Frozen I3D; no 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8D9EEC-265F-4630-9FFD-5C87E6A7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C592B9-B211-4BFD-80C2-487F169F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rPr>
              <a:t>This work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B8AFE5-9150-4DD8-A526-DAA1FB3A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76700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rPr>
              <a:t>CGW'26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E9A3AE-8D27-4DC3-B7C0-A7E9D13A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76700"/>
            <a:ext cx="971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rPr>
              <a:t>82.5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3AB601-A1FD-46AC-9362-E49F3494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76700"/>
            <a:ext cx="971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rPr>
              <a:t>78.7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9DBA66-03BA-4338-9160-92FF341E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76700"/>
            <a:ext cx="3162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rPr>
              <a:t>Frozen skeleton + CLIP/SigLIP2; no text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298127-F9AF-4BB3-B456-FC2EE51C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0075"/>
            <a:ext cx="9429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6F6ED6-D921-44E1-B606-7E0EE74F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E67721-9EA3-4E4F-B1F6-1730B506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05325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Sultani et al.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BD4739-15A4-4AB5-AA4F-9312949F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05325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CVPR'18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E8B2CE-25F0-4E89-9857-6A235EE3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05325"/>
            <a:ext cx="971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75.41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C69A78-D3C2-413A-BB90-AC515428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05325"/>
            <a:ext cx="971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--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F78E2FA-D079-44D4-91A8-5A6AFAE1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05325"/>
            <a:ext cx="3162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Frozen C3D; founding MIL baseline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F834EB-7D1E-4CFA-A623-6DA1F510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6145C6-DE4F-42C0-A444-4EB2C874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9429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2A6663-674D-4AA6-A116-E2EF0D27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53050"/>
            <a:ext cx="952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CE3D45-6753-4D68-96D8-0EA8CC79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14975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Positioning: competitive within the constrained frozen/no-text/single-GPU regime, clearest on XD AP. No SOTA claim.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7EC045-3012-403B-9709-009494F5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Wei-Han Jeng | NTUST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B7ED83-17AF-4265-807F-5041A6CE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10/16</a:t>
            </a:r>
          </a:p>
        </p:txBody>
      </p:sp>
    </p:spTree>
    <p:extLst>
      <p:ext uri="{BB962C8B-B14F-4D97-AF65-F5344CB8AC3E}">
        <p14:creationId xmlns:p14="http://schemas.microsoft.com/office/powerpoint/2010/main" val="2603406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F52543-FCCF-4712-976F-E15B6E8C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CGW '26 | Paper #32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15FC1-2CA7-4EF7-AA68-F9891E48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Entropy TTA cannot move this frozen rank-based detector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43B24-BEEF-4123-97F1-36921E2F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0C739-4FCA-4FC3-A9BB-23798652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AB5B2-7251-427B-AB28-DB338246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4248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UCF-Crime-C: 4 corruption types x 5 severities x 3 seeds.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80AB1-FC58-4267-8155-96980580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8E9B8-1216-4F54-B2B0-CA114473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4248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TENT/SAR can update only 1,536 LayerNorm affine parameters.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9AC33-08B2-4A40-8D15-3D2247FC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D2892-715D-410B-BF94-B8E8A3BE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4248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AUC changes by less than 0.1 pp on every backbone.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36F5B-CF77-412E-BD57-4BABF779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CAC1D-7E54-448D-A62A-2D6B71F2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9525"/>
            <a:ext cx="4248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shift lives upstream in frozen features; AUC depends on score ordering.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5d1f2e6af4e16"/>
          <a:stretch xmlns:a="http://schemas.openxmlformats.org/drawingml/2006/main"/>
        </p:blipFill>
        <p:spPr>
          <a:xfrm xmlns:a="http://schemas.openxmlformats.org/drawingml/2006/main">
            <a:off x="5850649" y="1962150"/>
            <a:ext cx="5253202" cy="3143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BEAE35-92BB-4DD0-AABE-C0A6C44F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29250"/>
            <a:ext cx="487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rPr>
              <a:t>Reliability reweighting improves because it changes routing, not parameters.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FD439-2F5B-4A86-8350-A3397B9D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Wei-Han Jeng | NTUST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8E9BC1-F8A6-480A-AA1A-D15EBE80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11/16</a:t>
            </a:r>
          </a:p>
        </p:txBody>
      </p:sp>
    </p:spTree>
    <p:extLst>
      <p:ext uri="{BB962C8B-B14F-4D97-AF65-F5344CB8AC3E}">
        <p14:creationId xmlns:p14="http://schemas.microsoft.com/office/powerpoint/2010/main" val="10257839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6EDBF3-E9D3-4992-A016-03B5B37E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CGW '26 | Paper #32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52B37-5861-4362-B14D-0E4D1E90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reweighting changes routing instead of parameters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2A926-1164-4657-BFD0-38DC68C1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88A68-2CD7-44E4-9A32-88466B4E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99A56-C143-4709-B942-0BAA0DED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9E98B-2CB4-4B02-84B2-0784F488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AAB3D-2478-45D8-BAEC-B9AA29DE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117EC-467A-4F01-9D77-E5D5DF7B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Visual score spread collapses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E5BE7-40EB-4A09-9FDA-4B48835D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5745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Downweight visual stream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D48AF-41F8-4B40-B0A3-AD13874B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Lean on skeleton stream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7A43F-68F5-4806-9AE7-89C5B6A5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5745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Leave source model otherwise</a:t>
            </a:r>
          </a:p>
        </p:txBody>
      </p:sp>
      <p:cxnSp>
        <p:nvCxnSpPr>
          <p:cNvPr id="4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00350" y="27527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734050" y="27527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667750" y="27527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74B29F-277F-45C3-B1C5-28DA815C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2476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ADDACF-9AB2-4B7C-9D49-C98FA572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8145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rPr>
              <a:t>+1.21 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87C427-6770-459C-B798-62D09C80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mean corrupted-AUC across all backbones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E348F-94D1-4CDC-BDC8-0C3C7DFD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2476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CCA787-E110-42C8-AA29-BCE6A8F3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8145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12/12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70C70D-6AB4-4F58-BCA8-E493F0D9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6863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positive backbone-seed cells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80986B-9FB1-4099-968A-E7ED3C53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2476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5DEC41-6627-4647-84F2-9B297AD0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8145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rPr>
              <a:t>+13.2 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872C1F-2E18-4D18-9BA0-3BE0A72B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863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hardest Gaussian severity condition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22CB50-837D-492F-A542-E2D105F3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9095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721E29-B0C6-4DBE-9939-C28ADB43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8145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+4.83 pp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FE06C8-6686-4CA7-82ED-E070EAF4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8630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average Gaussian-family gain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CEB14A-FFE4-47D6-A3E7-9AEF4F4D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Label-free | tuning-free | zero parameter updates | transductive whole-condition statistics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997B89-7B80-4DEF-8B02-95DD9D71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Wei-Han Jeng | NTUST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708819-B097-4C19-B171-F5DA6068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12/16</a:t>
            </a:r>
          </a:p>
        </p:txBody>
      </p:sp>
    </p:spTree>
    <p:extLst>
      <p:ext uri="{BB962C8B-B14F-4D97-AF65-F5344CB8AC3E}">
        <p14:creationId xmlns:p14="http://schemas.microsoft.com/office/powerpoint/2010/main" val="15974816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C1091C-DC0C-400B-B217-962C0510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CGW '26 | Paper #32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C57D6-3910-4EEF-9B86-B69243DA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Takeaways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1186F-6C5B-4B43-9635-52D27778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42123-29CD-41D5-B3D3-D74DD835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F15AF-E05A-49C3-9CC4-BD19492F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8915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Skeleton features are weak alone but consistently complementary in gated fusion.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0B8B8-15C8-48AE-84D1-845A8E35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EDB61-8268-4368-94A9-27AE364E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8915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Backbone selection is dataset-specific: Giant for UCF, SO400M for XD under gated fusion.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E6A1C-C417-477C-95A3-F220F16D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A9BB7-943B-4B84-AF69-7CBE0545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8915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Entropy TTA cannot move this frozen LayerNorm rank-based detector; reliability routing can.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48081-07FE-48F0-B8E3-C44627AB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DE88E-4BF9-45E9-99FB-78AE07FC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Limitations: frozen no-text design trades peak AUC for modularity; reweighting is transductive; evaluation uses two datasets and synthetic corruptions.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634DF-EAF7-4420-9CB4-7D20BB66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rPr>
              <a:t>Questions?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AB153-FBC2-4EAB-9238-4922B83D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753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austin60616@gmail.com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ABBA6-421A-4AA8-9A7A-4CE7F1FA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Wei-Han Jeng | NTUST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7D537-CA35-4303-87F5-8A3E743E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13/16</a:t>
            </a:r>
          </a:p>
        </p:txBody>
      </p:sp>
    </p:spTree>
    <p:extLst>
      <p:ext uri="{BB962C8B-B14F-4D97-AF65-F5344CB8AC3E}">
        <p14:creationId xmlns:p14="http://schemas.microsoft.com/office/powerpoint/2010/main" val="12915349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F7CA75-1EEA-4521-9B84-DCB577BE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Backup | Q&amp;A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534A9-20E5-4DB1-87CA-B34C6C8C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Backup: fuller comparison including heavier-budget regimes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DB85B-1194-421F-B718-8D0D1000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E1EEA-1BC2-4FD4-9B1A-DFF33444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0839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3DA20-730C-4F9D-8186-4BBCE9FC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E0487-FC82-4EF0-B3EE-1C557EDD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050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Venue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B02F3-7836-45CB-9D66-A0F57313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05000"/>
            <a:ext cx="828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UCF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7ACD3-DD2E-4CD6-93A0-BD7BF00E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05000"/>
            <a:ext cx="828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FF7C0-14C8-4020-BABD-086F5C66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050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Setting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AC38B-0EDB-4796-98B6-F388FBF4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43175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3A5FF-5335-4AC4-AE00-D027F6EB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PI-VAD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ADB16-9EEC-467C-A447-4B2AAA7D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669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CVPR'25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C5832-CBF7-416E-A670-705F99C2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66950"/>
            <a:ext cx="828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90.33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E7C133-D25F-4151-AD3D-BCB16140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66950"/>
            <a:ext cx="828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85.37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DE414-A0E9-428E-AEFE-A0F8F00F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669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Frozen I3D; +text, +5 train-time modalities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3E4BF-8F17-4688-BCB6-23782516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10839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69500A-1CEE-4A7C-9EE3-1886CFF6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24175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1B53BE-DF0A-4437-B838-D3EAB5B9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479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DSANet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639979-87D7-4268-9006-6C6CE5A4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479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AAAI'26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7147BF-50FA-40B8-8817-6A7F5047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47950"/>
            <a:ext cx="828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89.44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AFA542-F9ED-4A7D-B3A6-4FD48A2F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47950"/>
            <a:ext cx="828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86.95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789A01-C464-4443-A3E0-731F9424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479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Frozen CLIP; +text alignment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44553-F48B-4ADD-9147-16EF47E8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05175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13A11C-F692-4275-B4B1-9CF768C2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289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VadCLIP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438727-B031-4371-A30D-E8B0088A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289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AAAI'24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71EA9F-09BE-42EC-94E7-DE9415B5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828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88.02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F022E7-750E-4AEF-8091-57A7EFA2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028950"/>
            <a:ext cx="828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84.51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DA2560-1B43-4DEC-A621-76E5144A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289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Frozen CLIP; +text alignment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479992-029D-4AF7-9D9C-C7175220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10839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AD9051-9D78-45AF-BB8E-F91A6543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86175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82EFD5-A91C-48F4-9489-ED76E8AC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099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CLIP-TSA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9E0D5C-7A5B-4164-8FC1-B6248424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099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ICIP'23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3F97AC-8599-40EF-87BD-56F332DB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09950"/>
            <a:ext cx="828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87.58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E338F5-B66F-4135-8D14-1E0FD2FA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09950"/>
            <a:ext cx="828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82.19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37A943-D252-458C-B261-F55CD803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099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Frozen CLIP; no 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2F79E4-F1E9-4957-A4FF-1D099746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67175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798FFC-41CA-4EB8-AD6A-0447288B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909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MGFN (I3D)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FCD194-249B-4CF7-BE1A-F4B94440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909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AAAI'23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D71927-AA1C-47E2-92BF-FF05A513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90950"/>
            <a:ext cx="828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86.98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94EEA5-77CF-44E4-B92C-89D6F230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90950"/>
            <a:ext cx="828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79.19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989B11-5280-4CC2-9664-F05099CD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909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Frozen I3D; no text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F5D63F-C7BC-4B47-A832-9260CF56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10839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051260-9632-434F-B7E8-39D1FABB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FB50B4-8501-4AAC-90E2-81B9484D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RTFM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4EA213-A093-4C8F-A3DA-6C1732D6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1719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ICCV'21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DF25C4-9B86-43FE-A660-289DBF0F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71950"/>
            <a:ext cx="828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84.30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B75682-F933-451F-961D-1C33E919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171950"/>
            <a:ext cx="828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77.81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28715D-A137-4828-BA61-8F26B0A4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719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Frozen I3D; no text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77712A-2024-40DD-ADFA-7002A17D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29175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C1080C-8647-4C6D-9C3D-DF63F043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529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rPr>
              <a:t>This work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0C0C14-AEED-421F-A2AA-65FDB9BA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529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rPr>
              <a:t>CGW'26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57E117-333F-43DB-AF39-9927D9FD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52950"/>
            <a:ext cx="828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rPr>
              <a:t>82.5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113930-53A5-4262-99F1-BC2B21ED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552950"/>
            <a:ext cx="828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rPr>
              <a:t>78.7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531D54-ED5C-4A4E-A86B-840F6BD1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529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94B3C"/>
                </a:solidFill>
                <a:latin typeface="Helvetica Neue"/>
                <a:ea typeface="Helvetica Neue"/>
                <a:cs typeface="Helvetica Neue"/>
              </a:rPr>
              <a:t>Frozen skeleton + CLIP/SigLIP2; no text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382751-3FB2-4E1F-8565-641CE6EE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10839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8BA47A8-51CC-457F-A32D-DA821C94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0175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73821E6-C09F-4F24-9717-0A541F61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339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EventVAD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0160D29-7C99-450C-8D75-38F03964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339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ACM MM'25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BA7334B-728B-4C50-AA0C-056B43C3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33950"/>
            <a:ext cx="828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82.03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0E643CB-C6FF-4F80-9D19-D98DF9CE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933950"/>
            <a:ext cx="828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64.04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40E88DE-51C3-4CBB-AD22-FD00DAE0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339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Training-free 7B MLLM; 80GB A800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F3D871C-398A-4B7F-9D11-0101D6EA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91175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F828914-D7A4-489A-AC60-D311C361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149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LAVAD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C6E8F0A-A5E9-4C0E-B490-E3429E00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149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CVPR'24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B1B51B-DDA7-49D6-87EC-2407A59B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314950"/>
            <a:ext cx="828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80.28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0665483-64E9-45B4-BFFF-40F8FCB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314950"/>
            <a:ext cx="828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62.01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FE1EE6A-8D46-414D-912E-B668A2AE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3149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Training-free 13B LLM; dual RTX 3090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C948F38-20D6-49B9-B410-AD532338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796089C-D10D-4FD7-A405-35A8A9F6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083945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F2DBB30-8858-425C-8D56-1C7F99C8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Wei-Han Jeng | NTUST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EDD0EA5-163C-45AF-BB41-D2A958C2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14/16</a:t>
            </a:r>
          </a:p>
        </p:txBody>
      </p:sp>
    </p:spTree>
    <p:extLst>
      <p:ext uri="{BB962C8B-B14F-4D97-AF65-F5344CB8AC3E}">
        <p14:creationId xmlns:p14="http://schemas.microsoft.com/office/powerpoint/2010/main" val="9867213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47AE66-5BF1-4ABA-BBFF-DF404173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Backup | Q&amp;A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06F73-342F-408A-90B0-39A4558E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Backup: protocol details that affect 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8DBED-4FFA-4CFF-99DF-85E2EA46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B1C47-4B25-404E-8BD1-2C7C6663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333B1-F303-4DC9-B1BE-865FA7BE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43100"/>
            <a:ext cx="977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&lt;64-frame videos excluded: 172 UCF videos and 1 XD video; UCF test evaluates 254 of 290 videos.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E78EC-D8CC-4EDD-B79C-006D9A5A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13FF2-A179-408E-B3C1-8261E4E4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977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15% stratified validation split; checkpoint selection by validation MIL loss, with no frame-label peeking.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CE18B-AA60-4338-87F4-5AB0B5D8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0BF24-0CD5-4681-BC6E-4EAECC2F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14700"/>
            <a:ext cx="977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UCF frame-rate asymmetry: 64 frames span about 20s; XD 64 frames span about 2.7s.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58A55-8143-44EB-A2AE-9CF23D5F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71258-ED85-4779-8549-73097399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977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UCF final snippet score is repeated to full frame grid; XD is evaluated on snippet-aligned frames.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8C2A8-CA5B-4D51-98EE-32AAF728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2398A5-8403-45D7-8A69-62CDD307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977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Temporal smoothness is used on UCF but disabled on XD to avoid over-regularizing heterogeneous cuts.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85A18-2C28-4640-95F2-D11BAA09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Wei-Han Jeng | NTUST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02D11-088D-42C4-BEC1-F9AE013E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15/16</a:t>
            </a:r>
          </a:p>
        </p:txBody>
      </p:sp>
    </p:spTree>
    <p:extLst>
      <p:ext uri="{BB962C8B-B14F-4D97-AF65-F5344CB8AC3E}">
        <p14:creationId xmlns:p14="http://schemas.microsoft.com/office/powerpoint/2010/main" val="8572010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0230BB-CA80-4DA2-A62E-EF670759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Backup | Q&amp;A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062EE-1E63-4CE4-B760-6A6FEDBE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Backup: TTA gain is concentrated where visual reliability collapses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4D38F-4FED-4051-BD71-8473DF4F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AA3E2-08F4-4AFC-97BF-EA5552E0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1930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33B06-C81B-47BC-8ABE-38AD0AEA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Backbone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9D96F-13CF-4454-8A0A-6C386130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145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Gaussian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C4DC4-A28C-4912-B02C-D0B9FB7F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145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Motion blur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911E9-A4F0-47CD-B68D-4D990E05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145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JPEG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A2E4C-28A6-4BE5-A929-734DC644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145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Brightness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A422A-773C-4800-A74F-C16BDF5E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051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F767C-AE37-47FD-BB3C-D3B0346C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3365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CLIP ViT-B/16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BE7BB-C8CD-4B6F-AA89-53BDE6AB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336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+2.67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3D7393-F6B4-42F5-B2EA-35E6F5FA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336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983A2-991D-4358-A3CF-380EDF25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336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EBC3F-1036-4070-88C0-F276CEF4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336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+0.01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91CE6-4CC1-47B1-A679-0AD87291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971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1B68B3-485F-4572-9E03-8737504A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8137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164EDB-BF41-4809-9CD8-DA6A3C5E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990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SigLIP2 B/16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F628A-D68A-4B9D-830B-209AFDB1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99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+5.99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FC0137-DE96-41C5-8BC1-5BDD2979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099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F620A5-AFD2-472B-A89A-DBE5CDCF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099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07EC91-3477-4270-990E-96C57C13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099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F56A68-126C-40E8-996A-2E6A3638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576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34EA8C-5B44-496A-8333-F7F6AD43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8615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SigLIP2 SO400M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25C9E8-2DE5-4949-8363-239CC89B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861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+8.95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A38129-824E-4B2A-B87C-03179EF3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861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C0ADA9-5C44-4DA2-81BC-16E5B8F8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861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C1E6FB-C54E-483C-8D64-EC52A3EF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861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E1FD9E-7C1C-406D-AA6D-4EDB4D57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67150"/>
            <a:ext cx="971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F70783-E853-4199-AC6F-68F4FEF6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3387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A0CEE1-75DF-4EBF-A0F9-4F6E38B1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6240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SigLIP2 Giant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2C579B-8851-4B2F-BDEF-7A9782AF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624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+1.69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E1DF48-624C-4E4C-9B2C-C08F43E4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9624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4F4C3F-5AD3-41F2-83DA-7DAE5A56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624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8C16B2-BC3E-4E0B-840E-14D51F06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624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89DD5C-036C-47F3-9F4E-9F71FE86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01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25D8F6-42DE-4BD2-8C2A-48558E2E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3865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Average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4C9D4A-CC21-4CEC-94EA-71CB33EC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386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+4.83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DB3E30-C610-4AFD-AA98-9E51444D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4386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1AB1A8-232F-473E-9872-41AEBE86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386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FF0F6E-3452-4FA0-9D14-40DD9527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386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36BAEE-5B70-4890-AACC-D5288EC5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384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99A0BF-2B60-4F78-8AD2-4AB8D08A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19300"/>
            <a:ext cx="97155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833603-9231-43C7-B5E2-6CD65E56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578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Zeros mean the reliability gate declines to act: visual remains reliable, or skeleton is also corrupted.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6B9BF1-B045-498E-B820-814CC2B5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Wei-Han Jeng | NTUST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006875-A71E-4BBF-B049-223719E3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16/16</a:t>
            </a:r>
          </a:p>
        </p:txBody>
      </p:sp>
    </p:spTree>
    <p:extLst>
      <p:ext uri="{BB962C8B-B14F-4D97-AF65-F5344CB8AC3E}">
        <p14:creationId xmlns:p14="http://schemas.microsoft.com/office/powerpoint/2010/main" val="13014820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2026-07-07T14:18:12.6450000Z</dcterms:created>
  <dcterms:modified xsi:type="dcterms:W3CDTF">2026-07-07T14:18:12.6450000Z</dcterms:modified>
</coreProperties>
</file>